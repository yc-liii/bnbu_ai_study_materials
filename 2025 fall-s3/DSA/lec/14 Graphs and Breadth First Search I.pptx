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95" autoAdjust="0"/>
    <p:restoredTop sz="94660"/>
  </p:normalViewPr>
  <p:slideViewPr>
    <p:cSldViewPr>
      <p:cViewPr varScale="1">
        <p:scale>
          <a:sx n="113" d="100"/>
          <a:sy n="113" d="100"/>
        </p:scale>
        <p:origin x="13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CF215-757D-448D-AEAA-F4348FA1978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E951D-57D1-422E-8A36-49203CB59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5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2">
                    <a:lumMod val="75000"/>
                  </a:schemeClr>
                </a:solidFill>
                <a:latin typeface="+mj-lt"/>
                <a:ea typeface="微软雅黑 Light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484CF-179D-4BA1-AAAC-1059AF2041D0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7E806-83C8-4C29-A154-A04CB7C649F8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4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EEE75-CE15-4D64-BB2E-B23AB0C8719B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67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CD8D-0152-405B-8D07-B125FE5C0D39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96380-BDC1-4CBC-99BB-B61AD96CCBD6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24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82DC0-5EAF-4678-9533-2B1352F95B84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8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40ABD-82A1-400A-B119-445BE5B78D70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669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D873A-EEA6-4E42-8DF9-79233AB87768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22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71C8-6FB9-4F0B-98B3-F758BAAE1389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DEABA-AE75-454B-9D26-4A36EF2C7D99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9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7BAA7-1B31-4381-A13D-5CA2C2C4DE05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0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16838" cy="762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447800"/>
            <a:ext cx="41529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D4D10-2DE7-4170-BD17-3E1291D086E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D89AEC-E90D-4969-83AF-10E15B1951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439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06C10-A07C-492F-8FA3-C8862857FEBB}" type="datetime1">
              <a:rPr lang="en-US" altLang="zh-CN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1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>
              <a:lumMod val="50000"/>
              <a:lumOff val="50000"/>
            </a:schemeClr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65000"/>
              <a:lumOff val="35000"/>
            </a:schemeClr>
          </a:solidFill>
          <a:latin typeface="微软雅黑 Light" pitchFamily="34" charset="-122"/>
          <a:ea typeface="微软雅黑 Light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3A814DF-525A-464D-8AA9-D8C175C011C2}"/>
              </a:ext>
            </a:extLst>
          </p:cNvPr>
          <p:cNvGrpSpPr/>
          <p:nvPr/>
        </p:nvGrpSpPr>
        <p:grpSpPr>
          <a:xfrm>
            <a:off x="706967" y="2438400"/>
            <a:ext cx="8115299" cy="1323439"/>
            <a:chOff x="876300" y="2766775"/>
            <a:chExt cx="7122089" cy="1323439"/>
          </a:xfrm>
        </p:grpSpPr>
        <p:sp>
          <p:nvSpPr>
            <p:cNvPr id="2" name="Rectangle 1"/>
            <p:cNvSpPr/>
            <p:nvPr/>
          </p:nvSpPr>
          <p:spPr>
            <a:xfrm>
              <a:off x="2145581" y="2766775"/>
              <a:ext cx="5852808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40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Graphs and </a:t>
              </a:r>
              <a:br>
                <a:rPr lang="en-US" altLang="zh-CN" sz="40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</a:br>
              <a:r>
                <a:rPr lang="en-US" altLang="zh-CN" sz="40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Breadth First Search</a:t>
              </a:r>
              <a:endParaRPr lang="en-US" sz="4000" b="1" dirty="0">
                <a:solidFill>
                  <a:schemeClr val="bg2">
                    <a:lumMod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876300" y="3576935"/>
              <a:ext cx="215155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24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Lecture</a:t>
              </a:r>
              <a:r>
                <a:rPr lang="en-US" altLang="zh-CN" sz="24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 14</a:t>
              </a:r>
              <a:r>
                <a:rPr lang="en-US" altLang="zh-TW" sz="2400" b="1" dirty="0">
                  <a:solidFill>
                    <a:schemeClr val="bg2">
                      <a:lumMod val="75000"/>
                    </a:schemeClr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:</a:t>
              </a:r>
              <a:endParaRPr lang="en-US" sz="24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7BEC7F-287C-488A-9ED0-7EBA26E95B08}"/>
              </a:ext>
            </a:extLst>
          </p:cNvPr>
          <p:cNvSpPr txBox="1"/>
          <p:nvPr/>
        </p:nvSpPr>
        <p:spPr>
          <a:xfrm>
            <a:off x="971550" y="762000"/>
            <a:ext cx="74295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 Light" pitchFamily="34" charset="-122"/>
                <a:cs typeface="+mj-cs"/>
              </a:rPr>
              <a:t>Data Structures and Algorithm </a:t>
            </a:r>
            <a:r>
              <a:rPr lang="en-US" altLang="zh-CN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微软雅黑 Light" pitchFamily="34" charset="-122"/>
                <a:cs typeface="+mj-cs"/>
              </a:rPr>
              <a:t>Analysis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微软雅黑 Light" pitchFamily="34" charset="-122"/>
              <a:cs typeface="+mj-cs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B9AE1A3D-B2D9-4442-9FC5-A33A012B66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54617" y="3910786"/>
            <a:ext cx="7620000" cy="1371600"/>
          </a:xfrm>
          <a:noFill/>
        </p:spPr>
        <p:txBody>
          <a:bodyPr>
            <a:noAutofit/>
          </a:bodyPr>
          <a:lstStyle/>
          <a:p>
            <a:r>
              <a:rPr lang="en-US" altLang="zh-CN" sz="2400" dirty="0">
                <a:latin typeface="+mn-lt"/>
              </a:rPr>
              <a:t>Department of Computer Science &amp; Technology Beijing Normal – Hong Kong Baptist University</a:t>
            </a:r>
            <a:endParaRPr lang="en-US" altLang="zh-CN" sz="2400" dirty="0"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0025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Graphs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10600" cy="46863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Extremely useful tool in modeling problems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Consist of:</a:t>
            </a:r>
          </a:p>
          <a:p>
            <a:pPr lvl="1" eaLnBrk="1" hangingPunct="1"/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Vertices</a:t>
            </a:r>
          </a:p>
          <a:p>
            <a:pPr lvl="1" eaLnBrk="1" hangingPunct="1"/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Edges</a:t>
            </a:r>
          </a:p>
        </p:txBody>
      </p:sp>
      <p:sp>
        <p:nvSpPr>
          <p:cNvPr id="25604" name="Oval 4"/>
          <p:cNvSpPr>
            <a:spLocks noChangeArrowheads="1"/>
          </p:cNvSpPr>
          <p:nvPr/>
        </p:nvSpPr>
        <p:spPr bwMode="auto">
          <a:xfrm>
            <a:off x="4114800" y="3352800"/>
            <a:ext cx="381000" cy="3810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Arial" charset="0"/>
              </a:rPr>
              <a:t>D</a:t>
            </a:r>
          </a:p>
        </p:txBody>
      </p:sp>
      <p:sp>
        <p:nvSpPr>
          <p:cNvPr id="25605" name="Oval 5"/>
          <p:cNvSpPr>
            <a:spLocks noChangeArrowheads="1"/>
          </p:cNvSpPr>
          <p:nvPr/>
        </p:nvSpPr>
        <p:spPr bwMode="auto">
          <a:xfrm>
            <a:off x="5562600" y="3657600"/>
            <a:ext cx="381000" cy="3810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chemeClr val="bg1"/>
                </a:solidFill>
                <a:latin typeface="Arial" charset="0"/>
              </a:rPr>
              <a:t>E</a:t>
            </a:r>
          </a:p>
        </p:txBody>
      </p:sp>
      <p:sp>
        <p:nvSpPr>
          <p:cNvPr id="25606" name="Oval 6"/>
          <p:cNvSpPr>
            <a:spLocks noChangeArrowheads="1"/>
          </p:cNvSpPr>
          <p:nvPr/>
        </p:nvSpPr>
        <p:spPr bwMode="auto">
          <a:xfrm>
            <a:off x="2743200" y="4419600"/>
            <a:ext cx="381000" cy="3810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chemeClr val="bg1"/>
                </a:solidFill>
                <a:latin typeface="Arial" charset="0"/>
              </a:rPr>
              <a:t>A</a:t>
            </a:r>
          </a:p>
        </p:txBody>
      </p:sp>
      <p:sp>
        <p:nvSpPr>
          <p:cNvPr id="25607" name="Oval 7"/>
          <p:cNvSpPr>
            <a:spLocks noChangeArrowheads="1"/>
          </p:cNvSpPr>
          <p:nvPr/>
        </p:nvSpPr>
        <p:spPr bwMode="auto">
          <a:xfrm>
            <a:off x="4343400" y="4114800"/>
            <a:ext cx="381000" cy="3810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chemeClr val="bg1"/>
                </a:solidFill>
                <a:latin typeface="Arial" charset="0"/>
              </a:rPr>
              <a:t>C</a:t>
            </a:r>
          </a:p>
        </p:txBody>
      </p:sp>
      <p:sp>
        <p:nvSpPr>
          <p:cNvPr id="25608" name="Oval 8"/>
          <p:cNvSpPr>
            <a:spLocks noChangeArrowheads="1"/>
          </p:cNvSpPr>
          <p:nvPr/>
        </p:nvSpPr>
        <p:spPr bwMode="auto">
          <a:xfrm>
            <a:off x="5638800" y="4800600"/>
            <a:ext cx="381000" cy="3810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chemeClr val="bg1"/>
                </a:solidFill>
                <a:latin typeface="Arial" charset="0"/>
              </a:rPr>
              <a:t>F</a:t>
            </a:r>
          </a:p>
        </p:txBody>
      </p:sp>
      <p:sp>
        <p:nvSpPr>
          <p:cNvPr id="25609" name="Oval 9"/>
          <p:cNvSpPr>
            <a:spLocks noChangeArrowheads="1"/>
          </p:cNvSpPr>
          <p:nvPr/>
        </p:nvSpPr>
        <p:spPr bwMode="auto">
          <a:xfrm>
            <a:off x="3962400" y="5029200"/>
            <a:ext cx="381000" cy="3810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chemeClr val="bg1"/>
                </a:solidFill>
                <a:latin typeface="Arial" charset="0"/>
              </a:rPr>
              <a:t>B</a:t>
            </a:r>
          </a:p>
        </p:txBody>
      </p:sp>
      <p:cxnSp>
        <p:nvCxnSpPr>
          <p:cNvPr id="25610" name="AutoShape 10"/>
          <p:cNvCxnSpPr>
            <a:cxnSpLocks noChangeShapeType="1"/>
            <a:stCxn id="25606" idx="5"/>
            <a:endCxn id="25609" idx="1"/>
          </p:cNvCxnSpPr>
          <p:nvPr/>
        </p:nvCxnSpPr>
        <p:spPr bwMode="auto">
          <a:xfrm>
            <a:off x="3068638" y="4745038"/>
            <a:ext cx="949325" cy="339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1" name="AutoShape 11"/>
          <p:cNvCxnSpPr>
            <a:cxnSpLocks noChangeShapeType="1"/>
            <a:stCxn id="25606" idx="7"/>
            <a:endCxn id="25607" idx="2"/>
          </p:cNvCxnSpPr>
          <p:nvPr/>
        </p:nvCxnSpPr>
        <p:spPr bwMode="auto">
          <a:xfrm flipV="1">
            <a:off x="3068638" y="4305300"/>
            <a:ext cx="1274762" cy="16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2" name="AutoShape 12"/>
          <p:cNvCxnSpPr>
            <a:cxnSpLocks noChangeShapeType="1"/>
            <a:stCxn id="25604" idx="2"/>
            <a:endCxn id="25606" idx="0"/>
          </p:cNvCxnSpPr>
          <p:nvPr/>
        </p:nvCxnSpPr>
        <p:spPr bwMode="auto">
          <a:xfrm flipH="1">
            <a:off x="2933700" y="3543300"/>
            <a:ext cx="1181100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3" name="AutoShape 13"/>
          <p:cNvCxnSpPr>
            <a:cxnSpLocks noChangeShapeType="1"/>
            <a:stCxn id="25604" idx="4"/>
            <a:endCxn id="25607" idx="0"/>
          </p:cNvCxnSpPr>
          <p:nvPr/>
        </p:nvCxnSpPr>
        <p:spPr bwMode="auto">
          <a:xfrm>
            <a:off x="4305300" y="3733800"/>
            <a:ext cx="228600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4" name="AutoShape 14"/>
          <p:cNvCxnSpPr>
            <a:cxnSpLocks noChangeShapeType="1"/>
            <a:stCxn id="25604" idx="6"/>
            <a:endCxn id="25605" idx="1"/>
          </p:cNvCxnSpPr>
          <p:nvPr/>
        </p:nvCxnSpPr>
        <p:spPr bwMode="auto">
          <a:xfrm>
            <a:off x="4495800" y="3543300"/>
            <a:ext cx="1122363" cy="16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5" name="AutoShape 15"/>
          <p:cNvCxnSpPr>
            <a:cxnSpLocks noChangeShapeType="1"/>
            <a:stCxn id="25607" idx="6"/>
            <a:endCxn id="25605" idx="3"/>
          </p:cNvCxnSpPr>
          <p:nvPr/>
        </p:nvCxnSpPr>
        <p:spPr bwMode="auto">
          <a:xfrm flipV="1">
            <a:off x="4724400" y="3983038"/>
            <a:ext cx="893763" cy="3222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6" name="AutoShape 16"/>
          <p:cNvCxnSpPr>
            <a:cxnSpLocks noChangeShapeType="1"/>
            <a:stCxn id="25608" idx="0"/>
            <a:endCxn id="25605" idx="5"/>
          </p:cNvCxnSpPr>
          <p:nvPr/>
        </p:nvCxnSpPr>
        <p:spPr bwMode="auto">
          <a:xfrm flipV="1">
            <a:off x="5829300" y="3983038"/>
            <a:ext cx="58738" cy="817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7" name="AutoShape 17"/>
          <p:cNvCxnSpPr>
            <a:cxnSpLocks noChangeShapeType="1"/>
            <a:stCxn id="25605" idx="4"/>
            <a:endCxn id="25609" idx="7"/>
          </p:cNvCxnSpPr>
          <p:nvPr/>
        </p:nvCxnSpPr>
        <p:spPr bwMode="auto">
          <a:xfrm flipH="1">
            <a:off x="4287838" y="4038600"/>
            <a:ext cx="1465262" cy="1046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8" name="Line 18"/>
          <p:cNvSpPr>
            <a:spLocks noChangeShapeType="1"/>
          </p:cNvSpPr>
          <p:nvPr/>
        </p:nvSpPr>
        <p:spPr bwMode="auto">
          <a:xfrm flipV="1">
            <a:off x="2057400" y="47244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9" name="Text Box 19"/>
          <p:cNvSpPr txBox="1">
            <a:spLocks noChangeArrowheads="1"/>
          </p:cNvSpPr>
          <p:nvPr/>
        </p:nvSpPr>
        <p:spPr bwMode="auto">
          <a:xfrm>
            <a:off x="1447800" y="5257800"/>
            <a:ext cx="882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Vertex</a:t>
            </a:r>
          </a:p>
        </p:txBody>
      </p:sp>
      <p:sp>
        <p:nvSpPr>
          <p:cNvPr id="25620" name="Line 20"/>
          <p:cNvSpPr>
            <a:spLocks noChangeShapeType="1"/>
          </p:cNvSpPr>
          <p:nvPr/>
        </p:nvSpPr>
        <p:spPr bwMode="auto">
          <a:xfrm flipH="1" flipV="1">
            <a:off x="4876800" y="4724400"/>
            <a:ext cx="304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21" name="Text Box 21"/>
          <p:cNvSpPr txBox="1">
            <a:spLocks noChangeArrowheads="1"/>
          </p:cNvSpPr>
          <p:nvPr/>
        </p:nvSpPr>
        <p:spPr bwMode="auto">
          <a:xfrm>
            <a:off x="5165725" y="5599113"/>
            <a:ext cx="74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Edge</a:t>
            </a:r>
          </a:p>
        </p:txBody>
      </p:sp>
      <p:sp>
        <p:nvSpPr>
          <p:cNvPr id="25622" name="Text Box 22"/>
          <p:cNvSpPr txBox="1">
            <a:spLocks noChangeArrowheads="1"/>
          </p:cNvSpPr>
          <p:nvPr/>
        </p:nvSpPr>
        <p:spPr bwMode="auto">
          <a:xfrm>
            <a:off x="6248400" y="2971800"/>
            <a:ext cx="2592388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latin typeface="Arial" charset="0"/>
              </a:rPr>
              <a:t>Vertices</a:t>
            </a:r>
            <a:r>
              <a:rPr lang="en-US" altLang="zh-CN" sz="2400">
                <a:latin typeface="Arial" charset="0"/>
              </a:rPr>
              <a:t> can be</a:t>
            </a:r>
            <a:br>
              <a:rPr lang="en-US" altLang="zh-CN" sz="2400">
                <a:latin typeface="Arial" charset="0"/>
              </a:rPr>
            </a:br>
            <a:r>
              <a:rPr lang="en-US" altLang="zh-CN" sz="2400">
                <a:latin typeface="Arial" charset="0"/>
              </a:rPr>
              <a:t>considered “sites”</a:t>
            </a:r>
            <a:br>
              <a:rPr lang="en-US" altLang="zh-CN" sz="2400">
                <a:latin typeface="Arial" charset="0"/>
              </a:rPr>
            </a:br>
            <a:r>
              <a:rPr lang="en-US" altLang="zh-CN" sz="2400">
                <a:latin typeface="Arial" charset="0"/>
              </a:rPr>
              <a:t>or locations.</a:t>
            </a:r>
          </a:p>
          <a:p>
            <a:pPr eaLnBrk="1" hangingPunct="1"/>
            <a:endParaRPr lang="en-US" altLang="zh-CN" sz="2400">
              <a:latin typeface="Arial" charset="0"/>
            </a:endParaRPr>
          </a:p>
          <a:p>
            <a:pPr eaLnBrk="1" hangingPunct="1"/>
            <a:r>
              <a:rPr lang="en-US" altLang="zh-CN" sz="2400" b="1">
                <a:latin typeface="Arial" charset="0"/>
              </a:rPr>
              <a:t>Edges</a:t>
            </a:r>
            <a:r>
              <a:rPr lang="en-US" altLang="zh-CN" sz="2400">
                <a:latin typeface="Arial" charset="0"/>
              </a:rPr>
              <a:t> represent</a:t>
            </a:r>
          </a:p>
          <a:p>
            <a:pPr eaLnBrk="1" hangingPunct="1"/>
            <a:r>
              <a:rPr lang="en-US" altLang="zh-CN" sz="2400">
                <a:latin typeface="Arial" charset="0"/>
              </a:rPr>
              <a:t>connections.</a:t>
            </a:r>
          </a:p>
        </p:txBody>
      </p:sp>
    </p:spTree>
    <p:extLst>
      <p:ext uri="{BB962C8B-B14F-4D97-AF65-F5344CB8AC3E}">
        <p14:creationId xmlns:p14="http://schemas.microsoft.com/office/powerpoint/2010/main" val="3173622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Application 1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1371600" y="1219200"/>
          <a:ext cx="4724400" cy="288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Bitmap Image" r:id="rId3" imgW="9371429" imgH="5723810" progId="Paint.Picture">
                  <p:embed/>
                </p:oleObj>
              </mc:Choice>
              <mc:Fallback>
                <p:oleObj name="Bitmap Image" r:id="rId3" imgW="9371429" imgH="572381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219200"/>
                        <a:ext cx="4724400" cy="288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6400800" y="1447800"/>
            <a:ext cx="233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400">
                <a:latin typeface="Arial" charset="0"/>
              </a:rPr>
              <a:t>Air flight system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533400" y="4419600"/>
            <a:ext cx="78486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marL="180975" indent="-180975" eaLnBrk="1" hangingPunct="1">
              <a:buFontTx/>
              <a:buChar char="•"/>
            </a:pPr>
            <a:r>
              <a:rPr lang="en-US" altLang="zh-CN" sz="2000" dirty="0">
                <a:latin typeface="Arial" charset="0"/>
              </a:rPr>
              <a:t> Each vertex represents a city</a:t>
            </a:r>
          </a:p>
          <a:p>
            <a:pPr marL="180975" indent="-180975" eaLnBrk="1" hangingPunct="1">
              <a:buFontTx/>
              <a:buChar char="•"/>
            </a:pPr>
            <a:r>
              <a:rPr lang="en-US" altLang="zh-CN" sz="2000" dirty="0">
                <a:latin typeface="Arial" charset="0"/>
              </a:rPr>
              <a:t> Each edge represents a direct flight between two cities</a:t>
            </a:r>
          </a:p>
          <a:p>
            <a:pPr marL="180975" indent="-180975" eaLnBrk="1" hangingPunct="1">
              <a:buFontTx/>
              <a:buChar char="•"/>
            </a:pPr>
            <a:r>
              <a:rPr lang="en-US" altLang="zh-CN" sz="2000" dirty="0">
                <a:latin typeface="Arial" charset="0"/>
              </a:rPr>
              <a:t> A query on direct flights = a query on whether an edge exists</a:t>
            </a:r>
          </a:p>
          <a:p>
            <a:pPr marL="180975" indent="-180975" eaLnBrk="1" hangingPunct="1">
              <a:buFontTx/>
              <a:buChar char="•"/>
            </a:pPr>
            <a:r>
              <a:rPr lang="en-US" altLang="zh-CN" sz="2000" dirty="0">
                <a:latin typeface="Arial" charset="0"/>
              </a:rPr>
              <a:t> A query on how to get to a location = does a </a:t>
            </a:r>
            <a:r>
              <a:rPr lang="en-US" altLang="zh-CN" sz="2000" dirty="0">
                <a:solidFill>
                  <a:schemeClr val="accent4"/>
                </a:solidFill>
                <a:latin typeface="Arial" charset="0"/>
              </a:rPr>
              <a:t>path </a:t>
            </a:r>
            <a:r>
              <a:rPr lang="en-US" altLang="zh-CN" sz="2000" dirty="0">
                <a:latin typeface="Arial" charset="0"/>
              </a:rPr>
              <a:t>exist from A to B?</a:t>
            </a:r>
          </a:p>
          <a:p>
            <a:pPr marL="180975" indent="-180975" eaLnBrk="1" hangingPunct="1">
              <a:buFontTx/>
              <a:buChar char="•"/>
            </a:pPr>
            <a:r>
              <a:rPr lang="en-US" altLang="zh-CN" sz="2000" dirty="0">
                <a:latin typeface="Arial" charset="0"/>
              </a:rPr>
              <a:t> We can even associate costs to edges (</a:t>
            </a:r>
            <a:r>
              <a:rPr lang="en-US" altLang="zh-CN" sz="2000" dirty="0">
                <a:solidFill>
                  <a:schemeClr val="accent4"/>
                </a:solidFill>
                <a:latin typeface="Arial" charset="0"/>
              </a:rPr>
              <a:t>weighted graphs</a:t>
            </a:r>
            <a:r>
              <a:rPr lang="en-US" altLang="zh-CN" sz="2000" dirty="0">
                <a:latin typeface="Arial" charset="0"/>
              </a:rPr>
              <a:t>), then ask “what is the cheapest path from A to B?”</a:t>
            </a:r>
          </a:p>
        </p:txBody>
      </p:sp>
      <p:pic>
        <p:nvPicPr>
          <p:cNvPr id="3078" name="Picture 9" descr="MCj0250402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057400"/>
            <a:ext cx="205740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1083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Application 2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302397"/>
              </p:ext>
            </p:extLst>
          </p:nvPr>
        </p:nvGraphicFramePr>
        <p:xfrm>
          <a:off x="1371600" y="965993"/>
          <a:ext cx="2895600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4" name="Bitmap Image" r:id="rId3" imgW="3885714" imgH="3123810" progId="Paint.Picture">
                  <p:embed/>
                </p:oleObj>
              </mc:Choice>
              <mc:Fallback>
                <p:oleObj name="Bitmap Image" r:id="rId3" imgW="3885714" imgH="312381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965993"/>
                        <a:ext cx="2895600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1" name="Picture 9" descr="MCj0311200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219200"/>
            <a:ext cx="1317625" cy="182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609600" y="3429000"/>
            <a:ext cx="7848600" cy="3200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Represented by a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weighted complete graph </a:t>
            </a:r>
            <a:r>
              <a:rPr lang="en-US" altLang="zh-CN" sz="2000" dirty="0">
                <a:ea typeface="宋体" pitchFamily="2" charset="-122"/>
              </a:rPr>
              <a:t>(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every two vertices are connected by an edge</a:t>
            </a:r>
            <a:r>
              <a:rPr lang="en-US" altLang="zh-CN" sz="2000" dirty="0">
                <a:ea typeface="宋体" pitchFamily="2" charset="-122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Each edge represents the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Euclidean distance </a:t>
            </a:r>
            <a:r>
              <a:rPr lang="en-US" altLang="zh-CN" sz="2000" i="1" dirty="0" err="1">
                <a:ea typeface="宋体" pitchFamily="2" charset="-122"/>
              </a:rPr>
              <a:t>d</a:t>
            </a:r>
            <a:r>
              <a:rPr lang="en-US" altLang="zh-CN" sz="2000" i="1" baseline="-25000" dirty="0" err="1">
                <a:ea typeface="宋体" pitchFamily="2" charset="-122"/>
              </a:rPr>
              <a:t>ij</a:t>
            </a:r>
            <a:r>
              <a:rPr lang="en-US" altLang="zh-CN" sz="2000" dirty="0">
                <a:ea typeface="宋体" pitchFamily="2" charset="-122"/>
              </a:rPr>
              <a:t> between two radio stations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Each station uses a certain power i to transmit messages. Given this power i, only a few nodes can be reached (bold edges).  A station reachable by i then uses its own power to relay the message to other stations not reachable by i.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itchFamily="2" charset="-122"/>
              </a:rPr>
              <a:t>A typical wireless communication problem is: how to broadcast between </a:t>
            </a:r>
            <a:r>
              <a:rPr lang="en-US" altLang="zh-CN" sz="2000" i="1" dirty="0">
                <a:ea typeface="宋体" pitchFamily="2" charset="-122"/>
              </a:rPr>
              <a:t>all </a:t>
            </a:r>
            <a:r>
              <a:rPr lang="en-US" altLang="zh-CN" sz="2000" dirty="0">
                <a:ea typeface="宋体" pitchFamily="2" charset="-122"/>
              </a:rPr>
              <a:t>stations such that they are all connected and the power consumption is minimized. </a:t>
            </a:r>
          </a:p>
        </p:txBody>
      </p:sp>
    </p:spTree>
    <p:extLst>
      <p:ext uri="{BB962C8B-B14F-4D97-AF65-F5344CB8AC3E}">
        <p14:creationId xmlns:p14="http://schemas.microsoft.com/office/powerpoint/2010/main" val="35133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Definition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382000" cy="19812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ea typeface="宋体" pitchFamily="2" charset="-122"/>
              </a:rPr>
              <a:t>A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graph G=(V, E)</a:t>
            </a:r>
            <a:r>
              <a:rPr lang="en-US" altLang="zh-CN" sz="2000" dirty="0">
                <a:ea typeface="宋体" pitchFamily="2" charset="-122"/>
              </a:rPr>
              <a:t> consists a set of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vertices</a:t>
            </a:r>
            <a:r>
              <a:rPr lang="en-US" altLang="zh-CN" sz="2000" dirty="0">
                <a:ea typeface="宋体" pitchFamily="2" charset="-122"/>
              </a:rPr>
              <a:t> V and a set of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edges</a:t>
            </a:r>
            <a:r>
              <a:rPr lang="en-US" altLang="zh-CN" sz="2000" dirty="0">
                <a:ea typeface="宋体" pitchFamily="2" charset="-122"/>
              </a:rPr>
              <a:t> E.</a:t>
            </a: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Each edge is a pair of </a:t>
            </a:r>
            <a:r>
              <a:rPr lang="en-US" altLang="zh-CN" sz="2000" i="1" dirty="0">
                <a:ea typeface="宋体" pitchFamily="2" charset="-122"/>
              </a:rPr>
              <a:t>(v, w)</a:t>
            </a:r>
            <a:r>
              <a:rPr lang="en-US" altLang="zh-CN" sz="2000" dirty="0">
                <a:ea typeface="宋体" pitchFamily="2" charset="-122"/>
              </a:rPr>
              <a:t> where v and w belong to V</a:t>
            </a: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If the pair is unordered, the graph is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undirected</a:t>
            </a:r>
            <a:r>
              <a:rPr lang="en-US" altLang="zh-CN" sz="2000" dirty="0">
                <a:ea typeface="宋体" pitchFamily="2" charset="-122"/>
              </a:rPr>
              <a:t>; otherwise it is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directed</a:t>
            </a:r>
          </a:p>
        </p:txBody>
      </p:sp>
      <p:grpSp>
        <p:nvGrpSpPr>
          <p:cNvPr id="5125" name="Group 13"/>
          <p:cNvGrpSpPr>
            <a:grpSpLocks/>
          </p:cNvGrpSpPr>
          <p:nvPr/>
        </p:nvGrpSpPr>
        <p:grpSpPr bwMode="auto">
          <a:xfrm>
            <a:off x="2286000" y="2743200"/>
            <a:ext cx="4419600" cy="3200400"/>
            <a:chOff x="1296" y="1945"/>
            <a:chExt cx="3120" cy="2327"/>
          </a:xfrm>
        </p:grpSpPr>
        <p:graphicFrame>
          <p:nvGraphicFramePr>
            <p:cNvPr id="5122" name="Object 4"/>
            <p:cNvGraphicFramePr>
              <a:graphicFrameLocks noChangeAspect="1"/>
            </p:cNvGraphicFramePr>
            <p:nvPr/>
          </p:nvGraphicFramePr>
          <p:xfrm>
            <a:off x="1296" y="1945"/>
            <a:ext cx="3120" cy="2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8" name="Bitmap Image" r:id="rId3" imgW="7714286" imgH="5753903" progId="Paint.Picture">
                    <p:embed/>
                  </p:oleObj>
                </mc:Choice>
                <mc:Fallback>
                  <p:oleObj name="Bitmap Image" r:id="rId3" imgW="7714286" imgH="5753903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1945"/>
                          <a:ext cx="3120" cy="2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127" name="Group 5"/>
            <p:cNvGrpSpPr>
              <a:grpSpLocks/>
            </p:cNvGrpSpPr>
            <p:nvPr/>
          </p:nvGrpSpPr>
          <p:grpSpPr bwMode="auto">
            <a:xfrm>
              <a:off x="2318" y="2064"/>
              <a:ext cx="1799" cy="1374"/>
              <a:chOff x="1944" y="1728"/>
              <a:chExt cx="1799" cy="1374"/>
            </a:xfrm>
          </p:grpSpPr>
          <p:sp>
            <p:nvSpPr>
              <p:cNvPr id="5128" name="Text Box 6"/>
              <p:cNvSpPr txBox="1">
                <a:spLocks noChangeArrowheads="1"/>
              </p:cNvSpPr>
              <p:nvPr/>
            </p:nvSpPr>
            <p:spPr bwMode="auto">
              <a:xfrm>
                <a:off x="3398" y="2551"/>
                <a:ext cx="345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chemeClr val="accent4"/>
                    </a:solidFill>
                    <a:latin typeface="Arial" charset="0"/>
                  </a:rPr>
                  <a:t>{c,f}</a:t>
                </a:r>
              </a:p>
            </p:txBody>
          </p:sp>
          <p:sp>
            <p:nvSpPr>
              <p:cNvPr id="5129" name="Text Box 7"/>
              <p:cNvSpPr txBox="1">
                <a:spLocks noChangeArrowheads="1"/>
              </p:cNvSpPr>
              <p:nvPr/>
            </p:nvSpPr>
            <p:spPr bwMode="auto">
              <a:xfrm>
                <a:off x="3120" y="1728"/>
                <a:ext cx="380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chemeClr val="accent4"/>
                    </a:solidFill>
                    <a:latin typeface="Arial" charset="0"/>
                  </a:rPr>
                  <a:t>{a,c}</a:t>
                </a:r>
              </a:p>
            </p:txBody>
          </p:sp>
          <p:sp>
            <p:nvSpPr>
              <p:cNvPr id="5130" name="Text Box 8"/>
              <p:cNvSpPr txBox="1">
                <a:spLocks noChangeArrowheads="1"/>
              </p:cNvSpPr>
              <p:nvPr/>
            </p:nvSpPr>
            <p:spPr bwMode="auto">
              <a:xfrm>
                <a:off x="2304" y="1728"/>
                <a:ext cx="387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dirty="0">
                    <a:solidFill>
                      <a:schemeClr val="accent4"/>
                    </a:solidFill>
                    <a:latin typeface="Arial" charset="0"/>
                  </a:rPr>
                  <a:t>{</a:t>
                </a:r>
                <a:r>
                  <a:rPr lang="en-US" altLang="zh-CN" sz="1400" dirty="0" err="1">
                    <a:solidFill>
                      <a:schemeClr val="accent4"/>
                    </a:solidFill>
                    <a:latin typeface="Arial" charset="0"/>
                  </a:rPr>
                  <a:t>a,b</a:t>
                </a:r>
                <a:r>
                  <a:rPr lang="en-US" altLang="zh-CN" sz="1400" dirty="0">
                    <a:solidFill>
                      <a:schemeClr val="accent4"/>
                    </a:solidFill>
                    <a:latin typeface="Arial" charset="0"/>
                  </a:rPr>
                  <a:t>}</a:t>
                </a:r>
              </a:p>
            </p:txBody>
          </p:sp>
          <p:sp>
            <p:nvSpPr>
              <p:cNvPr id="5131" name="Text Box 9"/>
              <p:cNvSpPr txBox="1">
                <a:spLocks noChangeArrowheads="1"/>
              </p:cNvSpPr>
              <p:nvPr/>
            </p:nvSpPr>
            <p:spPr bwMode="auto">
              <a:xfrm>
                <a:off x="2400" y="2108"/>
                <a:ext cx="387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dirty="0">
                    <a:solidFill>
                      <a:schemeClr val="accent4"/>
                    </a:solidFill>
                    <a:latin typeface="Arial" charset="0"/>
                  </a:rPr>
                  <a:t>{</a:t>
                </a:r>
                <a:r>
                  <a:rPr lang="en-US" altLang="zh-CN" sz="1400" dirty="0" err="1">
                    <a:solidFill>
                      <a:schemeClr val="accent4"/>
                    </a:solidFill>
                    <a:latin typeface="Arial" charset="0"/>
                  </a:rPr>
                  <a:t>b,d</a:t>
                </a:r>
                <a:r>
                  <a:rPr lang="en-US" altLang="zh-CN" sz="1400" dirty="0">
                    <a:solidFill>
                      <a:schemeClr val="accent4"/>
                    </a:solidFill>
                    <a:latin typeface="Arial" charset="0"/>
                  </a:rPr>
                  <a:t>}</a:t>
                </a:r>
              </a:p>
            </p:txBody>
          </p:sp>
          <p:sp>
            <p:nvSpPr>
              <p:cNvPr id="5132" name="Text Box 10"/>
              <p:cNvSpPr txBox="1">
                <a:spLocks noChangeArrowheads="1"/>
              </p:cNvSpPr>
              <p:nvPr/>
            </p:nvSpPr>
            <p:spPr bwMode="auto">
              <a:xfrm>
                <a:off x="2928" y="2156"/>
                <a:ext cx="380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chemeClr val="accent4"/>
                    </a:solidFill>
                    <a:latin typeface="Arial" charset="0"/>
                  </a:rPr>
                  <a:t>{c,d}</a:t>
                </a:r>
              </a:p>
            </p:txBody>
          </p:sp>
          <p:sp>
            <p:nvSpPr>
              <p:cNvPr id="5133" name="Text Box 11"/>
              <p:cNvSpPr txBox="1">
                <a:spLocks noChangeArrowheads="1"/>
              </p:cNvSpPr>
              <p:nvPr/>
            </p:nvSpPr>
            <p:spPr bwMode="auto">
              <a:xfrm>
                <a:off x="2640" y="2880"/>
                <a:ext cx="352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>
                    <a:solidFill>
                      <a:schemeClr val="accent4"/>
                    </a:solidFill>
                    <a:latin typeface="Arial" charset="0"/>
                  </a:rPr>
                  <a:t>{e,f}</a:t>
                </a:r>
              </a:p>
            </p:txBody>
          </p:sp>
          <p:sp>
            <p:nvSpPr>
              <p:cNvPr id="5134" name="Text Box 12"/>
              <p:cNvSpPr txBox="1">
                <a:spLocks noChangeArrowheads="1"/>
              </p:cNvSpPr>
              <p:nvPr/>
            </p:nvSpPr>
            <p:spPr bwMode="auto">
              <a:xfrm>
                <a:off x="1944" y="2496"/>
                <a:ext cx="387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r>
                  <a:rPr lang="en-US" altLang="zh-CN" sz="1400" dirty="0">
                    <a:solidFill>
                      <a:schemeClr val="accent4"/>
                    </a:solidFill>
                    <a:latin typeface="Arial" charset="0"/>
                  </a:rPr>
                  <a:t>{</a:t>
                </a:r>
                <a:r>
                  <a:rPr lang="en-US" altLang="zh-CN" sz="1400" dirty="0" err="1">
                    <a:solidFill>
                      <a:schemeClr val="accent4"/>
                    </a:solidFill>
                    <a:latin typeface="Arial" charset="0"/>
                  </a:rPr>
                  <a:t>b,e</a:t>
                </a:r>
                <a:r>
                  <a:rPr lang="en-US" altLang="zh-CN" sz="1400" dirty="0">
                    <a:solidFill>
                      <a:schemeClr val="accent4"/>
                    </a:solidFill>
                    <a:latin typeface="Arial" charset="0"/>
                  </a:rPr>
                  <a:t>}</a:t>
                </a:r>
              </a:p>
            </p:txBody>
          </p:sp>
        </p:grpSp>
      </p:grpSp>
      <p:sp>
        <p:nvSpPr>
          <p:cNvPr id="5126" name="Text Box 14"/>
          <p:cNvSpPr txBox="1">
            <a:spLocks noChangeArrowheads="1"/>
          </p:cNvSpPr>
          <p:nvPr/>
        </p:nvSpPr>
        <p:spPr bwMode="auto">
          <a:xfrm>
            <a:off x="3793282" y="5957887"/>
            <a:ext cx="2668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>
                <a:latin typeface="Arial" charset="0"/>
              </a:rPr>
              <a:t>An undirected graph</a:t>
            </a:r>
          </a:p>
        </p:txBody>
      </p:sp>
    </p:spTree>
    <p:extLst>
      <p:ext uri="{BB962C8B-B14F-4D97-AF65-F5344CB8AC3E}">
        <p14:creationId xmlns:p14="http://schemas.microsoft.com/office/powerpoint/2010/main" val="278576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Terminology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zh-CN" sz="2400" dirty="0">
                <a:ea typeface="宋体" pitchFamily="2" charset="-122"/>
              </a:rPr>
              <a:t>If </a:t>
            </a:r>
            <a:r>
              <a:rPr lang="en-US" altLang="zh-CN" sz="2400" i="1" dirty="0">
                <a:ea typeface="宋体" pitchFamily="2" charset="-122"/>
              </a:rPr>
              <a:t>v</a:t>
            </a:r>
            <a:r>
              <a:rPr lang="en-US" altLang="zh-CN" sz="2400" i="1" baseline="-25000" dirty="0">
                <a:ea typeface="宋体" pitchFamily="2" charset="-122"/>
              </a:rPr>
              <a:t>1</a:t>
            </a:r>
            <a:r>
              <a:rPr lang="en-US" altLang="zh-CN" sz="2400" dirty="0">
                <a:ea typeface="宋体" pitchFamily="2" charset="-122"/>
              </a:rPr>
              <a:t> and </a:t>
            </a:r>
            <a:r>
              <a:rPr lang="en-US" altLang="zh-CN" sz="2400" i="1" dirty="0">
                <a:ea typeface="宋体" pitchFamily="2" charset="-122"/>
              </a:rPr>
              <a:t>v</a:t>
            </a:r>
            <a:r>
              <a:rPr lang="en-US" altLang="zh-CN" sz="2400" i="1" baseline="-25000" dirty="0">
                <a:ea typeface="宋体" pitchFamily="2" charset="-122"/>
              </a:rPr>
              <a:t>2</a:t>
            </a:r>
            <a:r>
              <a:rPr lang="en-US" altLang="zh-CN" sz="2400" dirty="0">
                <a:ea typeface="宋体" pitchFamily="2" charset="-122"/>
              </a:rPr>
              <a:t> are connected, they are said to be </a:t>
            </a:r>
            <a:r>
              <a:rPr lang="en-US" altLang="zh-CN" sz="2400" dirty="0">
                <a:solidFill>
                  <a:schemeClr val="accent4"/>
                </a:solidFill>
                <a:ea typeface="宋体" pitchFamily="2" charset="-122"/>
              </a:rPr>
              <a:t>adjacent </a:t>
            </a:r>
            <a:r>
              <a:rPr lang="en-US" altLang="zh-CN" sz="2400" dirty="0">
                <a:ea typeface="宋体" pitchFamily="2" charset="-122"/>
              </a:rPr>
              <a:t>vertices</a:t>
            </a:r>
            <a:endParaRPr lang="en-US" altLang="zh-CN" dirty="0">
              <a:ea typeface="宋体" pitchFamily="2" charset="-122"/>
            </a:endParaRPr>
          </a:p>
          <a:p>
            <a:pPr marL="1371600" lvl="2" indent="-457200" eaLnBrk="1" hangingPunct="1"/>
            <a:r>
              <a:rPr lang="en-US" altLang="zh-CN" b="1" i="1" dirty="0">
                <a:ea typeface="宋体" pitchFamily="2" charset="-122"/>
              </a:rPr>
              <a:t>v</a:t>
            </a:r>
            <a:r>
              <a:rPr lang="en-US" altLang="zh-CN" b="1" i="1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b="1" i="1" dirty="0">
                <a:ea typeface="宋体" pitchFamily="2" charset="-122"/>
              </a:rPr>
              <a:t>v</a:t>
            </a:r>
            <a:r>
              <a:rPr lang="en-US" altLang="zh-CN" b="1" i="1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are </a:t>
            </a:r>
            <a:r>
              <a:rPr lang="en-US" altLang="zh-CN" u="sng" dirty="0">
                <a:ea typeface="宋体" pitchFamily="2" charset="-122"/>
              </a:rPr>
              <a:t>endpoints</a:t>
            </a:r>
            <a:r>
              <a:rPr lang="en-US" altLang="zh-CN" dirty="0">
                <a:ea typeface="宋体" pitchFamily="2" charset="-122"/>
              </a:rPr>
              <a:t> of the edge {</a:t>
            </a:r>
            <a:r>
              <a:rPr lang="en-US" altLang="zh-CN" b="1" i="1" dirty="0">
                <a:ea typeface="宋体" pitchFamily="2" charset="-122"/>
              </a:rPr>
              <a:t>v</a:t>
            </a:r>
            <a:r>
              <a:rPr lang="en-US" altLang="zh-CN" b="1" i="1" baseline="-25000" dirty="0">
                <a:ea typeface="宋体" pitchFamily="2" charset="-122"/>
              </a:rPr>
              <a:t>1</a:t>
            </a:r>
            <a:r>
              <a:rPr lang="en-US" altLang="zh-CN" i="1" dirty="0">
                <a:ea typeface="宋体" pitchFamily="2" charset="-122"/>
              </a:rPr>
              <a:t>, </a:t>
            </a:r>
            <a:r>
              <a:rPr lang="en-US" altLang="zh-CN" b="1" i="1" dirty="0">
                <a:ea typeface="宋体" pitchFamily="2" charset="-122"/>
              </a:rPr>
              <a:t>v</a:t>
            </a:r>
            <a:r>
              <a:rPr lang="en-US" altLang="zh-CN" b="1" i="1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}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zh-CN" sz="2400" dirty="0">
                <a:ea typeface="宋体" pitchFamily="2" charset="-122"/>
              </a:rPr>
              <a:t>If an edge </a:t>
            </a:r>
            <a:r>
              <a:rPr lang="en-US" altLang="zh-CN" sz="2400" i="1" dirty="0">
                <a:ea typeface="宋体" pitchFamily="2" charset="-122"/>
              </a:rPr>
              <a:t>e</a:t>
            </a:r>
            <a:r>
              <a:rPr lang="en-US" altLang="zh-CN" sz="2400" dirty="0">
                <a:ea typeface="宋体" pitchFamily="2" charset="-122"/>
              </a:rPr>
              <a:t> is connected to </a:t>
            </a:r>
            <a:r>
              <a:rPr lang="en-US" altLang="zh-CN" sz="2400" i="1" dirty="0">
                <a:ea typeface="宋体" pitchFamily="2" charset="-122"/>
              </a:rPr>
              <a:t>v</a:t>
            </a:r>
            <a:r>
              <a:rPr lang="en-US" altLang="zh-CN" sz="2400" dirty="0">
                <a:ea typeface="宋体" pitchFamily="2" charset="-122"/>
              </a:rPr>
              <a:t> then </a:t>
            </a:r>
            <a:r>
              <a:rPr lang="en-US" altLang="zh-CN" sz="2400" i="1" dirty="0">
                <a:ea typeface="宋体" pitchFamily="2" charset="-122"/>
              </a:rPr>
              <a:t>v</a:t>
            </a:r>
            <a:r>
              <a:rPr lang="en-US" altLang="zh-CN" sz="2400" dirty="0">
                <a:ea typeface="宋体" pitchFamily="2" charset="-122"/>
              </a:rPr>
              <a:t> is said to be </a:t>
            </a:r>
            <a:r>
              <a:rPr lang="en-US" altLang="zh-CN" sz="2400" dirty="0">
                <a:solidFill>
                  <a:schemeClr val="accent4"/>
                </a:solidFill>
                <a:ea typeface="宋体" pitchFamily="2" charset="-122"/>
              </a:rPr>
              <a:t>incident</a:t>
            </a:r>
            <a:r>
              <a:rPr lang="en-US" altLang="zh-CN" sz="2400" dirty="0">
                <a:ea typeface="宋体" pitchFamily="2" charset="-122"/>
              </a:rPr>
              <a:t> on </a:t>
            </a:r>
            <a:r>
              <a:rPr lang="en-US" altLang="zh-CN" sz="2400" i="1" dirty="0">
                <a:ea typeface="宋体" pitchFamily="2" charset="-122"/>
              </a:rPr>
              <a:t>e</a:t>
            </a:r>
            <a:r>
              <a:rPr lang="en-US" altLang="zh-CN" sz="2400" dirty="0">
                <a:ea typeface="宋体" pitchFamily="2" charset="-122"/>
              </a:rPr>
              <a:t>.  Also, the edge </a:t>
            </a:r>
            <a:r>
              <a:rPr lang="en-US" altLang="zh-CN" sz="2400" i="1" dirty="0">
                <a:ea typeface="宋体" pitchFamily="2" charset="-122"/>
              </a:rPr>
              <a:t>e</a:t>
            </a:r>
            <a:r>
              <a:rPr lang="en-US" altLang="zh-CN" sz="2400" dirty="0">
                <a:ea typeface="宋体" pitchFamily="2" charset="-122"/>
              </a:rPr>
              <a:t> is said to be </a:t>
            </a:r>
            <a:r>
              <a:rPr lang="en-US" altLang="zh-CN" sz="2400" dirty="0">
                <a:solidFill>
                  <a:schemeClr val="accent4"/>
                </a:solidFill>
                <a:ea typeface="宋体" pitchFamily="2" charset="-122"/>
              </a:rPr>
              <a:t>incident </a:t>
            </a:r>
            <a:r>
              <a:rPr lang="en-US" altLang="zh-CN" sz="2400" dirty="0">
                <a:ea typeface="宋体" pitchFamily="2" charset="-122"/>
              </a:rPr>
              <a:t>on </a:t>
            </a:r>
            <a:r>
              <a:rPr lang="en-US" altLang="zh-CN" sz="2400" i="1" dirty="0">
                <a:ea typeface="宋体" pitchFamily="2" charset="-122"/>
              </a:rPr>
              <a:t>v</a:t>
            </a:r>
            <a:r>
              <a:rPr lang="en-US" altLang="zh-CN" sz="2400" dirty="0">
                <a:ea typeface="宋体" pitchFamily="2" charset="-122"/>
              </a:rPr>
              <a:t>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zh-CN" sz="2400" dirty="0">
                <a:ea typeface="宋体" pitchFamily="2" charset="-122"/>
              </a:rPr>
              <a:t>{</a:t>
            </a:r>
            <a:r>
              <a:rPr lang="en-US" altLang="zh-CN" sz="2400" b="1" i="1" dirty="0">
                <a:ea typeface="宋体" pitchFamily="2" charset="-122"/>
              </a:rPr>
              <a:t>v</a:t>
            </a:r>
            <a:r>
              <a:rPr lang="en-US" altLang="zh-CN" sz="2400" b="1" i="1" baseline="-25000" dirty="0">
                <a:ea typeface="宋体" pitchFamily="2" charset="-122"/>
              </a:rPr>
              <a:t>1</a:t>
            </a:r>
            <a:r>
              <a:rPr lang="en-US" altLang="zh-CN" sz="2400" i="1" dirty="0">
                <a:ea typeface="宋体" pitchFamily="2" charset="-122"/>
              </a:rPr>
              <a:t>, </a:t>
            </a:r>
            <a:r>
              <a:rPr lang="en-US" altLang="zh-CN" sz="2400" b="1" i="1" dirty="0">
                <a:ea typeface="宋体" pitchFamily="2" charset="-122"/>
              </a:rPr>
              <a:t>v</a:t>
            </a:r>
            <a:r>
              <a:rPr lang="en-US" altLang="zh-CN" sz="2400" b="1" i="1" baseline="-25000" dirty="0">
                <a:ea typeface="宋体" pitchFamily="2" charset="-122"/>
              </a:rPr>
              <a:t>2</a:t>
            </a:r>
            <a:r>
              <a:rPr lang="en-US" altLang="zh-CN" sz="2400" dirty="0">
                <a:ea typeface="宋体" pitchFamily="2" charset="-122"/>
              </a:rPr>
              <a:t>} = {</a:t>
            </a:r>
            <a:r>
              <a:rPr lang="en-US" altLang="zh-CN" sz="2400" b="1" i="1" dirty="0">
                <a:ea typeface="宋体" pitchFamily="2" charset="-122"/>
              </a:rPr>
              <a:t>v</a:t>
            </a:r>
            <a:r>
              <a:rPr lang="en-US" altLang="zh-CN" sz="2400" b="1" i="1" baseline="-25000" dirty="0">
                <a:ea typeface="宋体" pitchFamily="2" charset="-122"/>
              </a:rPr>
              <a:t>2</a:t>
            </a:r>
            <a:r>
              <a:rPr lang="en-US" altLang="zh-CN" sz="2400" i="1" dirty="0">
                <a:ea typeface="宋体" pitchFamily="2" charset="-122"/>
              </a:rPr>
              <a:t>, </a:t>
            </a:r>
            <a:r>
              <a:rPr lang="en-US" altLang="zh-CN" sz="2400" b="1" i="1" dirty="0">
                <a:ea typeface="宋体" pitchFamily="2" charset="-122"/>
              </a:rPr>
              <a:t>v</a:t>
            </a:r>
            <a:r>
              <a:rPr lang="en-US" altLang="zh-CN" sz="2400" b="1" i="1" baseline="-25000" dirty="0">
                <a:ea typeface="宋体" pitchFamily="2" charset="-122"/>
              </a:rPr>
              <a:t>1</a:t>
            </a:r>
            <a:r>
              <a:rPr lang="en-US" altLang="zh-CN" sz="2400" dirty="0">
                <a:ea typeface="宋体" pitchFamily="2" charset="-122"/>
              </a:rPr>
              <a:t>}</a:t>
            </a:r>
          </a:p>
          <a:p>
            <a:pPr marL="609600" indent="-609600" eaLnBrk="1" hangingPunct="1">
              <a:buFontTx/>
              <a:buNone/>
            </a:pPr>
            <a:endParaRPr lang="en-US" altLang="zh-CN" sz="2400" dirty="0">
              <a:ea typeface="宋体" pitchFamily="2" charset="-122"/>
            </a:endParaRPr>
          </a:p>
          <a:p>
            <a:pPr marL="609600" indent="-609600" eaLnBrk="1" hangingPunct="1">
              <a:buFontTx/>
              <a:buAutoNum type="arabicPeriod"/>
            </a:pPr>
            <a:endParaRPr lang="en-US" altLang="zh-CN" sz="2000" dirty="0">
              <a:ea typeface="宋体" pitchFamily="2" charset="-122"/>
            </a:endParaRPr>
          </a:p>
          <a:p>
            <a:pPr marL="609600" indent="-609600" eaLnBrk="1" hangingPunct="1">
              <a:buFontTx/>
              <a:buAutoNum type="arabicPeriod"/>
            </a:pPr>
            <a:endParaRPr lang="en-US" altLang="zh-CN" sz="2000" dirty="0">
              <a:ea typeface="宋体" pitchFamily="2" charset="-122"/>
            </a:endParaRP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0" y="5181600"/>
            <a:ext cx="9220200" cy="92333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If we are talking about directed graphs, where edges have direction, then {v</a:t>
            </a:r>
            <a:r>
              <a:rPr lang="en-US" altLang="zh-CN" sz="1800" baseline="-250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1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,v</a:t>
            </a:r>
            <a:r>
              <a:rPr lang="en-US" altLang="zh-CN" sz="1800" baseline="-250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2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} 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  <a:cs typeface="Arial" charset="0"/>
              </a:rPr>
              <a:t>≠ 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{v</a:t>
            </a:r>
            <a:r>
              <a:rPr lang="en-US" altLang="zh-CN" sz="1800" baseline="-250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2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,v</a:t>
            </a:r>
            <a:r>
              <a:rPr lang="en-US" altLang="zh-CN" sz="1800" baseline="-250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1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}</a:t>
            </a:r>
            <a:b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</a:b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Directed graphs are drawn with arrows (called arcs) between edges. </a:t>
            </a:r>
          </a:p>
          <a:p>
            <a:pPr eaLnBrk="1" hangingPunct="1"/>
            <a:endParaRPr lang="zh-CN" altLang="en-US" sz="1800" dirty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26629" name="Oval 5"/>
          <p:cNvSpPr>
            <a:spLocks noChangeArrowheads="1"/>
          </p:cNvSpPr>
          <p:nvPr/>
        </p:nvSpPr>
        <p:spPr bwMode="auto">
          <a:xfrm>
            <a:off x="3321050" y="5867400"/>
            <a:ext cx="228600" cy="2286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 dirty="0">
                <a:solidFill>
                  <a:schemeClr val="bg1"/>
                </a:solidFill>
                <a:latin typeface="Arial" charset="0"/>
              </a:rPr>
              <a:t>A</a:t>
            </a:r>
          </a:p>
        </p:txBody>
      </p:sp>
      <p:sp>
        <p:nvSpPr>
          <p:cNvPr id="26630" name="Oval 6"/>
          <p:cNvSpPr>
            <a:spLocks noChangeArrowheads="1"/>
          </p:cNvSpPr>
          <p:nvPr/>
        </p:nvSpPr>
        <p:spPr bwMode="auto">
          <a:xfrm>
            <a:off x="4692650" y="5867400"/>
            <a:ext cx="228600" cy="228600"/>
          </a:xfrm>
          <a:prstGeom prst="ellipse">
            <a:avLst/>
          </a:pr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zh-CN" sz="1800">
                <a:solidFill>
                  <a:schemeClr val="bg1"/>
                </a:solidFill>
                <a:latin typeface="Arial" charset="0"/>
              </a:rPr>
              <a:t>B</a:t>
            </a:r>
          </a:p>
        </p:txBody>
      </p:sp>
      <p:sp>
        <p:nvSpPr>
          <p:cNvPr id="26631" name="Line 7"/>
          <p:cNvSpPr>
            <a:spLocks noChangeShapeType="1"/>
          </p:cNvSpPr>
          <p:nvPr/>
        </p:nvSpPr>
        <p:spPr bwMode="auto">
          <a:xfrm>
            <a:off x="3549650" y="5943600"/>
            <a:ext cx="11430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2" name="Text Box 8"/>
          <p:cNvSpPr txBox="1">
            <a:spLocks noChangeArrowheads="1"/>
          </p:cNvSpPr>
          <p:nvPr/>
        </p:nvSpPr>
        <p:spPr bwMode="auto">
          <a:xfrm>
            <a:off x="4997450" y="5791200"/>
            <a:ext cx="346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This means {A,B} only, not {B,A}</a:t>
            </a:r>
          </a:p>
        </p:txBody>
      </p:sp>
    </p:spTree>
    <p:extLst>
      <p:ext uri="{BB962C8B-B14F-4D97-AF65-F5344CB8AC3E}">
        <p14:creationId xmlns:p14="http://schemas.microsoft.com/office/powerpoint/2010/main" val="1179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Graph Representation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105400"/>
          </a:xfrm>
        </p:spPr>
        <p:txBody>
          <a:bodyPr/>
          <a:lstStyle/>
          <a:p>
            <a:pPr marL="609600" indent="-609600" eaLnBrk="1" hangingPunct="1"/>
            <a:r>
              <a:rPr lang="en-US" altLang="zh-CN" dirty="0">
                <a:ea typeface="宋体" pitchFamily="2" charset="-122"/>
              </a:rPr>
              <a:t>Two popular computer representations of a graph.  Both represent the vertex set and the edge set, but in different ways.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Adjacency Matrix</a:t>
            </a:r>
          </a:p>
          <a:p>
            <a:pPr marL="1371600" lvl="2" indent="-457200" eaLnBrk="1" hangingPunct="1">
              <a:buFontTx/>
              <a:buNone/>
            </a:pPr>
            <a:r>
              <a:rPr lang="en-US" altLang="zh-CN" sz="2800" dirty="0">
                <a:ea typeface="宋体" pitchFamily="2" charset="-122"/>
              </a:rPr>
              <a:t>Use a 2D matrix to represent the graph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Adjacency List</a:t>
            </a:r>
          </a:p>
          <a:p>
            <a:pPr marL="1371600" lvl="2" indent="-457200" eaLnBrk="1" hangingPunct="1">
              <a:buFont typeface="Tahoma" pitchFamily="34" charset="0"/>
              <a:buNone/>
            </a:pPr>
            <a:r>
              <a:rPr lang="en-US" altLang="zh-CN" sz="2800" dirty="0">
                <a:ea typeface="宋体" pitchFamily="2" charset="-122"/>
              </a:rPr>
              <a:t>Use a 1D array of linked lists</a:t>
            </a:r>
          </a:p>
        </p:txBody>
      </p:sp>
    </p:spTree>
    <p:extLst>
      <p:ext uri="{BB962C8B-B14F-4D97-AF65-F5344CB8AC3E}">
        <p14:creationId xmlns:p14="http://schemas.microsoft.com/office/powerpoint/2010/main" val="328495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8101830"/>
              </p:ext>
            </p:extLst>
          </p:nvPr>
        </p:nvGraphicFramePr>
        <p:xfrm>
          <a:off x="1371600" y="628650"/>
          <a:ext cx="6069013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2" name="Bitmap Image" r:id="rId3" imgW="7287642" imgH="3362794" progId="Paint.Picture">
                  <p:embed/>
                </p:oleObj>
              </mc:Choice>
              <mc:Fallback>
                <p:oleObj name="Bitmap Image" r:id="rId3" imgW="7287642" imgH="336279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628650"/>
                        <a:ext cx="6069013" cy="28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15240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Adjacency Matrix</a:t>
            </a:r>
          </a:p>
        </p:txBody>
      </p:sp>
      <p:sp>
        <p:nvSpPr>
          <p:cNvPr id="6148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04800" y="3429000"/>
            <a:ext cx="8610600" cy="3429000"/>
          </a:xfrm>
        </p:spPr>
        <p:txBody>
          <a:bodyPr/>
          <a:lstStyle/>
          <a:p>
            <a:pPr eaLnBrk="1" hangingPunct="1"/>
            <a:r>
              <a:rPr lang="en-US" altLang="zh-CN" sz="1800" dirty="0">
                <a:solidFill>
                  <a:schemeClr val="accent4"/>
                </a:solidFill>
                <a:ea typeface="宋体" pitchFamily="2" charset="-122"/>
              </a:rPr>
              <a:t>2D array A[0..n-1, 0..n-1]</a:t>
            </a:r>
            <a:r>
              <a:rPr lang="en-US" altLang="zh-CN" sz="1800" dirty="0">
                <a:ea typeface="宋体" pitchFamily="2" charset="-122"/>
              </a:rPr>
              <a:t>, where </a:t>
            </a:r>
            <a:r>
              <a:rPr lang="en-US" altLang="zh-CN" sz="1800" b="1" i="1" dirty="0">
                <a:ea typeface="宋体" pitchFamily="2" charset="-122"/>
              </a:rPr>
              <a:t>n</a:t>
            </a:r>
            <a:r>
              <a:rPr lang="en-US" altLang="zh-CN" sz="1800" dirty="0">
                <a:ea typeface="宋体" pitchFamily="2" charset="-122"/>
              </a:rPr>
              <a:t> is the number of vertices in the graph.</a:t>
            </a:r>
          </a:p>
          <a:p>
            <a:pPr eaLnBrk="1" hangingPunct="1"/>
            <a:r>
              <a:rPr lang="en-US" altLang="zh-CN" sz="1800" dirty="0">
                <a:ea typeface="宋体" pitchFamily="2" charset="-122"/>
              </a:rPr>
              <a:t>Each row and column is indexed by the vertex id</a:t>
            </a:r>
          </a:p>
          <a:p>
            <a:pPr lvl="1" eaLnBrk="1" hangingPunct="1"/>
            <a:r>
              <a:rPr lang="en-US" altLang="zh-CN" sz="1600" dirty="0" err="1">
                <a:ea typeface="宋体" pitchFamily="2" charset="-122"/>
              </a:rPr>
              <a:t>e,g</a:t>
            </a:r>
            <a:r>
              <a:rPr lang="en-US" altLang="zh-CN" sz="1600" dirty="0">
                <a:ea typeface="宋体" pitchFamily="2" charset="-122"/>
              </a:rPr>
              <a:t> a=0, b=1, c=2, d=3, e=4</a:t>
            </a:r>
          </a:p>
          <a:p>
            <a:pPr eaLnBrk="1" hangingPunct="1"/>
            <a:r>
              <a:rPr lang="en-US" altLang="zh-CN" sz="1800" i="1" dirty="0">
                <a:ea typeface="宋体" pitchFamily="2" charset="-122"/>
              </a:rPr>
              <a:t>A[i][j]=1</a:t>
            </a:r>
            <a:r>
              <a:rPr lang="en-US" altLang="zh-CN" sz="1800" dirty="0">
                <a:ea typeface="宋体" pitchFamily="2" charset="-122"/>
              </a:rPr>
              <a:t> if there is an edge connecting vertices </a:t>
            </a:r>
            <a:r>
              <a:rPr lang="en-US" altLang="zh-CN" sz="1800" i="1" dirty="0">
                <a:ea typeface="宋体" pitchFamily="2" charset="-122"/>
              </a:rPr>
              <a:t>i</a:t>
            </a:r>
            <a:r>
              <a:rPr lang="en-US" altLang="zh-CN" sz="1800" dirty="0">
                <a:ea typeface="宋体" pitchFamily="2" charset="-122"/>
              </a:rPr>
              <a:t> and </a:t>
            </a:r>
            <a:r>
              <a:rPr lang="en-US" altLang="zh-CN" sz="1800" i="1" dirty="0">
                <a:ea typeface="宋体" pitchFamily="2" charset="-122"/>
              </a:rPr>
              <a:t>j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1800" dirty="0">
                <a:ea typeface="宋体" pitchFamily="2" charset="-122"/>
              </a:rPr>
              <a:t>	otherwise </a:t>
            </a:r>
            <a:r>
              <a:rPr lang="en-US" altLang="zh-CN" sz="1800" i="1" dirty="0">
                <a:ea typeface="宋体" pitchFamily="2" charset="-122"/>
              </a:rPr>
              <a:t>A[i][j]=0.</a:t>
            </a:r>
            <a:endParaRPr lang="en-US" altLang="zh-CN" sz="1800" dirty="0">
              <a:ea typeface="宋体" pitchFamily="2" charset="-122"/>
            </a:endParaRPr>
          </a:p>
          <a:p>
            <a:pPr eaLnBrk="1" hangingPunct="1"/>
            <a:r>
              <a:rPr lang="en-US" altLang="zh-CN" sz="1800" dirty="0">
                <a:ea typeface="宋体" pitchFamily="2" charset="-122"/>
              </a:rPr>
              <a:t>The </a:t>
            </a:r>
            <a:r>
              <a:rPr lang="en-US" altLang="zh-CN" sz="1800" dirty="0">
                <a:solidFill>
                  <a:schemeClr val="accent4"/>
                </a:solidFill>
                <a:ea typeface="宋体" pitchFamily="2" charset="-122"/>
              </a:rPr>
              <a:t>storage </a:t>
            </a:r>
            <a:r>
              <a:rPr lang="en-US" altLang="zh-CN" sz="1800" dirty="0">
                <a:ea typeface="宋体" pitchFamily="2" charset="-122"/>
              </a:rPr>
              <a:t>requirement is </a:t>
            </a:r>
            <a:r>
              <a:rPr lang="el-GR" altLang="zh-CN" sz="1800" dirty="0">
                <a:solidFill>
                  <a:schemeClr val="accent4"/>
                </a:solidFill>
              </a:rPr>
              <a:t>Θ</a:t>
            </a:r>
            <a:r>
              <a:rPr lang="en-US" altLang="zh-CN" sz="1800" dirty="0">
                <a:solidFill>
                  <a:schemeClr val="accent4"/>
                </a:solidFill>
                <a:ea typeface="宋体" pitchFamily="2" charset="-122"/>
              </a:rPr>
              <a:t>(n</a:t>
            </a:r>
            <a:r>
              <a:rPr lang="en-US" altLang="zh-CN" sz="1800" baseline="30000" dirty="0">
                <a:solidFill>
                  <a:schemeClr val="accent4"/>
                </a:solidFill>
                <a:ea typeface="宋体" pitchFamily="2" charset="-122"/>
              </a:rPr>
              <a:t>2</a:t>
            </a:r>
            <a:r>
              <a:rPr lang="en-US" altLang="zh-CN" sz="1800" dirty="0">
                <a:solidFill>
                  <a:schemeClr val="accent4"/>
                </a:solidFill>
                <a:ea typeface="宋体" pitchFamily="2" charset="-122"/>
              </a:rPr>
              <a:t>). </a:t>
            </a:r>
            <a:r>
              <a:rPr lang="en-US" altLang="zh-CN" sz="1800" dirty="0">
                <a:ea typeface="宋体" pitchFamily="2" charset="-122"/>
              </a:rPr>
              <a:t>It is not efficient if the graph has few edges. An 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adjacency matrix </a:t>
            </a:r>
            <a:r>
              <a:rPr lang="en-US" altLang="zh-CN" sz="1800" dirty="0">
                <a:ea typeface="宋体" pitchFamily="2" charset="-122"/>
              </a:rPr>
              <a:t>is an </a:t>
            </a:r>
            <a:r>
              <a:rPr lang="en-US" altLang="zh-CN" sz="1800" dirty="0">
                <a:solidFill>
                  <a:schemeClr val="accent4"/>
                </a:solidFill>
                <a:ea typeface="宋体" pitchFamily="2" charset="-122"/>
              </a:rPr>
              <a:t>appropriate </a:t>
            </a:r>
            <a:r>
              <a:rPr lang="en-US" altLang="zh-CN" sz="1800" dirty="0">
                <a:ea typeface="宋体" pitchFamily="2" charset="-122"/>
              </a:rPr>
              <a:t>representation if the graph is </a:t>
            </a:r>
            <a:r>
              <a:rPr lang="en-US" altLang="zh-CN" sz="1800" dirty="0">
                <a:solidFill>
                  <a:schemeClr val="accent4"/>
                </a:solidFill>
                <a:ea typeface="宋体" pitchFamily="2" charset="-122"/>
              </a:rPr>
              <a:t>dense</a:t>
            </a:r>
            <a:r>
              <a:rPr lang="en-US" altLang="zh-CN" sz="1800" dirty="0">
                <a:ea typeface="宋体" pitchFamily="2" charset="-122"/>
              </a:rPr>
              <a:t>: |E|=</a:t>
            </a:r>
            <a:r>
              <a:rPr lang="el-GR" altLang="zh-CN" sz="1800" dirty="0">
                <a:cs typeface="Arial" charset="0"/>
              </a:rPr>
              <a:t>Θ</a:t>
            </a:r>
            <a:r>
              <a:rPr lang="en-US" altLang="zh-CN" sz="1800" dirty="0">
                <a:ea typeface="宋体" pitchFamily="2" charset="-122"/>
                <a:cs typeface="Arial" charset="0"/>
              </a:rPr>
              <a:t>(|V|</a:t>
            </a:r>
            <a:r>
              <a:rPr lang="en-US" altLang="zh-CN" sz="1800" baseline="30000" dirty="0">
                <a:ea typeface="宋体" pitchFamily="2" charset="-122"/>
                <a:cs typeface="Arial" charset="0"/>
              </a:rPr>
              <a:t>2</a:t>
            </a:r>
            <a:r>
              <a:rPr lang="en-US" altLang="zh-CN" sz="1800" dirty="0">
                <a:ea typeface="宋体" pitchFamily="2" charset="-122"/>
                <a:cs typeface="Arial" charset="0"/>
              </a:rPr>
              <a:t>)</a:t>
            </a:r>
            <a:endParaRPr lang="en-US" altLang="zh-CN" sz="1800" dirty="0">
              <a:ea typeface="宋体" pitchFamily="2" charset="-122"/>
            </a:endParaRPr>
          </a:p>
          <a:p>
            <a:pPr eaLnBrk="1" hangingPunct="1"/>
            <a:r>
              <a:rPr lang="en-US" altLang="zh-CN" sz="1800" dirty="0">
                <a:ea typeface="宋体" pitchFamily="2" charset="-122"/>
              </a:rPr>
              <a:t>We can detect in O(1) time whether two vertices are connected.</a:t>
            </a:r>
            <a:endParaRPr lang="el-GR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88664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Adjacency List</a:t>
            </a:r>
          </a:p>
        </p:txBody>
      </p:sp>
      <p:graphicFrame>
        <p:nvGraphicFramePr>
          <p:cNvPr id="71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935087"/>
              </p:ext>
            </p:extLst>
          </p:nvPr>
        </p:nvGraphicFramePr>
        <p:xfrm>
          <a:off x="1447800" y="990600"/>
          <a:ext cx="6075363" cy="285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name="Bitmap Image" r:id="rId3" imgW="7752381" imgH="3648584" progId="Paint.Picture">
                  <p:embed/>
                </p:oleObj>
              </mc:Choice>
              <mc:Fallback>
                <p:oleObj name="Bitmap Image" r:id="rId3" imgW="7752381" imgH="364858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990600"/>
                        <a:ext cx="6075363" cy="285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657600"/>
            <a:ext cx="8686800" cy="29718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ea typeface="宋体" pitchFamily="2" charset="-122"/>
              </a:rPr>
              <a:t>If the graph is not dense, in other words,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sparse</a:t>
            </a:r>
            <a:r>
              <a:rPr lang="en-US" altLang="zh-CN" sz="2000" dirty="0">
                <a:ea typeface="宋体" pitchFamily="2" charset="-122"/>
              </a:rPr>
              <a:t>, a better solution is an adjacency list</a:t>
            </a: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The adjacency list is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an array A[0..n-1] of lists</a:t>
            </a:r>
            <a:r>
              <a:rPr lang="en-US" altLang="zh-CN" sz="2000" dirty="0">
                <a:ea typeface="宋体" pitchFamily="2" charset="-122"/>
              </a:rPr>
              <a:t>, where n is the number of vertices in the graph.</a:t>
            </a: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Each array entry is indexed by the vertex id</a:t>
            </a: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Each 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list </a:t>
            </a:r>
            <a:r>
              <a:rPr lang="en-US" altLang="zh-CN" sz="2000" i="1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A[i]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stores the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ids of the vertices adjacent to vertex i</a:t>
            </a:r>
          </a:p>
        </p:txBody>
      </p:sp>
    </p:spTree>
    <p:extLst>
      <p:ext uri="{BB962C8B-B14F-4D97-AF65-F5344CB8AC3E}">
        <p14:creationId xmlns:p14="http://schemas.microsoft.com/office/powerpoint/2010/main" val="1800484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Adjacency Matrix Example</a:t>
            </a:r>
          </a:p>
        </p:txBody>
      </p:sp>
      <p:grpSp>
        <p:nvGrpSpPr>
          <p:cNvPr id="28675" name="Group 3"/>
          <p:cNvGrpSpPr>
            <a:grpSpLocks/>
          </p:cNvGrpSpPr>
          <p:nvPr/>
        </p:nvGrpSpPr>
        <p:grpSpPr bwMode="auto">
          <a:xfrm>
            <a:off x="685800" y="1981200"/>
            <a:ext cx="3733800" cy="2895600"/>
            <a:chOff x="192" y="816"/>
            <a:chExt cx="2976" cy="2208"/>
          </a:xfrm>
        </p:grpSpPr>
        <p:sp>
          <p:nvSpPr>
            <p:cNvPr id="28822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28823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4</a:t>
              </a:r>
            </a:p>
          </p:txBody>
        </p:sp>
        <p:sp>
          <p:nvSpPr>
            <p:cNvPr id="28824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3</a:t>
              </a:r>
            </a:p>
          </p:txBody>
        </p:sp>
        <p:sp>
          <p:nvSpPr>
            <p:cNvPr id="28825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28826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28827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>
                  <a:solidFill>
                    <a:schemeClr val="bg1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28828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6</a:t>
              </a:r>
            </a:p>
          </p:txBody>
        </p:sp>
        <p:sp>
          <p:nvSpPr>
            <p:cNvPr id="28829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9</a:t>
              </a:r>
            </a:p>
          </p:txBody>
        </p:sp>
        <p:sp>
          <p:nvSpPr>
            <p:cNvPr id="28830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8</a:t>
              </a:r>
            </a:p>
          </p:txBody>
        </p:sp>
        <p:sp>
          <p:nvSpPr>
            <p:cNvPr id="28831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chemeClr val="bg1"/>
                  </a:solidFill>
                  <a:latin typeface="Arial" charset="0"/>
                </a:rPr>
                <a:t>0</a:t>
              </a:r>
            </a:p>
          </p:txBody>
        </p:sp>
        <p:cxnSp>
          <p:nvCxnSpPr>
            <p:cNvPr id="28832" name="AutoShape 14"/>
            <p:cNvCxnSpPr>
              <a:cxnSpLocks noChangeShapeType="1"/>
              <a:stCxn id="28831" idx="6"/>
              <a:endCxn id="28830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33" name="AutoShape 15"/>
            <p:cNvCxnSpPr>
              <a:cxnSpLocks noChangeShapeType="1"/>
              <a:stCxn id="28830" idx="5"/>
              <a:endCxn id="28829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34" name="AutoShape 16"/>
            <p:cNvCxnSpPr>
              <a:cxnSpLocks noChangeShapeType="1"/>
              <a:stCxn id="28829" idx="2"/>
              <a:endCxn id="28826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35" name="AutoShape 17"/>
            <p:cNvCxnSpPr>
              <a:cxnSpLocks noChangeShapeType="1"/>
              <a:stCxn id="28830" idx="3"/>
              <a:endCxn id="28822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36" name="AutoShape 18"/>
            <p:cNvCxnSpPr>
              <a:cxnSpLocks noChangeShapeType="1"/>
              <a:stCxn id="28822" idx="6"/>
              <a:endCxn id="28826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37" name="AutoShape 19"/>
            <p:cNvCxnSpPr>
              <a:cxnSpLocks noChangeShapeType="1"/>
              <a:stCxn id="28822" idx="3"/>
              <a:endCxn id="28823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38" name="AutoShape 20"/>
            <p:cNvCxnSpPr>
              <a:cxnSpLocks noChangeShapeType="1"/>
              <a:stCxn id="28823" idx="6"/>
              <a:endCxn id="28824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39" name="AutoShape 21"/>
            <p:cNvCxnSpPr>
              <a:cxnSpLocks noChangeShapeType="1"/>
              <a:stCxn id="28824" idx="7"/>
              <a:endCxn id="28826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40" name="AutoShape 22"/>
            <p:cNvCxnSpPr>
              <a:cxnSpLocks noChangeShapeType="1"/>
              <a:stCxn id="28824" idx="5"/>
              <a:endCxn id="28825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41" name="AutoShape 23"/>
            <p:cNvCxnSpPr>
              <a:cxnSpLocks noChangeShapeType="1"/>
              <a:stCxn id="28825" idx="6"/>
              <a:endCxn id="28828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42" name="AutoShape 24"/>
            <p:cNvCxnSpPr>
              <a:cxnSpLocks noChangeShapeType="1"/>
              <a:stCxn id="28826" idx="6"/>
              <a:endCxn id="28827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843" name="AutoShape 25"/>
            <p:cNvCxnSpPr>
              <a:cxnSpLocks noChangeShapeType="1"/>
              <a:stCxn id="28827" idx="6"/>
              <a:endCxn id="28828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78380" name="Group 172"/>
          <p:cNvGraphicFramePr>
            <a:graphicFrameLocks noGrp="1"/>
          </p:cNvGraphicFramePr>
          <p:nvPr/>
        </p:nvGraphicFramePr>
        <p:xfrm>
          <a:off x="4953000" y="1905000"/>
          <a:ext cx="3702050" cy="3730625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24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Adjacency List Example</a:t>
            </a:r>
          </a:p>
        </p:txBody>
      </p:sp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685800" y="1981200"/>
            <a:ext cx="3733800" cy="2895600"/>
            <a:chOff x="192" y="816"/>
            <a:chExt cx="2976" cy="2208"/>
          </a:xfrm>
        </p:grpSpPr>
        <p:sp>
          <p:nvSpPr>
            <p:cNvPr id="29822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29823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4</a:t>
              </a:r>
            </a:p>
          </p:txBody>
        </p:sp>
        <p:sp>
          <p:nvSpPr>
            <p:cNvPr id="29824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3</a:t>
              </a:r>
            </a:p>
          </p:txBody>
        </p:sp>
        <p:sp>
          <p:nvSpPr>
            <p:cNvPr id="29825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29826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29827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29828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6</a:t>
              </a:r>
            </a:p>
          </p:txBody>
        </p:sp>
        <p:sp>
          <p:nvSpPr>
            <p:cNvPr id="29829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9</a:t>
              </a:r>
            </a:p>
          </p:txBody>
        </p:sp>
        <p:sp>
          <p:nvSpPr>
            <p:cNvPr id="29830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solidFill>
                    <a:schemeClr val="bg1"/>
                  </a:solidFill>
                  <a:latin typeface="Arial" charset="0"/>
                </a:rPr>
                <a:t>8</a:t>
              </a:r>
            </a:p>
          </p:txBody>
        </p:sp>
        <p:sp>
          <p:nvSpPr>
            <p:cNvPr id="29831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solidFill>
                    <a:schemeClr val="bg1"/>
                  </a:solidFill>
                  <a:latin typeface="Arial" charset="0"/>
                </a:rPr>
                <a:t>0</a:t>
              </a:r>
            </a:p>
          </p:txBody>
        </p:sp>
        <p:cxnSp>
          <p:nvCxnSpPr>
            <p:cNvPr id="29832" name="AutoShape 14"/>
            <p:cNvCxnSpPr>
              <a:cxnSpLocks noChangeShapeType="1"/>
              <a:stCxn id="29831" idx="6"/>
              <a:endCxn id="29830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33" name="AutoShape 15"/>
            <p:cNvCxnSpPr>
              <a:cxnSpLocks noChangeShapeType="1"/>
              <a:stCxn id="29830" idx="5"/>
              <a:endCxn id="29829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34" name="AutoShape 16"/>
            <p:cNvCxnSpPr>
              <a:cxnSpLocks noChangeShapeType="1"/>
              <a:stCxn id="29829" idx="2"/>
              <a:endCxn id="29826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35" name="AutoShape 17"/>
            <p:cNvCxnSpPr>
              <a:cxnSpLocks noChangeShapeType="1"/>
              <a:stCxn id="29830" idx="3"/>
              <a:endCxn id="29822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36" name="AutoShape 18"/>
            <p:cNvCxnSpPr>
              <a:cxnSpLocks noChangeShapeType="1"/>
              <a:stCxn id="29822" idx="6"/>
              <a:endCxn id="29826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37" name="AutoShape 19"/>
            <p:cNvCxnSpPr>
              <a:cxnSpLocks noChangeShapeType="1"/>
              <a:stCxn id="29822" idx="3"/>
              <a:endCxn id="29823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38" name="AutoShape 20"/>
            <p:cNvCxnSpPr>
              <a:cxnSpLocks noChangeShapeType="1"/>
              <a:stCxn id="29823" idx="6"/>
              <a:endCxn id="29824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39" name="AutoShape 21"/>
            <p:cNvCxnSpPr>
              <a:cxnSpLocks noChangeShapeType="1"/>
              <a:stCxn id="29824" idx="7"/>
              <a:endCxn id="29826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40" name="AutoShape 22"/>
            <p:cNvCxnSpPr>
              <a:cxnSpLocks noChangeShapeType="1"/>
              <a:stCxn id="29824" idx="5"/>
              <a:endCxn id="29825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41" name="AutoShape 23"/>
            <p:cNvCxnSpPr>
              <a:cxnSpLocks noChangeShapeType="1"/>
              <a:stCxn id="29825" idx="6"/>
              <a:endCxn id="29828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42" name="AutoShape 24"/>
            <p:cNvCxnSpPr>
              <a:cxnSpLocks noChangeShapeType="1"/>
              <a:stCxn id="29826" idx="6"/>
              <a:endCxn id="29827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843" name="AutoShape 25"/>
            <p:cNvCxnSpPr>
              <a:cxnSpLocks noChangeShapeType="1"/>
              <a:stCxn id="29827" idx="6"/>
              <a:endCxn id="29828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479380" name="Group 1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5362628"/>
              </p:ext>
            </p:extLst>
          </p:nvPr>
        </p:nvGraphicFramePr>
        <p:xfrm>
          <a:off x="5181600" y="1874840"/>
          <a:ext cx="336550" cy="3657600"/>
        </p:xfrm>
        <a:graphic>
          <a:graphicData uri="http://schemas.openxmlformats.org/drawingml/2006/table">
            <a:tbl>
              <a:tblPr/>
              <a:tblGrid>
                <a:gridCol w="33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9724" name="Line 50"/>
          <p:cNvSpPr>
            <a:spLocks noChangeShapeType="1"/>
          </p:cNvSpPr>
          <p:nvPr/>
        </p:nvSpPr>
        <p:spPr bwMode="auto">
          <a:xfrm>
            <a:off x="5562600" y="2057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5" name="Line 51"/>
          <p:cNvSpPr>
            <a:spLocks noChangeShapeType="1"/>
          </p:cNvSpPr>
          <p:nvPr/>
        </p:nvSpPr>
        <p:spPr bwMode="auto">
          <a:xfrm>
            <a:off x="5562600" y="2438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6" name="Line 52"/>
          <p:cNvSpPr>
            <a:spLocks noChangeShapeType="1"/>
          </p:cNvSpPr>
          <p:nvPr/>
        </p:nvSpPr>
        <p:spPr bwMode="auto">
          <a:xfrm>
            <a:off x="5562600" y="2819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7" name="Line 53"/>
          <p:cNvSpPr>
            <a:spLocks noChangeShapeType="1"/>
          </p:cNvSpPr>
          <p:nvPr/>
        </p:nvSpPr>
        <p:spPr bwMode="auto">
          <a:xfrm>
            <a:off x="5562600" y="3200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8" name="Line 54"/>
          <p:cNvSpPr>
            <a:spLocks noChangeShapeType="1"/>
          </p:cNvSpPr>
          <p:nvPr/>
        </p:nvSpPr>
        <p:spPr bwMode="auto">
          <a:xfrm>
            <a:off x="5562600" y="3505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29" name="Line 55"/>
          <p:cNvSpPr>
            <a:spLocks noChangeShapeType="1"/>
          </p:cNvSpPr>
          <p:nvPr/>
        </p:nvSpPr>
        <p:spPr bwMode="auto">
          <a:xfrm>
            <a:off x="5562600" y="3886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0" name="Line 56"/>
          <p:cNvSpPr>
            <a:spLocks noChangeShapeType="1"/>
          </p:cNvSpPr>
          <p:nvPr/>
        </p:nvSpPr>
        <p:spPr bwMode="auto">
          <a:xfrm>
            <a:off x="5562600" y="4267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1" name="Line 57"/>
          <p:cNvSpPr>
            <a:spLocks noChangeShapeType="1"/>
          </p:cNvSpPr>
          <p:nvPr/>
        </p:nvSpPr>
        <p:spPr bwMode="auto">
          <a:xfrm>
            <a:off x="55626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2" name="Line 58"/>
          <p:cNvSpPr>
            <a:spLocks noChangeShapeType="1"/>
          </p:cNvSpPr>
          <p:nvPr/>
        </p:nvSpPr>
        <p:spPr bwMode="auto">
          <a:xfrm>
            <a:off x="5562600" y="5029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33" name="Line 59"/>
          <p:cNvSpPr>
            <a:spLocks noChangeShapeType="1"/>
          </p:cNvSpPr>
          <p:nvPr/>
        </p:nvSpPr>
        <p:spPr bwMode="auto">
          <a:xfrm>
            <a:off x="5562600" y="5410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79381" name="Group 149"/>
          <p:cNvGraphicFramePr>
            <a:graphicFrameLocks noGrp="1"/>
          </p:cNvGraphicFramePr>
          <p:nvPr/>
        </p:nvGraphicFramePr>
        <p:xfrm>
          <a:off x="5867400" y="2255838"/>
          <a:ext cx="1157288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2" name="Group 150"/>
          <p:cNvGraphicFramePr>
            <a:graphicFrameLocks noGrp="1"/>
          </p:cNvGraphicFramePr>
          <p:nvPr/>
        </p:nvGraphicFramePr>
        <p:xfrm>
          <a:off x="5867400" y="1874838"/>
          <a:ext cx="290513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3" name="Group 151"/>
          <p:cNvGraphicFramePr>
            <a:graphicFrameLocks noGrp="1"/>
          </p:cNvGraphicFramePr>
          <p:nvPr/>
        </p:nvGraphicFramePr>
        <p:xfrm>
          <a:off x="5867400" y="2667000"/>
          <a:ext cx="868363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4" name="Group 152"/>
          <p:cNvGraphicFramePr>
            <a:graphicFrameLocks noGrp="1"/>
          </p:cNvGraphicFramePr>
          <p:nvPr/>
        </p:nvGraphicFramePr>
        <p:xfrm>
          <a:off x="5867400" y="3048000"/>
          <a:ext cx="868363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5" name="Group 153"/>
          <p:cNvGraphicFramePr>
            <a:graphicFrameLocks noGrp="1"/>
          </p:cNvGraphicFramePr>
          <p:nvPr/>
        </p:nvGraphicFramePr>
        <p:xfrm>
          <a:off x="5867400" y="3398838"/>
          <a:ext cx="579438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6" name="Group 154"/>
          <p:cNvGraphicFramePr>
            <a:graphicFrameLocks noGrp="1"/>
          </p:cNvGraphicFramePr>
          <p:nvPr/>
        </p:nvGraphicFramePr>
        <p:xfrm>
          <a:off x="5867400" y="3733800"/>
          <a:ext cx="579438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7" name="Group 155"/>
          <p:cNvGraphicFramePr>
            <a:graphicFrameLocks noGrp="1"/>
          </p:cNvGraphicFramePr>
          <p:nvPr/>
        </p:nvGraphicFramePr>
        <p:xfrm>
          <a:off x="5867400" y="4084638"/>
          <a:ext cx="579438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8" name="Group 156"/>
          <p:cNvGraphicFramePr>
            <a:graphicFrameLocks noGrp="1"/>
          </p:cNvGraphicFramePr>
          <p:nvPr/>
        </p:nvGraphicFramePr>
        <p:xfrm>
          <a:off x="5867400" y="4465638"/>
          <a:ext cx="579438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89" name="Group 157"/>
          <p:cNvGraphicFramePr>
            <a:graphicFrameLocks noGrp="1"/>
          </p:cNvGraphicFramePr>
          <p:nvPr/>
        </p:nvGraphicFramePr>
        <p:xfrm>
          <a:off x="5867400" y="4846638"/>
          <a:ext cx="868363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9390" name="Group 158"/>
          <p:cNvGraphicFramePr>
            <a:graphicFrameLocks noGrp="1"/>
          </p:cNvGraphicFramePr>
          <p:nvPr/>
        </p:nvGraphicFramePr>
        <p:xfrm>
          <a:off x="5867400" y="5227638"/>
          <a:ext cx="579438" cy="304800"/>
        </p:xfrm>
        <a:graphic>
          <a:graphicData uri="http://schemas.openxmlformats.org/drawingml/2006/table">
            <a:tbl>
              <a:tblPr/>
              <a:tblGrid>
                <a:gridCol w="290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4471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34400" cy="5638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ea typeface="宋体" pitchFamily="2" charset="-122"/>
              </a:rPr>
              <a:t>The array takes up </a:t>
            </a:r>
            <a:r>
              <a:rPr lang="el-GR" altLang="zh-CN" sz="2000" dirty="0">
                <a:solidFill>
                  <a:schemeClr val="accent4"/>
                </a:solidFill>
                <a:cs typeface="Arial" charset="0"/>
              </a:rPr>
              <a:t>Θ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  <a:cs typeface="Arial" charset="0"/>
              </a:rPr>
              <a:t>(n) space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ea typeface="宋体" pitchFamily="2" charset="-122"/>
                <a:cs typeface="Arial" charset="0"/>
              </a:rPr>
              <a:t>Define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  <a:cs typeface="Arial" charset="0"/>
              </a:rPr>
              <a:t>degree 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of </a:t>
            </a:r>
            <a:r>
              <a:rPr lang="en-US" altLang="zh-CN" sz="2000" i="1" dirty="0">
                <a:ea typeface="宋体" pitchFamily="2" charset="-122"/>
                <a:cs typeface="Arial" charset="0"/>
              </a:rPr>
              <a:t>v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, </a:t>
            </a:r>
            <a:r>
              <a:rPr lang="en-US" altLang="zh-CN" sz="2000" dirty="0" err="1">
                <a:ea typeface="宋体" pitchFamily="2" charset="-122"/>
                <a:cs typeface="Arial" charset="0"/>
              </a:rPr>
              <a:t>deg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(</a:t>
            </a:r>
            <a:r>
              <a:rPr lang="en-US" altLang="zh-CN" sz="2000" i="1" dirty="0">
                <a:ea typeface="宋体" pitchFamily="2" charset="-122"/>
                <a:cs typeface="Arial" charset="0"/>
              </a:rPr>
              <a:t>v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), to be the number of edges incident to </a:t>
            </a:r>
            <a:r>
              <a:rPr lang="en-US" altLang="zh-CN" sz="2000" i="1" dirty="0">
                <a:ea typeface="宋体" pitchFamily="2" charset="-122"/>
                <a:cs typeface="Arial" charset="0"/>
              </a:rPr>
              <a:t>v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.  Then, the total space to store the lists is proportional to:</a:t>
            </a:r>
          </a:p>
          <a:p>
            <a:pPr eaLnBrk="1" hangingPunct="1">
              <a:lnSpc>
                <a:spcPct val="110000"/>
              </a:lnSpc>
            </a:pPr>
            <a:endParaRPr lang="en-US" altLang="zh-CN" sz="2000" dirty="0">
              <a:ea typeface="宋体" pitchFamily="2" charset="-122"/>
              <a:cs typeface="Arial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CN" sz="2000" dirty="0">
              <a:ea typeface="宋体" pitchFamily="2" charset="-122"/>
              <a:cs typeface="Arial" charset="0"/>
            </a:endParaRP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br>
              <a:rPr lang="en-US" altLang="zh-CN" sz="2000" dirty="0">
                <a:ea typeface="宋体" pitchFamily="2" charset="-122"/>
                <a:cs typeface="Arial" charset="0"/>
              </a:rPr>
            </a:br>
            <a:endParaRPr lang="en-US" altLang="zh-CN" sz="2000" dirty="0">
              <a:ea typeface="宋体" pitchFamily="2" charset="-122"/>
              <a:cs typeface="Arial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ea typeface="宋体" pitchFamily="2" charset="-122"/>
                <a:cs typeface="Arial" charset="0"/>
              </a:rPr>
              <a:t>An edge </a:t>
            </a:r>
            <a:r>
              <a:rPr lang="en-US" altLang="zh-CN" sz="2000" i="1" dirty="0">
                <a:ea typeface="宋体" pitchFamily="2" charset="-122"/>
                <a:cs typeface="Arial" charset="0"/>
              </a:rPr>
              <a:t>e={</a:t>
            </a:r>
            <a:r>
              <a:rPr lang="en-US" altLang="zh-CN" sz="2000" i="1" dirty="0" err="1">
                <a:ea typeface="宋体" pitchFamily="2" charset="-122"/>
                <a:cs typeface="Arial" charset="0"/>
              </a:rPr>
              <a:t>u,v</a:t>
            </a:r>
            <a:r>
              <a:rPr lang="en-US" altLang="zh-CN" sz="2000" i="1" dirty="0">
                <a:ea typeface="宋体" pitchFamily="2" charset="-122"/>
                <a:cs typeface="Arial" charset="0"/>
              </a:rPr>
              <a:t>}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 of the graph contributes a count of 1 to </a:t>
            </a:r>
            <a:r>
              <a:rPr lang="en-US" altLang="zh-CN" sz="2000" dirty="0" err="1">
                <a:ea typeface="宋体" pitchFamily="2" charset="-122"/>
                <a:cs typeface="Arial" charset="0"/>
              </a:rPr>
              <a:t>deg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(</a:t>
            </a:r>
            <a:r>
              <a:rPr lang="en-US" altLang="zh-CN" sz="2000" i="1" dirty="0">
                <a:ea typeface="宋体" pitchFamily="2" charset="-122"/>
                <a:cs typeface="Arial" charset="0"/>
              </a:rPr>
              <a:t>u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) and contributes a count of 1 to </a:t>
            </a:r>
            <a:r>
              <a:rPr lang="en-US" altLang="zh-CN" sz="2000" dirty="0" err="1">
                <a:ea typeface="宋体" pitchFamily="2" charset="-122"/>
                <a:cs typeface="Arial" charset="0"/>
              </a:rPr>
              <a:t>deg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(</a:t>
            </a:r>
            <a:r>
              <a:rPr lang="en-US" altLang="zh-CN" sz="2000" i="1" dirty="0">
                <a:ea typeface="宋体" pitchFamily="2" charset="-122"/>
                <a:cs typeface="Arial" charset="0"/>
              </a:rPr>
              <a:t>v</a:t>
            </a:r>
            <a:r>
              <a:rPr lang="en-US" altLang="zh-CN" sz="2000" dirty="0">
                <a:ea typeface="宋体" pitchFamily="2" charset="-122"/>
                <a:cs typeface="Arial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ea typeface="宋体" pitchFamily="2" charset="-122"/>
                <a:cs typeface="Arial" charset="0"/>
              </a:rPr>
              <a:t>Therefore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  <a:cs typeface="Arial" charset="0"/>
              </a:rPr>
              <a:t> </a:t>
            </a:r>
            <a:r>
              <a:rPr lang="el-GR" altLang="zh-CN" sz="2000" dirty="0">
                <a:solidFill>
                  <a:schemeClr val="accent4"/>
                </a:solidFill>
                <a:cs typeface="Arial" charset="0"/>
              </a:rPr>
              <a:t>Σ</a:t>
            </a:r>
            <a:r>
              <a:rPr lang="en-US" altLang="zh-CN" sz="2000" baseline="-25000" dirty="0">
                <a:solidFill>
                  <a:schemeClr val="accent4"/>
                </a:solidFill>
                <a:ea typeface="宋体" pitchFamily="2" charset="-122"/>
              </a:rPr>
              <a:t>vertex </a:t>
            </a:r>
            <a:r>
              <a:rPr lang="en-US" altLang="zh-CN" sz="2000" i="1" baseline="-25000" dirty="0" err="1">
                <a:solidFill>
                  <a:schemeClr val="accent4"/>
                </a:solidFill>
                <a:ea typeface="宋体" pitchFamily="2" charset="-122"/>
              </a:rPr>
              <a:t>v</a:t>
            </a:r>
            <a:r>
              <a:rPr lang="en-US" altLang="zh-CN" sz="2000" dirty="0" err="1">
                <a:solidFill>
                  <a:schemeClr val="accent4"/>
                </a:solidFill>
                <a:ea typeface="宋体" pitchFamily="2" charset="-122"/>
              </a:rPr>
              <a:t>deg</a:t>
            </a:r>
            <a:r>
              <a:rPr lang="en-US" altLang="zh-CN" sz="2000" i="1" dirty="0">
                <a:solidFill>
                  <a:schemeClr val="accent4"/>
                </a:solidFill>
                <a:ea typeface="宋体" pitchFamily="2" charset="-122"/>
              </a:rPr>
              <a:t>(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v</a:t>
            </a:r>
            <a:r>
              <a:rPr lang="en-US" altLang="zh-CN" sz="2000" i="1" dirty="0">
                <a:solidFill>
                  <a:schemeClr val="accent4"/>
                </a:solidFill>
                <a:ea typeface="宋体" pitchFamily="2" charset="-122"/>
              </a:rPr>
              <a:t>) =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2m</a:t>
            </a:r>
            <a:r>
              <a:rPr lang="en-US" altLang="zh-CN" sz="2000" dirty="0">
                <a:ea typeface="宋体" pitchFamily="2" charset="-122"/>
              </a:rPr>
              <a:t> where </a:t>
            </a:r>
            <a:r>
              <a:rPr lang="en-US" altLang="zh-CN" sz="2000" i="1" dirty="0">
                <a:solidFill>
                  <a:schemeClr val="accent4"/>
                </a:solidFill>
                <a:ea typeface="宋体" pitchFamily="2" charset="-122"/>
              </a:rPr>
              <a:t>m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is the total number of edges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ea typeface="宋体" pitchFamily="2" charset="-122"/>
              </a:rPr>
              <a:t>In all, the 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adjacency list takes up </a:t>
            </a:r>
            <a:r>
              <a:rPr lang="el-GR" altLang="zh-CN" sz="2000" dirty="0">
                <a:solidFill>
                  <a:schemeClr val="accent4"/>
                </a:solidFill>
                <a:cs typeface="Arial" charset="0"/>
              </a:rPr>
              <a:t>Θ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(</a:t>
            </a:r>
            <a:r>
              <a:rPr lang="en-US" altLang="zh-CN" sz="2000" i="1" dirty="0" err="1">
                <a:solidFill>
                  <a:schemeClr val="accent4"/>
                </a:solidFill>
                <a:ea typeface="宋体" pitchFamily="2" charset="-122"/>
              </a:rPr>
              <a:t>n+m</a:t>
            </a:r>
            <a:r>
              <a:rPr lang="en-US" altLang="zh-CN" sz="2000" dirty="0">
                <a:solidFill>
                  <a:schemeClr val="accent4"/>
                </a:solidFill>
                <a:ea typeface="宋体" pitchFamily="2" charset="-122"/>
              </a:rPr>
              <a:t>) space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1800" dirty="0">
                <a:ea typeface="宋体" pitchFamily="2" charset="-122"/>
              </a:rPr>
              <a:t>If m = O(n</a:t>
            </a:r>
            <a:r>
              <a:rPr lang="en-US" altLang="zh-CN" sz="1800" baseline="30000" dirty="0">
                <a:ea typeface="宋体" pitchFamily="2" charset="-122"/>
              </a:rPr>
              <a:t>2</a:t>
            </a:r>
            <a:r>
              <a:rPr lang="en-US" altLang="zh-CN" sz="1800" dirty="0">
                <a:ea typeface="宋体" pitchFamily="2" charset="-122"/>
              </a:rPr>
              <a:t>) (i.e. dense graphs), both the adjacency matrix and the adjacency list use </a:t>
            </a:r>
            <a:r>
              <a:rPr lang="el-GR" altLang="zh-CN" sz="1800" dirty="0">
                <a:cs typeface="Arial" charset="0"/>
              </a:rPr>
              <a:t>Θ</a:t>
            </a:r>
            <a:r>
              <a:rPr lang="en-US" altLang="zh-CN" sz="1800" dirty="0">
                <a:ea typeface="宋体" pitchFamily="2" charset="-122"/>
              </a:rPr>
              <a:t>(n</a:t>
            </a:r>
            <a:r>
              <a:rPr lang="en-US" altLang="zh-CN" sz="1800" baseline="30000" dirty="0">
                <a:ea typeface="宋体" pitchFamily="2" charset="-122"/>
              </a:rPr>
              <a:t>2</a:t>
            </a:r>
            <a:r>
              <a:rPr lang="en-US" altLang="zh-CN" sz="1800" dirty="0">
                <a:ea typeface="宋体" pitchFamily="2" charset="-122"/>
              </a:rPr>
              <a:t>) space.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CN" sz="1800" dirty="0">
                <a:ea typeface="宋体" pitchFamily="2" charset="-122"/>
              </a:rPr>
              <a:t>If m = O(n), the adjacency list outperforms the adjacency matrix</a:t>
            </a:r>
          </a:p>
          <a:p>
            <a:pPr eaLnBrk="1" hangingPunct="1">
              <a:lnSpc>
                <a:spcPct val="11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However, with an adjacency list one cannot tell in O(1) time whether two vertices are connected! A linked list search is required.</a:t>
            </a:r>
            <a:endParaRPr lang="el-GR" altLang="zh-CN" sz="2000" dirty="0">
              <a:solidFill>
                <a:schemeClr val="bg2">
                  <a:lumMod val="75000"/>
                </a:schemeClr>
              </a:solidFill>
              <a:ea typeface="宋体" pitchFamily="2" charset="-122"/>
            </a:endParaRPr>
          </a:p>
        </p:txBody>
      </p:sp>
      <p:sp>
        <p:nvSpPr>
          <p:cNvPr id="476165" name="Rectangle 5"/>
          <p:cNvSpPr>
            <a:spLocks noChangeArrowheads="1"/>
          </p:cNvSpPr>
          <p:nvPr/>
        </p:nvSpPr>
        <p:spPr bwMode="auto">
          <a:xfrm>
            <a:off x="3682409" y="2286000"/>
            <a:ext cx="1676400" cy="838200"/>
          </a:xfrm>
          <a:prstGeom prst="rect">
            <a:avLst/>
          </a:prstGeom>
          <a:solidFill>
            <a:schemeClr val="bg2">
              <a:lumMod val="75000"/>
            </a:schemeClr>
          </a:solidFill>
          <a:ln w="3175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Storage of Adjacency List</a:t>
            </a:r>
          </a:p>
        </p:txBody>
      </p:sp>
      <p:graphicFrame>
        <p:nvGraphicFramePr>
          <p:cNvPr id="476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9253122"/>
              </p:ext>
            </p:extLst>
          </p:nvPr>
        </p:nvGraphicFramePr>
        <p:xfrm>
          <a:off x="3810996" y="2362200"/>
          <a:ext cx="141922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0" name="Equation" r:id="rId3" imgW="685800" imgH="342720" progId="Equation.3">
                  <p:embed/>
                </p:oleObj>
              </mc:Choice>
              <mc:Fallback>
                <p:oleObj name="Equation" r:id="rId3" imgW="68580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996" y="2362200"/>
                        <a:ext cx="1419225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72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Adjacency List vs. Matrix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106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accent4"/>
                </a:solidFill>
                <a:ea typeface="宋体" pitchFamily="2" charset="-122"/>
              </a:rPr>
              <a:t>Adjacency List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More compact than adjacency matrices if graph has few edges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Requires more time to find if an edge exists</a:t>
            </a: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chemeClr val="accent4"/>
                </a:solidFill>
                <a:ea typeface="宋体" pitchFamily="2" charset="-122"/>
              </a:rPr>
              <a:t>Adjacency Matrix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Always require n</a:t>
            </a:r>
            <a:r>
              <a:rPr lang="en-US" altLang="zh-CN" sz="2000" baseline="30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 space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This can waste a lot of space if the graph is sparse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000" dirty="0">
                <a:ea typeface="宋体" pitchFamily="2" charset="-122"/>
              </a:rPr>
              <a:t>Can quickly find if an edge exists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000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4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566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848600" cy="9906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Path between Vertices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A 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path </a:t>
            </a:r>
            <a:r>
              <a:rPr lang="en-US" altLang="zh-CN" dirty="0">
                <a:ea typeface="宋体" pitchFamily="2" charset="-122"/>
              </a:rPr>
              <a:t>is a sequence of vertices (v</a:t>
            </a:r>
            <a:r>
              <a:rPr lang="en-US" altLang="zh-CN" baseline="-25000" dirty="0">
                <a:ea typeface="宋体" pitchFamily="2" charset="-122"/>
              </a:rPr>
              <a:t>0</a:t>
            </a:r>
            <a:r>
              <a:rPr lang="en-US" altLang="zh-CN" dirty="0">
                <a:ea typeface="宋体" pitchFamily="2" charset="-122"/>
              </a:rPr>
              <a:t>, v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, v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,</a:t>
            </a:r>
            <a:r>
              <a:rPr lang="en-US" altLang="zh-CN" dirty="0">
                <a:latin typeface="Arial" charset="0"/>
                <a:ea typeface="宋体" pitchFamily="2" charset="-122"/>
              </a:rPr>
              <a:t>…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 err="1">
                <a:ea typeface="宋体" pitchFamily="2" charset="-122"/>
              </a:rPr>
              <a:t>v</a:t>
            </a:r>
            <a:r>
              <a:rPr lang="en-US" altLang="zh-CN" baseline="-25000" dirty="0" err="1">
                <a:ea typeface="宋体" pitchFamily="2" charset="-122"/>
              </a:rPr>
              <a:t>k</a:t>
            </a:r>
            <a:r>
              <a:rPr lang="en-US" altLang="zh-CN" dirty="0">
                <a:ea typeface="宋体" pitchFamily="2" charset="-122"/>
              </a:rPr>
              <a:t>) such that: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For </a:t>
            </a:r>
            <a:r>
              <a:rPr lang="en-US" altLang="zh-CN" i="1" dirty="0">
                <a:ea typeface="宋体" pitchFamily="2" charset="-122"/>
              </a:rPr>
              <a:t>0 </a:t>
            </a:r>
            <a:r>
              <a:rPr lang="en-US" altLang="zh-CN" i="1" dirty="0">
                <a:ea typeface="宋体" pitchFamily="2" charset="-122"/>
                <a:cs typeface="Arial" charset="0"/>
              </a:rPr>
              <a:t>≤ i &lt; k,  {v</a:t>
            </a:r>
            <a:r>
              <a:rPr lang="en-US" altLang="zh-CN" i="1" baseline="-25000" dirty="0">
                <a:ea typeface="宋体" pitchFamily="2" charset="-122"/>
                <a:cs typeface="Arial" charset="0"/>
              </a:rPr>
              <a:t>i</a:t>
            </a:r>
            <a:r>
              <a:rPr lang="en-US" altLang="zh-CN" i="1" dirty="0">
                <a:ea typeface="宋体" pitchFamily="2" charset="-122"/>
                <a:cs typeface="Arial" charset="0"/>
              </a:rPr>
              <a:t>, v</a:t>
            </a:r>
            <a:r>
              <a:rPr lang="en-US" altLang="zh-CN" i="1" baseline="-25000" dirty="0">
                <a:ea typeface="宋体" pitchFamily="2" charset="-122"/>
                <a:cs typeface="Arial" charset="0"/>
              </a:rPr>
              <a:t>i+1</a:t>
            </a:r>
            <a:r>
              <a:rPr lang="en-US" altLang="zh-CN" i="1" dirty="0">
                <a:ea typeface="宋体" pitchFamily="2" charset="-122"/>
                <a:cs typeface="Arial" charset="0"/>
              </a:rPr>
              <a:t>}</a:t>
            </a:r>
            <a:r>
              <a:rPr lang="en-US" altLang="zh-CN" dirty="0">
                <a:ea typeface="宋体" pitchFamily="2" charset="-122"/>
                <a:cs typeface="Arial" charset="0"/>
              </a:rPr>
              <a:t> is an edge</a:t>
            </a:r>
          </a:p>
          <a:p>
            <a:pPr lvl="2" eaLnBrk="1" hangingPunct="1">
              <a:lnSpc>
                <a:spcPct val="90000"/>
              </a:lnSpc>
              <a:buFont typeface="Tahoma" pitchFamily="34" charset="0"/>
              <a:buNone/>
            </a:pPr>
            <a:endParaRPr lang="en-US" altLang="zh-CN" i="1" dirty="0">
              <a:ea typeface="宋体" pitchFamily="2" charset="-122"/>
            </a:endParaRPr>
          </a:p>
          <a:p>
            <a:pPr marL="446088" lvl="1" indent="11113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1800" i="1" dirty="0">
                <a:ea typeface="宋体" pitchFamily="2" charset="-122"/>
              </a:rPr>
              <a:t>Note: a path is allowed to go through the same vertex or the same edge any number of times!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1800" i="1" dirty="0">
              <a:ea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>
                <a:solidFill>
                  <a:schemeClr val="accent4"/>
                </a:solidFill>
                <a:ea typeface="宋体" pitchFamily="2" charset="-122"/>
              </a:rPr>
              <a:t>length </a:t>
            </a:r>
            <a:r>
              <a:rPr lang="en-US" altLang="zh-CN" dirty="0">
                <a:ea typeface="宋体" pitchFamily="2" charset="-122"/>
              </a:rPr>
              <a:t>of a path is the number of edges on the path</a:t>
            </a:r>
            <a:endParaRPr lang="en-US" altLang="zh-CN" i="1" dirty="0">
              <a:ea typeface="宋体" pitchFamily="2" charset="-122"/>
            </a:endParaRPr>
          </a:p>
          <a:p>
            <a:pPr lvl="2" eaLnBrk="1" hangingPunct="1">
              <a:lnSpc>
                <a:spcPct val="90000"/>
              </a:lnSpc>
              <a:buFont typeface="Tahoma" pitchFamily="34" charset="0"/>
              <a:buNone/>
            </a:pPr>
            <a:endParaRPr lang="zh-CN" altLang="en-US" sz="2000" i="1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70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Types of paths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ea typeface="宋体" pitchFamily="2" charset="-122"/>
              </a:rPr>
              <a:t>A path is </a:t>
            </a:r>
            <a:r>
              <a:rPr lang="en-US" altLang="zh-CN" sz="3200" dirty="0">
                <a:solidFill>
                  <a:schemeClr val="accent4"/>
                </a:solidFill>
                <a:ea typeface="宋体" pitchFamily="2" charset="-122"/>
              </a:rPr>
              <a:t>simple </a:t>
            </a:r>
            <a:r>
              <a:rPr lang="en-US" altLang="zh-CN" sz="3200" dirty="0">
                <a:ea typeface="宋体" pitchFamily="2" charset="-122"/>
              </a:rPr>
              <a:t>if and only if it does not contain a vertex more than once.</a:t>
            </a:r>
          </a:p>
          <a:p>
            <a:pPr eaLnBrk="1" hangingPunct="1"/>
            <a:r>
              <a:rPr lang="en-US" altLang="zh-CN" sz="3200" dirty="0">
                <a:ea typeface="宋体" pitchFamily="2" charset="-122"/>
              </a:rPr>
              <a:t>A path is a </a:t>
            </a:r>
            <a:r>
              <a:rPr lang="en-US" altLang="zh-CN" sz="3200" dirty="0">
                <a:solidFill>
                  <a:schemeClr val="accent4"/>
                </a:solidFill>
                <a:ea typeface="宋体" pitchFamily="2" charset="-122"/>
              </a:rPr>
              <a:t>cycle </a:t>
            </a:r>
            <a:r>
              <a:rPr lang="en-US" altLang="zh-CN" sz="3200" dirty="0">
                <a:ea typeface="宋体" pitchFamily="2" charset="-122"/>
              </a:rPr>
              <a:t>if and only if </a:t>
            </a:r>
            <a:r>
              <a:rPr lang="en-US" altLang="zh-CN" dirty="0">
                <a:ea typeface="宋体" pitchFamily="2" charset="-122"/>
              </a:rPr>
              <a:t>v</a:t>
            </a:r>
            <a:r>
              <a:rPr lang="en-US" altLang="zh-CN" baseline="-25000" dirty="0">
                <a:ea typeface="宋体" pitchFamily="2" charset="-122"/>
              </a:rPr>
              <a:t>0</a:t>
            </a:r>
            <a:r>
              <a:rPr lang="en-US" altLang="zh-CN" dirty="0">
                <a:ea typeface="宋体" pitchFamily="2" charset="-122"/>
              </a:rPr>
              <a:t>= </a:t>
            </a:r>
            <a:r>
              <a:rPr lang="en-US" altLang="zh-CN" dirty="0" err="1">
                <a:ea typeface="宋体" pitchFamily="2" charset="-122"/>
              </a:rPr>
              <a:t>v</a:t>
            </a:r>
            <a:r>
              <a:rPr lang="en-US" altLang="zh-CN" baseline="-25000" dirty="0" err="1">
                <a:ea typeface="宋体" pitchFamily="2" charset="-122"/>
              </a:rPr>
              <a:t>k</a:t>
            </a:r>
            <a:endParaRPr lang="en-US" altLang="zh-CN" baseline="-25000" dirty="0">
              <a:ea typeface="宋体" pitchFamily="2" charset="-122"/>
            </a:endParaRPr>
          </a:p>
          <a:p>
            <a:pPr lvl="2" eaLnBrk="1" hangingPunct="1"/>
            <a:r>
              <a:rPr lang="en-US" altLang="zh-CN" dirty="0">
                <a:ea typeface="宋体" pitchFamily="2" charset="-122"/>
              </a:rPr>
              <a:t>The beginning and end are the same vertex!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A path contains a cycle as its sub-path if some vertex appears twice or more</a:t>
            </a:r>
          </a:p>
          <a:p>
            <a:pPr lvl="2" eaLnBrk="1" hangingPunct="1"/>
            <a:endParaRPr lang="en-US" altLang="zh-CN" dirty="0">
              <a:ea typeface="宋体" pitchFamily="2" charset="-122"/>
            </a:endParaRPr>
          </a:p>
        </p:txBody>
      </p:sp>
      <p:pic>
        <p:nvPicPr>
          <p:cNvPr id="32772" name="Picture 7" descr="MCj025089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563" y="228600"/>
            <a:ext cx="143033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90109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Path Examples</a:t>
            </a:r>
          </a:p>
        </p:txBody>
      </p:sp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457200" y="1981200"/>
          <a:ext cx="3514725" cy="305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4" name="Bitmap Image" r:id="rId3" imgW="4505954" imgH="3914286" progId="Paint.Picture">
                  <p:embed/>
                </p:oleObj>
              </mc:Choice>
              <mc:Fallback>
                <p:oleObj name="Bitmap Image" r:id="rId3" imgW="4505954" imgH="391428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981200"/>
                        <a:ext cx="3514725" cy="305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648200" y="3506787"/>
            <a:ext cx="2520950" cy="25892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{</a:t>
            </a:r>
            <a:r>
              <a:rPr lang="en-US" altLang="zh-CN" sz="1800" dirty="0" err="1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a,c,f,e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}</a:t>
            </a:r>
          </a:p>
          <a:p>
            <a:pPr eaLnBrk="1" hangingPunct="1">
              <a:buFontTx/>
              <a:buAutoNum type="arabicPeriod"/>
            </a:pPr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{</a:t>
            </a:r>
            <a:r>
              <a:rPr lang="en-US" altLang="zh-CN" sz="1800" dirty="0" err="1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a,b,d,c,f,e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}</a:t>
            </a:r>
          </a:p>
          <a:p>
            <a:pPr eaLnBrk="1" hangingPunct="1">
              <a:buFontTx/>
              <a:buAutoNum type="arabicPeriod"/>
            </a:pPr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{a, c, d, b, d, c, f, e}</a:t>
            </a:r>
            <a:b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</a:br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{</a:t>
            </a:r>
            <a:r>
              <a:rPr lang="en-US" altLang="zh-CN" sz="1800" dirty="0" err="1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a,c,d,b,a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}</a:t>
            </a:r>
          </a:p>
          <a:p>
            <a:pPr eaLnBrk="1" hangingPunct="1">
              <a:buFontTx/>
              <a:buAutoNum type="arabicPeriod"/>
            </a:pPr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{</a:t>
            </a:r>
            <a:r>
              <a:rPr lang="en-US" altLang="zh-CN" sz="1800" dirty="0" err="1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a,c,f,e,b,d,c,a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}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4648200" y="1754187"/>
            <a:ext cx="2832100" cy="148431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Are these paths?</a:t>
            </a:r>
          </a:p>
          <a:p>
            <a:pPr eaLnBrk="1" hangingPunct="1"/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  <a:p>
            <a:pPr eaLnBrk="1" hangingPunct="1"/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Any cycles?</a:t>
            </a:r>
          </a:p>
          <a:p>
            <a:pPr eaLnBrk="1" hangingPunct="1"/>
            <a:endParaRPr lang="en-US" altLang="zh-CN" sz="1800" dirty="0">
              <a:solidFill>
                <a:schemeClr val="bg2">
                  <a:lumMod val="75000"/>
                </a:schemeClr>
              </a:solidFill>
              <a:latin typeface="Arial" charset="0"/>
            </a:endParaRPr>
          </a:p>
          <a:p>
            <a:pPr eaLnBrk="1" hangingPunct="1"/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What is the path’s length?</a:t>
            </a:r>
          </a:p>
        </p:txBody>
      </p:sp>
    </p:spTree>
    <p:extLst>
      <p:ext uri="{BB962C8B-B14F-4D97-AF65-F5344CB8AC3E}">
        <p14:creationId xmlns:p14="http://schemas.microsoft.com/office/powerpoint/2010/main" val="392183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Graph Traversal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 Application example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Given a graph representation and a vertex </a:t>
            </a:r>
            <a:r>
              <a:rPr lang="en-US" altLang="zh-CN" b="1" dirty="0">
                <a:ea typeface="宋体" pitchFamily="2" charset="-122"/>
              </a:rPr>
              <a:t>s</a:t>
            </a:r>
            <a:r>
              <a:rPr lang="en-US" altLang="zh-CN" dirty="0">
                <a:ea typeface="宋体" pitchFamily="2" charset="-122"/>
              </a:rPr>
              <a:t> in the graph</a:t>
            </a:r>
          </a:p>
          <a:p>
            <a:pPr lvl="1" eaLnBrk="1" hangingPunct="1"/>
            <a:r>
              <a:rPr lang="en-US" altLang="zh-CN" dirty="0">
                <a:ea typeface="宋体" pitchFamily="2" charset="-122"/>
              </a:rPr>
              <a:t>Find all paths from </a:t>
            </a:r>
            <a:r>
              <a:rPr lang="en-US" altLang="zh-CN" b="1" dirty="0">
                <a:ea typeface="宋体" pitchFamily="2" charset="-122"/>
              </a:rPr>
              <a:t>s</a:t>
            </a:r>
            <a:r>
              <a:rPr lang="en-US" altLang="zh-CN" dirty="0">
                <a:ea typeface="宋体" pitchFamily="2" charset="-122"/>
              </a:rPr>
              <a:t> to other vertices</a:t>
            </a:r>
          </a:p>
          <a:p>
            <a:pPr eaLnBrk="1" hangingPunct="1"/>
            <a:r>
              <a:rPr lang="en-US" altLang="zh-CN" dirty="0">
                <a:ea typeface="宋体" pitchFamily="2" charset="-122"/>
              </a:rPr>
              <a:t>Two common graph traversal algorithms</a:t>
            </a:r>
          </a:p>
          <a:p>
            <a:pPr lvl="2" eaLnBrk="1" hangingPunct="1"/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Breadth-First Search (BFS)</a:t>
            </a:r>
          </a:p>
          <a:p>
            <a:pPr lvl="3" eaLnBrk="1" hangingPunct="1"/>
            <a:r>
              <a:rPr lang="en-US" altLang="zh-CN" dirty="0">
                <a:ea typeface="宋体" pitchFamily="2" charset="-122"/>
              </a:rPr>
              <a:t>Find the shortest paths in an </a:t>
            </a:r>
            <a:r>
              <a:rPr lang="en-US" altLang="zh-CN" dirty="0" err="1">
                <a:ea typeface="宋体" pitchFamily="2" charset="-122"/>
              </a:rPr>
              <a:t>unweighted</a:t>
            </a:r>
            <a:r>
              <a:rPr lang="en-US" altLang="zh-CN" dirty="0">
                <a:ea typeface="宋体" pitchFamily="2" charset="-122"/>
              </a:rPr>
              <a:t> graph</a:t>
            </a:r>
          </a:p>
          <a:p>
            <a:pPr lvl="2" eaLnBrk="1" hangingPunct="1"/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Depth-First Search (DFS)</a:t>
            </a:r>
          </a:p>
          <a:p>
            <a:pPr lvl="3" eaLnBrk="1" hangingPunct="1"/>
            <a:r>
              <a:rPr lang="en-US" altLang="zh-CN" dirty="0">
                <a:ea typeface="宋体" pitchFamily="2" charset="-122"/>
              </a:rPr>
              <a:t>Topological sort</a:t>
            </a:r>
          </a:p>
          <a:p>
            <a:pPr lvl="3" eaLnBrk="1" hangingPunct="1"/>
            <a:r>
              <a:rPr lang="en-US" altLang="zh-CN" dirty="0">
                <a:ea typeface="宋体" pitchFamily="2" charset="-122"/>
              </a:rPr>
              <a:t>Find strongly connected components</a:t>
            </a:r>
          </a:p>
          <a:p>
            <a:pPr eaLnBrk="1" hangingPunct="1"/>
            <a:endParaRPr lang="zh-CN" altLang="en-US" dirty="0">
              <a:ea typeface="宋体" pitchFamily="2" charset="-122"/>
            </a:endParaRPr>
          </a:p>
        </p:txBody>
      </p:sp>
      <p:pic>
        <p:nvPicPr>
          <p:cNvPr id="33796" name="Picture 4" descr="MCj0234467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228600"/>
            <a:ext cx="17208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8555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and Shortest Path Problem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000" dirty="0">
                <a:ea typeface="宋体" pitchFamily="2" charset="-122"/>
              </a:rPr>
              <a:t>Given any source vertex </a:t>
            </a:r>
            <a:r>
              <a:rPr lang="en-US" altLang="zh-CN" sz="2000" b="1" i="1" dirty="0">
                <a:ea typeface="宋体" pitchFamily="2" charset="-122"/>
              </a:rPr>
              <a:t>s</a:t>
            </a:r>
            <a:r>
              <a:rPr lang="en-US" altLang="zh-CN" sz="2000" dirty="0">
                <a:ea typeface="宋体" pitchFamily="2" charset="-122"/>
              </a:rPr>
              <a:t>, BFS visits the other vertices at</a:t>
            </a:r>
            <a:r>
              <a:rPr lang="en-US" altLang="zh-CN" sz="2000" dirty="0">
                <a:solidFill>
                  <a:schemeClr val="accent1"/>
                </a:solidFill>
                <a:ea typeface="宋体" pitchFamily="2" charset="-122"/>
              </a:rPr>
              <a:t> increasing distances</a:t>
            </a:r>
            <a:r>
              <a:rPr lang="en-US" altLang="zh-CN" sz="2000" dirty="0">
                <a:ea typeface="宋体" pitchFamily="2" charset="-122"/>
              </a:rPr>
              <a:t> away from s.  In doing so, BFS discovers paths from s to other vertices</a:t>
            </a:r>
          </a:p>
          <a:p>
            <a:pPr eaLnBrk="1" hangingPunct="1"/>
            <a:r>
              <a:rPr lang="en-US" altLang="zh-CN" sz="2000" dirty="0">
                <a:ea typeface="宋体" pitchFamily="2" charset="-122"/>
              </a:rPr>
              <a:t>What do we mean by </a:t>
            </a:r>
            <a:r>
              <a:rPr lang="en-US" altLang="zh-CN" sz="2000" dirty="0">
                <a:latin typeface="Arial" charset="0"/>
                <a:ea typeface="宋体" pitchFamily="2" charset="-122"/>
              </a:rPr>
              <a:t>“</a:t>
            </a:r>
            <a:r>
              <a:rPr lang="en-US" altLang="zh-CN" sz="2000" dirty="0">
                <a:solidFill>
                  <a:schemeClr val="bg2">
                    <a:lumMod val="75000"/>
                  </a:schemeClr>
                </a:solidFill>
                <a:ea typeface="宋体" pitchFamily="2" charset="-122"/>
              </a:rPr>
              <a:t>distance</a:t>
            </a:r>
            <a:r>
              <a:rPr lang="en-US" altLang="zh-CN" sz="2000" dirty="0">
                <a:latin typeface="Arial" charset="0"/>
                <a:ea typeface="宋体" pitchFamily="2" charset="-122"/>
              </a:rPr>
              <a:t>”</a:t>
            </a:r>
            <a:r>
              <a:rPr lang="en-US" altLang="zh-CN" sz="2000" dirty="0">
                <a:ea typeface="宋体" pitchFamily="2" charset="-122"/>
              </a:rPr>
              <a:t>?  The </a:t>
            </a:r>
            <a:r>
              <a:rPr lang="en-US" altLang="zh-CN" sz="2000" dirty="0">
                <a:solidFill>
                  <a:schemeClr val="accent1"/>
                </a:solidFill>
                <a:ea typeface="宋体" pitchFamily="2" charset="-122"/>
              </a:rPr>
              <a:t>number of edges on a path from s</a:t>
            </a:r>
          </a:p>
        </p:txBody>
      </p:sp>
      <p:grpSp>
        <p:nvGrpSpPr>
          <p:cNvPr id="34820" name="Group 4"/>
          <p:cNvGrpSpPr>
            <a:grpSpLocks/>
          </p:cNvGrpSpPr>
          <p:nvPr/>
        </p:nvGrpSpPr>
        <p:grpSpPr bwMode="auto">
          <a:xfrm>
            <a:off x="990600" y="3657600"/>
            <a:ext cx="3733800" cy="2895600"/>
            <a:chOff x="192" y="816"/>
            <a:chExt cx="2976" cy="2208"/>
          </a:xfrm>
        </p:grpSpPr>
        <p:sp>
          <p:nvSpPr>
            <p:cNvPr id="34847" name="Oval 5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34848" name="Oval 6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34849" name="Oval 7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34850" name="Oval 8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34851" name="Oval 9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34852" name="Oval 10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34853" name="Oval 11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34854" name="Oval 12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34855" name="Oval 13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34856" name="Oval 14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34857" name="AutoShape 15"/>
            <p:cNvCxnSpPr>
              <a:cxnSpLocks noChangeShapeType="1"/>
              <a:stCxn id="34856" idx="6"/>
              <a:endCxn id="34855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8" name="AutoShape 16"/>
            <p:cNvCxnSpPr>
              <a:cxnSpLocks noChangeShapeType="1"/>
              <a:stCxn id="34855" idx="5"/>
              <a:endCxn id="34854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59" name="AutoShape 17"/>
            <p:cNvCxnSpPr>
              <a:cxnSpLocks noChangeShapeType="1"/>
              <a:stCxn id="34854" idx="2"/>
              <a:endCxn id="34851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0" name="AutoShape 18"/>
            <p:cNvCxnSpPr>
              <a:cxnSpLocks noChangeShapeType="1"/>
              <a:stCxn id="34855" idx="3"/>
              <a:endCxn id="34847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1" name="AutoShape 19"/>
            <p:cNvCxnSpPr>
              <a:cxnSpLocks noChangeShapeType="1"/>
              <a:stCxn id="34847" idx="6"/>
              <a:endCxn id="34851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2" name="AutoShape 20"/>
            <p:cNvCxnSpPr>
              <a:cxnSpLocks noChangeShapeType="1"/>
              <a:stCxn id="34847" idx="3"/>
              <a:endCxn id="34848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3" name="AutoShape 21"/>
            <p:cNvCxnSpPr>
              <a:cxnSpLocks noChangeShapeType="1"/>
              <a:stCxn id="34848" idx="6"/>
              <a:endCxn id="34849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4" name="AutoShape 22"/>
            <p:cNvCxnSpPr>
              <a:cxnSpLocks noChangeShapeType="1"/>
              <a:stCxn id="34849" idx="7"/>
              <a:endCxn id="34851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5" name="AutoShape 23"/>
            <p:cNvCxnSpPr>
              <a:cxnSpLocks noChangeShapeType="1"/>
              <a:stCxn id="34849" idx="5"/>
              <a:endCxn id="34850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6" name="AutoShape 24"/>
            <p:cNvCxnSpPr>
              <a:cxnSpLocks noChangeShapeType="1"/>
              <a:stCxn id="34850" idx="6"/>
              <a:endCxn id="34853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7" name="AutoShape 25"/>
            <p:cNvCxnSpPr>
              <a:cxnSpLocks noChangeShapeType="1"/>
              <a:stCxn id="34851" idx="6"/>
              <a:endCxn id="34852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68" name="AutoShape 26"/>
            <p:cNvCxnSpPr>
              <a:cxnSpLocks noChangeShapeType="1"/>
              <a:stCxn id="34852" idx="6"/>
              <a:endCxn id="34853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821" name="Text Box 27"/>
          <p:cNvSpPr txBox="1">
            <a:spLocks noChangeArrowheads="1"/>
          </p:cNvSpPr>
          <p:nvPr/>
        </p:nvSpPr>
        <p:spPr bwMode="auto">
          <a:xfrm>
            <a:off x="5702300" y="3944938"/>
            <a:ext cx="23711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Arial" charset="0"/>
              </a:rPr>
              <a:t>Consider s = vertex 1</a:t>
            </a:r>
          </a:p>
        </p:txBody>
      </p:sp>
      <p:sp>
        <p:nvSpPr>
          <p:cNvPr id="484380" name="Text Box 28"/>
          <p:cNvSpPr txBox="1">
            <a:spLocks noChangeArrowheads="1"/>
          </p:cNvSpPr>
          <p:nvPr/>
        </p:nvSpPr>
        <p:spPr bwMode="auto">
          <a:xfrm>
            <a:off x="5715000" y="4540250"/>
            <a:ext cx="233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Nodes at distance 1?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   2, 3, 7, 9</a:t>
            </a:r>
          </a:p>
        </p:txBody>
      </p: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1103313" y="4648200"/>
            <a:ext cx="3163887" cy="1676400"/>
            <a:chOff x="3575" y="3360"/>
            <a:chExt cx="1993" cy="1056"/>
          </a:xfrm>
        </p:grpSpPr>
        <p:sp>
          <p:nvSpPr>
            <p:cNvPr id="34839" name="Oval 30"/>
            <p:cNvSpPr>
              <a:spLocks noChangeArrowheads="1"/>
            </p:cNvSpPr>
            <p:nvPr/>
          </p:nvSpPr>
          <p:spPr bwMode="auto">
            <a:xfrm>
              <a:off x="3719" y="3360"/>
              <a:ext cx="480" cy="384"/>
            </a:xfrm>
            <a:prstGeom prst="ellipse">
              <a:avLst/>
            </a:prstGeom>
            <a:noFill/>
            <a:ln w="25400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40" name="Oval 31"/>
            <p:cNvSpPr>
              <a:spLocks noChangeArrowheads="1"/>
            </p:cNvSpPr>
            <p:nvPr/>
          </p:nvSpPr>
          <p:spPr bwMode="auto">
            <a:xfrm>
              <a:off x="3815" y="3888"/>
              <a:ext cx="480" cy="384"/>
            </a:xfrm>
            <a:prstGeom prst="ellipse">
              <a:avLst/>
            </a:prstGeom>
            <a:noFill/>
            <a:ln w="25400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41" name="Oval 32"/>
            <p:cNvSpPr>
              <a:spLocks noChangeArrowheads="1"/>
            </p:cNvSpPr>
            <p:nvPr/>
          </p:nvSpPr>
          <p:spPr bwMode="auto">
            <a:xfrm>
              <a:off x="4727" y="3888"/>
              <a:ext cx="480" cy="384"/>
            </a:xfrm>
            <a:prstGeom prst="ellipse">
              <a:avLst/>
            </a:prstGeom>
            <a:noFill/>
            <a:ln w="25400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42" name="Oval 34"/>
            <p:cNvSpPr>
              <a:spLocks noChangeArrowheads="1"/>
            </p:cNvSpPr>
            <p:nvPr/>
          </p:nvSpPr>
          <p:spPr bwMode="auto">
            <a:xfrm>
              <a:off x="4967" y="3360"/>
              <a:ext cx="480" cy="384"/>
            </a:xfrm>
            <a:prstGeom prst="ellipse">
              <a:avLst/>
            </a:prstGeom>
            <a:noFill/>
            <a:ln w="25400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43" name="Text Box 35"/>
            <p:cNvSpPr txBox="1">
              <a:spLocks noChangeArrowheads="1"/>
            </p:cNvSpPr>
            <p:nvPr/>
          </p:nvSpPr>
          <p:spPr bwMode="auto">
            <a:xfrm>
              <a:off x="5399" y="3504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1</a:t>
              </a:r>
            </a:p>
          </p:txBody>
        </p:sp>
        <p:sp>
          <p:nvSpPr>
            <p:cNvPr id="34844" name="Text Box 36"/>
            <p:cNvSpPr txBox="1">
              <a:spLocks noChangeArrowheads="1"/>
            </p:cNvSpPr>
            <p:nvPr/>
          </p:nvSpPr>
          <p:spPr bwMode="auto">
            <a:xfrm>
              <a:off x="5063" y="3859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1</a:t>
              </a:r>
            </a:p>
          </p:txBody>
        </p:sp>
        <p:sp>
          <p:nvSpPr>
            <p:cNvPr id="34845" name="Text Box 38"/>
            <p:cNvSpPr txBox="1">
              <a:spLocks noChangeArrowheads="1"/>
            </p:cNvSpPr>
            <p:nvPr/>
          </p:nvSpPr>
          <p:spPr bwMode="auto">
            <a:xfrm>
              <a:off x="3575" y="345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1</a:t>
              </a:r>
            </a:p>
          </p:txBody>
        </p:sp>
        <p:sp>
          <p:nvSpPr>
            <p:cNvPr id="34846" name="Text Box 39"/>
            <p:cNvSpPr txBox="1">
              <a:spLocks noChangeArrowheads="1"/>
            </p:cNvSpPr>
            <p:nvPr/>
          </p:nvSpPr>
          <p:spPr bwMode="auto">
            <a:xfrm>
              <a:off x="3959" y="4243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1</a:t>
              </a:r>
            </a:p>
          </p:txBody>
        </p:sp>
      </p:grpSp>
      <p:grpSp>
        <p:nvGrpSpPr>
          <p:cNvPr id="4" name="Group 55"/>
          <p:cNvGrpSpPr>
            <a:grpSpLocks/>
          </p:cNvGrpSpPr>
          <p:nvPr/>
        </p:nvGrpSpPr>
        <p:grpSpPr bwMode="auto">
          <a:xfrm>
            <a:off x="838200" y="4038600"/>
            <a:ext cx="4383088" cy="2667000"/>
            <a:chOff x="2999" y="2496"/>
            <a:chExt cx="2761" cy="1680"/>
          </a:xfrm>
        </p:grpSpPr>
        <p:sp>
          <p:nvSpPr>
            <p:cNvPr id="34831" name="Oval 41"/>
            <p:cNvSpPr>
              <a:spLocks noChangeArrowheads="1"/>
            </p:cNvSpPr>
            <p:nvPr/>
          </p:nvSpPr>
          <p:spPr bwMode="auto">
            <a:xfrm>
              <a:off x="4103" y="2496"/>
              <a:ext cx="480" cy="384"/>
            </a:xfrm>
            <a:prstGeom prst="ellipse">
              <a:avLst/>
            </a:prstGeom>
            <a:noFill/>
            <a:ln w="25400">
              <a:solidFill>
                <a:srgbClr val="FF99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32" name="Oval 42"/>
            <p:cNvSpPr>
              <a:spLocks noChangeArrowheads="1"/>
            </p:cNvSpPr>
            <p:nvPr/>
          </p:nvSpPr>
          <p:spPr bwMode="auto">
            <a:xfrm>
              <a:off x="2999" y="3744"/>
              <a:ext cx="480" cy="384"/>
            </a:xfrm>
            <a:prstGeom prst="ellipse">
              <a:avLst/>
            </a:prstGeom>
            <a:noFill/>
            <a:ln w="25400">
              <a:solidFill>
                <a:srgbClr val="FF99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33" name="Oval 43"/>
            <p:cNvSpPr>
              <a:spLocks noChangeArrowheads="1"/>
            </p:cNvSpPr>
            <p:nvPr/>
          </p:nvSpPr>
          <p:spPr bwMode="auto">
            <a:xfrm>
              <a:off x="3911" y="3792"/>
              <a:ext cx="480" cy="384"/>
            </a:xfrm>
            <a:prstGeom prst="ellipse">
              <a:avLst/>
            </a:prstGeom>
            <a:noFill/>
            <a:ln w="25400">
              <a:solidFill>
                <a:srgbClr val="FF99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34" name="Oval 44"/>
            <p:cNvSpPr>
              <a:spLocks noChangeArrowheads="1"/>
            </p:cNvSpPr>
            <p:nvPr/>
          </p:nvSpPr>
          <p:spPr bwMode="auto">
            <a:xfrm>
              <a:off x="5159" y="3552"/>
              <a:ext cx="480" cy="384"/>
            </a:xfrm>
            <a:prstGeom prst="ellipse">
              <a:avLst/>
            </a:prstGeom>
            <a:noFill/>
            <a:ln w="25400">
              <a:solidFill>
                <a:srgbClr val="FF99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35" name="Text Box 45"/>
            <p:cNvSpPr txBox="1">
              <a:spLocks noChangeArrowheads="1"/>
            </p:cNvSpPr>
            <p:nvPr/>
          </p:nvSpPr>
          <p:spPr bwMode="auto">
            <a:xfrm>
              <a:off x="5591" y="3696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2</a:t>
              </a:r>
            </a:p>
          </p:txBody>
        </p:sp>
        <p:sp>
          <p:nvSpPr>
            <p:cNvPr id="34836" name="Text Box 46"/>
            <p:cNvSpPr txBox="1">
              <a:spLocks noChangeArrowheads="1"/>
            </p:cNvSpPr>
            <p:nvPr/>
          </p:nvSpPr>
          <p:spPr bwMode="auto">
            <a:xfrm>
              <a:off x="4295" y="3984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2</a:t>
              </a:r>
            </a:p>
          </p:txBody>
        </p:sp>
        <p:sp>
          <p:nvSpPr>
            <p:cNvPr id="34837" name="Text Box 47"/>
            <p:cNvSpPr txBox="1">
              <a:spLocks noChangeArrowheads="1"/>
            </p:cNvSpPr>
            <p:nvPr/>
          </p:nvSpPr>
          <p:spPr bwMode="auto">
            <a:xfrm>
              <a:off x="3383" y="3984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2</a:t>
              </a:r>
            </a:p>
          </p:txBody>
        </p:sp>
        <p:sp>
          <p:nvSpPr>
            <p:cNvPr id="34838" name="Text Box 48"/>
            <p:cNvSpPr txBox="1">
              <a:spLocks noChangeArrowheads="1"/>
            </p:cNvSpPr>
            <p:nvPr/>
          </p:nvSpPr>
          <p:spPr bwMode="auto">
            <a:xfrm>
              <a:off x="4439" y="2784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200">
                  <a:latin typeface="Arial" charset="0"/>
                </a:rPr>
                <a:t>2</a:t>
              </a:r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2438400" y="4760913"/>
            <a:ext cx="587375" cy="801687"/>
            <a:chOff x="1536" y="2903"/>
            <a:chExt cx="370" cy="505"/>
          </a:xfrm>
        </p:grpSpPr>
        <p:sp>
          <p:nvSpPr>
            <p:cNvPr id="34829" name="Oval 50"/>
            <p:cNvSpPr>
              <a:spLocks noChangeArrowheads="1"/>
            </p:cNvSpPr>
            <p:nvPr/>
          </p:nvSpPr>
          <p:spPr bwMode="auto">
            <a:xfrm>
              <a:off x="1536" y="3072"/>
              <a:ext cx="336" cy="33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34830" name="Text Box 51"/>
            <p:cNvSpPr txBox="1">
              <a:spLocks noChangeArrowheads="1"/>
            </p:cNvSpPr>
            <p:nvPr/>
          </p:nvSpPr>
          <p:spPr bwMode="auto">
            <a:xfrm>
              <a:off x="1718" y="2903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latin typeface="Arial" charset="0"/>
                </a:rPr>
                <a:t>s</a:t>
              </a:r>
            </a:p>
          </p:txBody>
        </p:sp>
      </p:grpSp>
      <p:sp>
        <p:nvSpPr>
          <p:cNvPr id="34826" name="Text Box 52"/>
          <p:cNvSpPr txBox="1">
            <a:spLocks noChangeArrowheads="1"/>
          </p:cNvSpPr>
          <p:nvPr/>
        </p:nvSpPr>
        <p:spPr bwMode="auto">
          <a:xfrm>
            <a:off x="5715000" y="3473450"/>
            <a:ext cx="107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Example</a:t>
            </a:r>
          </a:p>
        </p:txBody>
      </p:sp>
      <p:sp>
        <p:nvSpPr>
          <p:cNvPr id="484405" name="Rectangle 53"/>
          <p:cNvSpPr>
            <a:spLocks noChangeArrowheads="1"/>
          </p:cNvSpPr>
          <p:nvPr/>
        </p:nvSpPr>
        <p:spPr bwMode="auto">
          <a:xfrm>
            <a:off x="5715000" y="5257800"/>
            <a:ext cx="233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>
                <a:latin typeface="Arial" charset="0"/>
              </a:rPr>
              <a:t>Nodes at distance 2?</a:t>
            </a:r>
          </a:p>
          <a:p>
            <a:r>
              <a:rPr lang="en-US" altLang="zh-CN" sz="1800">
                <a:latin typeface="Arial" charset="0"/>
              </a:rPr>
              <a:t>  8, 6, 5, 4</a:t>
            </a:r>
          </a:p>
        </p:txBody>
      </p:sp>
      <p:sp>
        <p:nvSpPr>
          <p:cNvPr id="484408" name="Rectangle 56"/>
          <p:cNvSpPr>
            <a:spLocks noChangeArrowheads="1"/>
          </p:cNvSpPr>
          <p:nvPr/>
        </p:nvSpPr>
        <p:spPr bwMode="auto">
          <a:xfrm>
            <a:off x="5715000" y="6064250"/>
            <a:ext cx="2330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>
                <a:latin typeface="Arial" charset="0"/>
              </a:rPr>
              <a:t>Nodes at distance 3?</a:t>
            </a:r>
          </a:p>
          <a:p>
            <a:r>
              <a:rPr lang="en-US" altLang="zh-CN" sz="1800">
                <a:latin typeface="Arial" charset="0"/>
              </a:rPr>
              <a:t>  0</a:t>
            </a:r>
          </a:p>
        </p:txBody>
      </p:sp>
    </p:spTree>
    <p:extLst>
      <p:ext uri="{BB962C8B-B14F-4D97-AF65-F5344CB8AC3E}">
        <p14:creationId xmlns:p14="http://schemas.microsoft.com/office/powerpoint/2010/main" val="65580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80" grpId="0"/>
      <p:bldP spid="484405" grpId="0"/>
      <p:bldP spid="48440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Algorithm</a:t>
            </a:r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7543800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Text Box 5"/>
          <p:cNvSpPr txBox="1">
            <a:spLocks noChangeArrowheads="1"/>
          </p:cNvSpPr>
          <p:nvPr/>
        </p:nvSpPr>
        <p:spPr bwMode="auto">
          <a:xfrm flipH="1">
            <a:off x="4068298" y="2971800"/>
            <a:ext cx="3766034" cy="400110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Why use queue? Need FIFO </a:t>
            </a:r>
          </a:p>
        </p:txBody>
      </p:sp>
      <p:sp>
        <p:nvSpPr>
          <p:cNvPr id="35845" name="Text Box 6"/>
          <p:cNvSpPr txBox="1">
            <a:spLocks noChangeArrowheads="1"/>
          </p:cNvSpPr>
          <p:nvPr/>
        </p:nvSpPr>
        <p:spPr bwMode="auto">
          <a:xfrm>
            <a:off x="4572000" y="2574925"/>
            <a:ext cx="2701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en-US" altLang="zh-CN" sz="2000" b="1" dirty="0">
                <a:solidFill>
                  <a:schemeClr val="accent1"/>
                </a:solidFill>
                <a:latin typeface="Arial" charset="0"/>
              </a:rPr>
              <a:t>// flag[ ]: visited table</a:t>
            </a:r>
          </a:p>
        </p:txBody>
      </p:sp>
    </p:spTree>
    <p:extLst>
      <p:ext uri="{BB962C8B-B14F-4D97-AF65-F5344CB8AC3E}">
        <p14:creationId xmlns:p14="http://schemas.microsoft.com/office/powerpoint/2010/main" val="2307766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</a:t>
            </a:r>
          </a:p>
        </p:txBody>
      </p:sp>
      <p:grpSp>
        <p:nvGrpSpPr>
          <p:cNvPr id="10244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0300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0301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0302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0303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0304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0305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0306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0307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0308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0309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0310" name="AutoShape 14"/>
            <p:cNvCxnSpPr>
              <a:cxnSpLocks noChangeShapeType="1"/>
              <a:stCxn id="10309" idx="6"/>
              <a:endCxn id="10308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1" name="AutoShape 15"/>
            <p:cNvCxnSpPr>
              <a:cxnSpLocks noChangeShapeType="1"/>
              <a:stCxn id="10308" idx="5"/>
              <a:endCxn id="10307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2" name="AutoShape 16"/>
            <p:cNvCxnSpPr>
              <a:cxnSpLocks noChangeShapeType="1"/>
              <a:stCxn id="10307" idx="2"/>
              <a:endCxn id="10304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3" name="AutoShape 17"/>
            <p:cNvCxnSpPr>
              <a:cxnSpLocks noChangeShapeType="1"/>
              <a:stCxn id="10308" idx="3"/>
              <a:endCxn id="10300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4" name="AutoShape 18"/>
            <p:cNvCxnSpPr>
              <a:cxnSpLocks noChangeShapeType="1"/>
              <a:stCxn id="10300" idx="6"/>
              <a:endCxn id="10304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5" name="AutoShape 19"/>
            <p:cNvCxnSpPr>
              <a:cxnSpLocks noChangeShapeType="1"/>
              <a:stCxn id="10300" idx="3"/>
              <a:endCxn id="10301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6" name="AutoShape 20"/>
            <p:cNvCxnSpPr>
              <a:cxnSpLocks noChangeShapeType="1"/>
              <a:stCxn id="10301" idx="6"/>
              <a:endCxn id="10302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7" name="AutoShape 21"/>
            <p:cNvCxnSpPr>
              <a:cxnSpLocks noChangeShapeType="1"/>
              <a:stCxn id="10302" idx="7"/>
              <a:endCxn id="10304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8" name="AutoShape 22"/>
            <p:cNvCxnSpPr>
              <a:cxnSpLocks noChangeShapeType="1"/>
              <a:stCxn id="10302" idx="5"/>
              <a:endCxn id="10303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19" name="AutoShape 23"/>
            <p:cNvCxnSpPr>
              <a:cxnSpLocks noChangeShapeType="1"/>
              <a:stCxn id="10303" idx="6"/>
              <a:endCxn id="10306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20" name="AutoShape 24"/>
            <p:cNvCxnSpPr>
              <a:cxnSpLocks noChangeShapeType="1"/>
              <a:stCxn id="10304" idx="6"/>
              <a:endCxn id="10305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21" name="AutoShape 25"/>
            <p:cNvCxnSpPr>
              <a:cxnSpLocks noChangeShapeType="1"/>
              <a:stCxn id="10305" idx="6"/>
              <a:endCxn id="10306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0242" name="Object 26"/>
          <p:cNvGraphicFramePr>
            <a:graphicFrameLocks noChangeAspect="1"/>
          </p:cNvGraphicFramePr>
          <p:nvPr/>
        </p:nvGraphicFramePr>
        <p:xfrm>
          <a:off x="4619625" y="1797050"/>
          <a:ext cx="21590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1797050"/>
                        <a:ext cx="21590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27"/>
          <p:cNvSpPr txBox="1">
            <a:spLocks noChangeArrowheads="1"/>
          </p:cNvSpPr>
          <p:nvPr/>
        </p:nvSpPr>
        <p:spPr bwMode="auto">
          <a:xfrm>
            <a:off x="4876800" y="141605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0246" name="Text Box 28"/>
          <p:cNvSpPr txBox="1">
            <a:spLocks noChangeArrowheads="1"/>
          </p:cNvSpPr>
          <p:nvPr/>
        </p:nvSpPr>
        <p:spPr bwMode="auto">
          <a:xfrm>
            <a:off x="304800" y="2849563"/>
            <a:ext cx="6397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86429" name="Group 29"/>
          <p:cNvGraphicFramePr>
            <a:graphicFrameLocks noGrp="1"/>
          </p:cNvGraphicFramePr>
          <p:nvPr/>
        </p:nvGraphicFramePr>
        <p:xfrm>
          <a:off x="7620000" y="187325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71" name="Text Box 53"/>
          <p:cNvSpPr txBox="1">
            <a:spLocks noChangeArrowheads="1"/>
          </p:cNvSpPr>
          <p:nvPr/>
        </p:nvSpPr>
        <p:spPr bwMode="auto">
          <a:xfrm>
            <a:off x="7080250" y="1416050"/>
            <a:ext cx="206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86454" name="Group 54"/>
          <p:cNvGraphicFramePr>
            <a:graphicFrameLocks noGrp="1"/>
          </p:cNvGraphicFramePr>
          <p:nvPr/>
        </p:nvGraphicFramePr>
        <p:xfrm>
          <a:off x="7875588" y="187325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296" name="Text Box 78"/>
          <p:cNvSpPr txBox="1">
            <a:spLocks noChangeArrowheads="1"/>
          </p:cNvSpPr>
          <p:nvPr/>
        </p:nvSpPr>
        <p:spPr bwMode="auto">
          <a:xfrm>
            <a:off x="1295400" y="5562600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0297" name="Text Box 79"/>
          <p:cNvSpPr txBox="1">
            <a:spLocks noChangeArrowheads="1"/>
          </p:cNvSpPr>
          <p:nvPr/>
        </p:nvSpPr>
        <p:spPr bwMode="auto">
          <a:xfrm>
            <a:off x="1771650" y="5500688"/>
            <a:ext cx="59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   }</a:t>
            </a:r>
          </a:p>
        </p:txBody>
      </p:sp>
      <p:sp>
        <p:nvSpPr>
          <p:cNvPr id="10298" name="Text Box 80"/>
          <p:cNvSpPr txBox="1">
            <a:spLocks noChangeArrowheads="1"/>
          </p:cNvSpPr>
          <p:nvPr/>
        </p:nvSpPr>
        <p:spPr bwMode="auto">
          <a:xfrm>
            <a:off x="7010400" y="5073650"/>
            <a:ext cx="1746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Initialize visited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table (all False)</a:t>
            </a:r>
          </a:p>
        </p:txBody>
      </p:sp>
      <p:sp>
        <p:nvSpPr>
          <p:cNvPr id="10299" name="Text Box 81"/>
          <p:cNvSpPr txBox="1">
            <a:spLocks noChangeArrowheads="1"/>
          </p:cNvSpPr>
          <p:nvPr/>
        </p:nvSpPr>
        <p:spPr bwMode="auto">
          <a:xfrm>
            <a:off x="838200" y="6019800"/>
            <a:ext cx="2508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Initialize </a:t>
            </a:r>
            <a:r>
              <a:rPr lang="en-US" altLang="zh-CN" sz="1800" b="1">
                <a:latin typeface="Arial" charset="0"/>
              </a:rPr>
              <a:t>Q </a:t>
            </a:r>
            <a:r>
              <a:rPr lang="en-US" altLang="zh-CN" sz="1800">
                <a:latin typeface="Arial" charset="0"/>
              </a:rPr>
              <a:t>to be empty</a:t>
            </a:r>
          </a:p>
        </p:txBody>
      </p:sp>
    </p:spTree>
    <p:extLst>
      <p:ext uri="{BB962C8B-B14F-4D97-AF65-F5344CB8AC3E}">
        <p14:creationId xmlns:p14="http://schemas.microsoft.com/office/powerpoint/2010/main" val="2139700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7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1324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1325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1326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1327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1328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1329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1330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1331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1332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1333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1334" name="AutoShape 14"/>
            <p:cNvCxnSpPr>
              <a:cxnSpLocks noChangeShapeType="1"/>
              <a:stCxn id="11333" idx="6"/>
              <a:endCxn id="11332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5" name="AutoShape 15"/>
            <p:cNvCxnSpPr>
              <a:cxnSpLocks noChangeShapeType="1"/>
              <a:stCxn id="11332" idx="5"/>
              <a:endCxn id="11331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6" name="AutoShape 16"/>
            <p:cNvCxnSpPr>
              <a:cxnSpLocks noChangeShapeType="1"/>
              <a:stCxn id="11331" idx="2"/>
              <a:endCxn id="11328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7" name="AutoShape 17"/>
            <p:cNvCxnSpPr>
              <a:cxnSpLocks noChangeShapeType="1"/>
              <a:stCxn id="11332" idx="3"/>
              <a:endCxn id="11324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8" name="AutoShape 18"/>
            <p:cNvCxnSpPr>
              <a:cxnSpLocks noChangeShapeType="1"/>
              <a:stCxn id="11324" idx="6"/>
              <a:endCxn id="11328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39" name="AutoShape 19"/>
            <p:cNvCxnSpPr>
              <a:cxnSpLocks noChangeShapeType="1"/>
              <a:stCxn id="11324" idx="3"/>
              <a:endCxn id="11325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0" name="AutoShape 20"/>
            <p:cNvCxnSpPr>
              <a:cxnSpLocks noChangeShapeType="1"/>
              <a:stCxn id="11325" idx="6"/>
              <a:endCxn id="11326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1" name="AutoShape 21"/>
            <p:cNvCxnSpPr>
              <a:cxnSpLocks noChangeShapeType="1"/>
              <a:stCxn id="11326" idx="7"/>
              <a:endCxn id="11328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2" name="AutoShape 22"/>
            <p:cNvCxnSpPr>
              <a:cxnSpLocks noChangeShapeType="1"/>
              <a:stCxn id="11326" idx="5"/>
              <a:endCxn id="11327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3" name="AutoShape 23"/>
            <p:cNvCxnSpPr>
              <a:cxnSpLocks noChangeShapeType="1"/>
              <a:stCxn id="11327" idx="6"/>
              <a:endCxn id="11330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4" name="AutoShape 24"/>
            <p:cNvCxnSpPr>
              <a:cxnSpLocks noChangeShapeType="1"/>
              <a:stCxn id="11328" idx="6"/>
              <a:endCxn id="11329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345" name="AutoShape 25"/>
            <p:cNvCxnSpPr>
              <a:cxnSpLocks noChangeShapeType="1"/>
              <a:stCxn id="11329" idx="6"/>
              <a:endCxn id="11330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1266" name="Object 26"/>
          <p:cNvGraphicFramePr>
            <a:graphicFrameLocks noChangeAspect="1"/>
          </p:cNvGraphicFramePr>
          <p:nvPr/>
        </p:nvGraphicFramePr>
        <p:xfrm>
          <a:off x="4670425" y="187325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187325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27"/>
          <p:cNvSpPr txBox="1">
            <a:spLocks noChangeArrowheads="1"/>
          </p:cNvSpPr>
          <p:nvPr/>
        </p:nvSpPr>
        <p:spPr bwMode="auto">
          <a:xfrm>
            <a:off x="4876800" y="149225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1269" name="Text Box 28"/>
          <p:cNvSpPr txBox="1">
            <a:spLocks noChangeArrowheads="1"/>
          </p:cNvSpPr>
          <p:nvPr/>
        </p:nvSpPr>
        <p:spPr bwMode="auto">
          <a:xfrm>
            <a:off x="228600" y="2849563"/>
            <a:ext cx="6397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87453" name="Group 29"/>
          <p:cNvGraphicFramePr>
            <a:graphicFrameLocks noGrp="1"/>
          </p:cNvGraphicFramePr>
          <p:nvPr/>
        </p:nvGraphicFramePr>
        <p:xfrm>
          <a:off x="7620000" y="194945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294" name="Text Box 53"/>
          <p:cNvSpPr txBox="1">
            <a:spLocks noChangeArrowheads="1"/>
          </p:cNvSpPr>
          <p:nvPr/>
        </p:nvSpPr>
        <p:spPr bwMode="auto">
          <a:xfrm>
            <a:off x="6927850" y="150653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87478" name="Group 54"/>
          <p:cNvGraphicFramePr>
            <a:graphicFrameLocks noGrp="1"/>
          </p:cNvGraphicFramePr>
          <p:nvPr/>
        </p:nvGraphicFramePr>
        <p:xfrm>
          <a:off x="7875588" y="194945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319" name="Text Box 78"/>
          <p:cNvSpPr txBox="1">
            <a:spLocks noChangeArrowheads="1"/>
          </p:cNvSpPr>
          <p:nvPr/>
        </p:nvSpPr>
        <p:spPr bwMode="auto">
          <a:xfrm>
            <a:off x="1295400" y="5562600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1320" name="Text Box 79"/>
          <p:cNvSpPr txBox="1">
            <a:spLocks noChangeArrowheads="1"/>
          </p:cNvSpPr>
          <p:nvPr/>
        </p:nvSpPr>
        <p:spPr bwMode="auto">
          <a:xfrm>
            <a:off x="1771650" y="5500688"/>
            <a:ext cx="781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 2   }</a:t>
            </a:r>
          </a:p>
        </p:txBody>
      </p:sp>
      <p:sp>
        <p:nvSpPr>
          <p:cNvPr id="11321" name="Text Box 80"/>
          <p:cNvSpPr txBox="1">
            <a:spLocks noChangeArrowheads="1"/>
          </p:cNvSpPr>
          <p:nvPr/>
        </p:nvSpPr>
        <p:spPr bwMode="auto">
          <a:xfrm>
            <a:off x="6858000" y="5226050"/>
            <a:ext cx="175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Flag that 2 has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been visited</a:t>
            </a:r>
          </a:p>
        </p:txBody>
      </p:sp>
      <p:sp>
        <p:nvSpPr>
          <p:cNvPr id="11322" name="Text Box 81"/>
          <p:cNvSpPr txBox="1">
            <a:spLocks noChangeArrowheads="1"/>
          </p:cNvSpPr>
          <p:nvPr/>
        </p:nvSpPr>
        <p:spPr bwMode="auto">
          <a:xfrm>
            <a:off x="838200" y="6019800"/>
            <a:ext cx="3092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Place source 2 on the queue</a:t>
            </a:r>
          </a:p>
        </p:txBody>
      </p:sp>
      <p:sp>
        <p:nvSpPr>
          <p:cNvPr id="11323" name="Rectangle 8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9352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1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2356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2357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2358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2359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2360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1</a:t>
              </a:r>
            </a:p>
          </p:txBody>
        </p:sp>
        <p:sp>
          <p:nvSpPr>
            <p:cNvPr id="12361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2362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2363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2364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2365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2366" name="AutoShape 14"/>
            <p:cNvCxnSpPr>
              <a:cxnSpLocks noChangeShapeType="1"/>
              <a:stCxn id="12365" idx="6"/>
              <a:endCxn id="12364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7" name="AutoShape 15"/>
            <p:cNvCxnSpPr>
              <a:cxnSpLocks noChangeShapeType="1"/>
              <a:stCxn id="12364" idx="5"/>
              <a:endCxn id="12363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8" name="AutoShape 16"/>
            <p:cNvCxnSpPr>
              <a:cxnSpLocks noChangeShapeType="1"/>
              <a:stCxn id="12363" idx="2"/>
              <a:endCxn id="12360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69" name="AutoShape 17"/>
            <p:cNvCxnSpPr>
              <a:cxnSpLocks noChangeShapeType="1"/>
              <a:stCxn id="12364" idx="3"/>
              <a:endCxn id="12356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0" name="AutoShape 18"/>
            <p:cNvCxnSpPr>
              <a:cxnSpLocks noChangeShapeType="1"/>
              <a:stCxn id="12356" idx="6"/>
              <a:endCxn id="12360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1" name="AutoShape 19"/>
            <p:cNvCxnSpPr>
              <a:cxnSpLocks noChangeShapeType="1"/>
              <a:stCxn id="12356" idx="3"/>
              <a:endCxn id="12357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2" name="AutoShape 20"/>
            <p:cNvCxnSpPr>
              <a:cxnSpLocks noChangeShapeType="1"/>
              <a:stCxn id="12357" idx="6"/>
              <a:endCxn id="12358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3" name="AutoShape 21"/>
            <p:cNvCxnSpPr>
              <a:cxnSpLocks noChangeShapeType="1"/>
              <a:stCxn id="12358" idx="7"/>
              <a:endCxn id="12360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4" name="AutoShape 22"/>
            <p:cNvCxnSpPr>
              <a:cxnSpLocks noChangeShapeType="1"/>
              <a:stCxn id="12358" idx="5"/>
              <a:endCxn id="12359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5" name="AutoShape 23"/>
            <p:cNvCxnSpPr>
              <a:cxnSpLocks noChangeShapeType="1"/>
              <a:stCxn id="12359" idx="6"/>
              <a:endCxn id="12362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6" name="AutoShape 24"/>
            <p:cNvCxnSpPr>
              <a:cxnSpLocks noChangeShapeType="1"/>
              <a:stCxn id="12360" idx="6"/>
              <a:endCxn id="12361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77" name="AutoShape 25"/>
            <p:cNvCxnSpPr>
              <a:cxnSpLocks noChangeShapeType="1"/>
              <a:stCxn id="12361" idx="6"/>
              <a:endCxn id="12362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2290" name="Object 26"/>
          <p:cNvGraphicFramePr>
            <a:graphicFrameLocks noChangeAspect="1"/>
          </p:cNvGraphicFramePr>
          <p:nvPr/>
        </p:nvGraphicFramePr>
        <p:xfrm>
          <a:off x="4876800" y="1797050"/>
          <a:ext cx="2055813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6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797050"/>
                        <a:ext cx="2055813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Text Box 27"/>
          <p:cNvSpPr txBox="1">
            <a:spLocks noChangeArrowheads="1"/>
          </p:cNvSpPr>
          <p:nvPr/>
        </p:nvSpPr>
        <p:spPr bwMode="auto">
          <a:xfrm>
            <a:off x="4876800" y="141605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2293" name="Text Box 28"/>
          <p:cNvSpPr txBox="1">
            <a:spLocks noChangeArrowheads="1"/>
          </p:cNvSpPr>
          <p:nvPr/>
        </p:nvSpPr>
        <p:spPr bwMode="auto">
          <a:xfrm>
            <a:off x="152400" y="2849563"/>
            <a:ext cx="6397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88477" name="Group 29"/>
          <p:cNvGraphicFramePr>
            <a:graphicFrameLocks noGrp="1"/>
          </p:cNvGraphicFramePr>
          <p:nvPr/>
        </p:nvGraphicFramePr>
        <p:xfrm>
          <a:off x="7620000" y="187325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318" name="Text Box 53"/>
          <p:cNvSpPr txBox="1">
            <a:spLocks noChangeArrowheads="1"/>
          </p:cNvSpPr>
          <p:nvPr/>
        </p:nvSpPr>
        <p:spPr bwMode="auto">
          <a:xfrm>
            <a:off x="6927850" y="143033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88502" name="Group 54"/>
          <p:cNvGraphicFramePr>
            <a:graphicFrameLocks noGrp="1"/>
          </p:cNvGraphicFramePr>
          <p:nvPr/>
        </p:nvGraphicFramePr>
        <p:xfrm>
          <a:off x="7875588" y="187325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2343" name="Text Box 78"/>
          <p:cNvSpPr txBox="1">
            <a:spLocks noChangeArrowheads="1"/>
          </p:cNvSpPr>
          <p:nvPr/>
        </p:nvSpPr>
        <p:spPr bwMode="auto">
          <a:xfrm>
            <a:off x="641350" y="5337175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2344" name="Text Box 79"/>
          <p:cNvSpPr txBox="1">
            <a:spLocks noChangeArrowheads="1"/>
          </p:cNvSpPr>
          <p:nvPr/>
        </p:nvSpPr>
        <p:spPr bwMode="auto">
          <a:xfrm>
            <a:off x="1117600" y="5334000"/>
            <a:ext cx="1860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{2} </a:t>
            </a:r>
            <a:r>
              <a:rPr lang="en-US" altLang="zh-CN" sz="1800">
                <a:latin typeface="Arial" charset="0"/>
                <a:cs typeface="Arial" charset="0"/>
              </a:rPr>
              <a:t>→  </a:t>
            </a:r>
            <a:r>
              <a:rPr lang="en-US" altLang="zh-CN" sz="1800">
                <a:latin typeface="Arial" charset="0"/>
              </a:rPr>
              <a:t>{  8, 1, 4 }</a:t>
            </a:r>
          </a:p>
        </p:txBody>
      </p:sp>
      <p:sp>
        <p:nvSpPr>
          <p:cNvPr id="12345" name="Text Box 80"/>
          <p:cNvSpPr txBox="1">
            <a:spLocks noChangeArrowheads="1"/>
          </p:cNvSpPr>
          <p:nvPr/>
        </p:nvSpPr>
        <p:spPr bwMode="auto">
          <a:xfrm>
            <a:off x="7086600" y="4921250"/>
            <a:ext cx="183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Mark neighbors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as visited 1, 4, 8</a:t>
            </a:r>
          </a:p>
        </p:txBody>
      </p:sp>
      <p:sp>
        <p:nvSpPr>
          <p:cNvPr id="12346" name="Line 81"/>
          <p:cNvSpPr>
            <a:spLocks noChangeShapeType="1"/>
          </p:cNvSpPr>
          <p:nvPr/>
        </p:nvSpPr>
        <p:spPr bwMode="auto">
          <a:xfrm>
            <a:off x="4648200" y="268922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7" name="Text Box 82"/>
          <p:cNvSpPr txBox="1">
            <a:spLocks noChangeArrowheads="1"/>
          </p:cNvSpPr>
          <p:nvPr/>
        </p:nvSpPr>
        <p:spPr bwMode="auto">
          <a:xfrm>
            <a:off x="3946525" y="207168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2348" name="Text Box 83"/>
          <p:cNvSpPr txBox="1">
            <a:spLocks noChangeArrowheads="1"/>
          </p:cNvSpPr>
          <p:nvPr/>
        </p:nvSpPr>
        <p:spPr bwMode="auto">
          <a:xfrm>
            <a:off x="1555750" y="5776913"/>
            <a:ext cx="4921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solidFill>
                  <a:schemeClr val="accent1"/>
                </a:solidFill>
                <a:latin typeface="Arial" charset="0"/>
              </a:rPr>
              <a:t>Dequeue</a:t>
            </a:r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 2.  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Place all </a:t>
            </a: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Arial" charset="0"/>
              </a:rPr>
              <a:t>unvisited </a:t>
            </a:r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neighbors of 2 on the queue</a:t>
            </a:r>
          </a:p>
        </p:txBody>
      </p:sp>
      <p:sp>
        <p:nvSpPr>
          <p:cNvPr id="12349" name="Text Box 84"/>
          <p:cNvSpPr txBox="1">
            <a:spLocks noChangeArrowheads="1"/>
          </p:cNvSpPr>
          <p:nvPr/>
        </p:nvSpPr>
        <p:spPr bwMode="auto">
          <a:xfrm>
            <a:off x="3849688" y="2533650"/>
            <a:ext cx="8747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grpSp>
        <p:nvGrpSpPr>
          <p:cNvPr id="12350" name="Group 85"/>
          <p:cNvGrpSpPr>
            <a:grpSpLocks/>
          </p:cNvGrpSpPr>
          <p:nvPr/>
        </p:nvGrpSpPr>
        <p:grpSpPr bwMode="auto">
          <a:xfrm>
            <a:off x="304800" y="2057400"/>
            <a:ext cx="2590800" cy="2590800"/>
            <a:chOff x="192" y="1296"/>
            <a:chExt cx="1632" cy="1632"/>
          </a:xfrm>
        </p:grpSpPr>
        <p:sp>
          <p:nvSpPr>
            <p:cNvPr id="12353" name="Oval 86"/>
            <p:cNvSpPr>
              <a:spLocks noChangeArrowheads="1"/>
            </p:cNvSpPr>
            <p:nvPr/>
          </p:nvSpPr>
          <p:spPr bwMode="auto">
            <a:xfrm>
              <a:off x="192" y="2544"/>
              <a:ext cx="432" cy="384"/>
            </a:xfrm>
            <a:prstGeom prst="ellipse">
              <a:avLst/>
            </a:prstGeom>
            <a:noFill/>
            <a:ln w="25400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2354" name="Oval 87"/>
            <p:cNvSpPr>
              <a:spLocks noChangeArrowheads="1"/>
            </p:cNvSpPr>
            <p:nvPr/>
          </p:nvSpPr>
          <p:spPr bwMode="auto">
            <a:xfrm>
              <a:off x="1152" y="1920"/>
              <a:ext cx="432" cy="384"/>
            </a:xfrm>
            <a:prstGeom prst="ellipse">
              <a:avLst/>
            </a:prstGeom>
            <a:noFill/>
            <a:ln w="25400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  <p:sp>
          <p:nvSpPr>
            <p:cNvPr id="12355" name="Oval 88"/>
            <p:cNvSpPr>
              <a:spLocks noChangeArrowheads="1"/>
            </p:cNvSpPr>
            <p:nvPr/>
          </p:nvSpPr>
          <p:spPr bwMode="auto">
            <a:xfrm>
              <a:off x="1392" y="1296"/>
              <a:ext cx="432" cy="384"/>
            </a:xfrm>
            <a:prstGeom prst="ellipse">
              <a:avLst/>
            </a:prstGeom>
            <a:noFill/>
            <a:ln w="25400">
              <a:solidFill>
                <a:srgbClr val="CC33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zh-CN"/>
            </a:p>
          </p:txBody>
        </p:sp>
      </p:grpSp>
      <p:sp>
        <p:nvSpPr>
          <p:cNvPr id="12351" name="Oval 89"/>
          <p:cNvSpPr>
            <a:spLocks noChangeArrowheads="1"/>
          </p:cNvSpPr>
          <p:nvPr/>
        </p:nvSpPr>
        <p:spPr bwMode="auto">
          <a:xfrm>
            <a:off x="838200" y="26670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2352" name="Rectangle 9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3479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3378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3379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3380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3381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3382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3383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3384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3385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3386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3387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0</a:t>
              </a:r>
            </a:p>
          </p:txBody>
        </p:sp>
        <p:cxnSp>
          <p:nvCxnSpPr>
            <p:cNvPr id="13388" name="AutoShape 14"/>
            <p:cNvCxnSpPr>
              <a:cxnSpLocks noChangeShapeType="1"/>
              <a:stCxn id="13387" idx="6"/>
              <a:endCxn id="13386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89" name="AutoShape 15"/>
            <p:cNvCxnSpPr>
              <a:cxnSpLocks noChangeShapeType="1"/>
              <a:stCxn id="13386" idx="5"/>
              <a:endCxn id="13385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0" name="AutoShape 16"/>
            <p:cNvCxnSpPr>
              <a:cxnSpLocks noChangeShapeType="1"/>
              <a:stCxn id="13385" idx="2"/>
              <a:endCxn id="13382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1" name="AutoShape 17"/>
            <p:cNvCxnSpPr>
              <a:cxnSpLocks noChangeShapeType="1"/>
              <a:stCxn id="13386" idx="3"/>
              <a:endCxn id="13378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2" name="AutoShape 18"/>
            <p:cNvCxnSpPr>
              <a:cxnSpLocks noChangeShapeType="1"/>
              <a:stCxn id="13378" idx="6"/>
              <a:endCxn id="13382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3" name="AutoShape 19"/>
            <p:cNvCxnSpPr>
              <a:cxnSpLocks noChangeShapeType="1"/>
              <a:stCxn id="13378" idx="3"/>
              <a:endCxn id="13379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4" name="AutoShape 20"/>
            <p:cNvCxnSpPr>
              <a:cxnSpLocks noChangeShapeType="1"/>
              <a:stCxn id="13379" idx="6"/>
              <a:endCxn id="13380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5" name="AutoShape 21"/>
            <p:cNvCxnSpPr>
              <a:cxnSpLocks noChangeShapeType="1"/>
              <a:stCxn id="13380" idx="7"/>
              <a:endCxn id="13382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6" name="AutoShape 22"/>
            <p:cNvCxnSpPr>
              <a:cxnSpLocks noChangeShapeType="1"/>
              <a:stCxn id="13380" idx="5"/>
              <a:endCxn id="13381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7" name="AutoShape 23"/>
            <p:cNvCxnSpPr>
              <a:cxnSpLocks noChangeShapeType="1"/>
              <a:stCxn id="13381" idx="6"/>
              <a:endCxn id="13384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8" name="AutoShape 24"/>
            <p:cNvCxnSpPr>
              <a:cxnSpLocks noChangeShapeType="1"/>
              <a:stCxn id="13382" idx="6"/>
              <a:endCxn id="13383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99" name="AutoShape 25"/>
            <p:cNvCxnSpPr>
              <a:cxnSpLocks noChangeShapeType="1"/>
              <a:stCxn id="13383" idx="6"/>
              <a:endCxn id="13384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3314" name="Object 26"/>
          <p:cNvGraphicFramePr>
            <a:graphicFrameLocks noChangeAspect="1"/>
          </p:cNvGraphicFramePr>
          <p:nvPr/>
        </p:nvGraphicFramePr>
        <p:xfrm>
          <a:off x="4876800" y="187325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0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87325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27"/>
          <p:cNvSpPr txBox="1">
            <a:spLocks noChangeArrowheads="1"/>
          </p:cNvSpPr>
          <p:nvPr/>
        </p:nvSpPr>
        <p:spPr bwMode="auto">
          <a:xfrm>
            <a:off x="4876800" y="1506538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3317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89501" name="Group 29"/>
          <p:cNvGraphicFramePr>
            <a:graphicFrameLocks noGrp="1"/>
          </p:cNvGraphicFramePr>
          <p:nvPr/>
        </p:nvGraphicFramePr>
        <p:xfrm>
          <a:off x="7620000" y="194945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42" name="Text Box 53"/>
          <p:cNvSpPr txBox="1">
            <a:spLocks noChangeArrowheads="1"/>
          </p:cNvSpPr>
          <p:nvPr/>
        </p:nvSpPr>
        <p:spPr bwMode="auto">
          <a:xfrm>
            <a:off x="6927850" y="150653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89526" name="Group 54"/>
          <p:cNvGraphicFramePr>
            <a:graphicFrameLocks noGrp="1"/>
          </p:cNvGraphicFramePr>
          <p:nvPr/>
        </p:nvGraphicFramePr>
        <p:xfrm>
          <a:off x="7875588" y="194945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67" name="Text Box 78"/>
          <p:cNvSpPr txBox="1">
            <a:spLocks noChangeArrowheads="1"/>
          </p:cNvSpPr>
          <p:nvPr/>
        </p:nvSpPr>
        <p:spPr bwMode="auto">
          <a:xfrm>
            <a:off x="609600" y="53197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3368" name="Text Box 79"/>
          <p:cNvSpPr txBox="1">
            <a:spLocks noChangeArrowheads="1"/>
          </p:cNvSpPr>
          <p:nvPr/>
        </p:nvSpPr>
        <p:spPr bwMode="auto">
          <a:xfrm>
            <a:off x="1085850" y="5257800"/>
            <a:ext cx="2749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 8, 1, 4 } → { 1, 4, </a:t>
            </a:r>
            <a:r>
              <a:rPr lang="en-US" altLang="zh-CN" sz="1800">
                <a:solidFill>
                  <a:schemeClr val="tx2"/>
                </a:solidFill>
                <a:latin typeface="Arial" charset="0"/>
              </a:rPr>
              <a:t>0, 9</a:t>
            </a:r>
            <a:r>
              <a:rPr lang="en-US" altLang="zh-CN" sz="1800">
                <a:latin typeface="Arial" charset="0"/>
              </a:rPr>
              <a:t> } </a:t>
            </a:r>
          </a:p>
        </p:txBody>
      </p:sp>
      <p:sp>
        <p:nvSpPr>
          <p:cNvPr id="13369" name="Text Box 80"/>
          <p:cNvSpPr txBox="1">
            <a:spLocks noChangeArrowheads="1"/>
          </p:cNvSpPr>
          <p:nvPr/>
        </p:nvSpPr>
        <p:spPr bwMode="auto">
          <a:xfrm>
            <a:off x="7086600" y="4997450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Neighbors 0, 9</a:t>
            </a:r>
          </a:p>
        </p:txBody>
      </p:sp>
      <p:sp>
        <p:nvSpPr>
          <p:cNvPr id="13370" name="Line 81"/>
          <p:cNvSpPr>
            <a:spLocks noChangeShapeType="1"/>
          </p:cNvSpPr>
          <p:nvPr/>
        </p:nvSpPr>
        <p:spPr bwMode="auto">
          <a:xfrm>
            <a:off x="4800600" y="44973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1" name="Text Box 82"/>
          <p:cNvSpPr txBox="1">
            <a:spLocks noChangeArrowheads="1"/>
          </p:cNvSpPr>
          <p:nvPr/>
        </p:nvSpPr>
        <p:spPr bwMode="auto">
          <a:xfrm>
            <a:off x="3946525" y="2017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3372" name="Text Box 83"/>
          <p:cNvSpPr txBox="1">
            <a:spLocks noChangeArrowheads="1"/>
          </p:cNvSpPr>
          <p:nvPr/>
        </p:nvSpPr>
        <p:spPr bwMode="auto">
          <a:xfrm>
            <a:off x="1066800" y="5776913"/>
            <a:ext cx="71310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solidFill>
                  <a:schemeClr val="accent1"/>
                </a:solidFill>
                <a:latin typeface="Arial" charset="0"/>
              </a:rPr>
              <a:t>Dequeue</a:t>
            </a:r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 8.  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 -- Place all unvisited neighbors of 8 on the queue.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 -- Notice that 2 is not placed on the queue again, it has been visited!</a:t>
            </a:r>
          </a:p>
        </p:txBody>
      </p:sp>
      <p:sp>
        <p:nvSpPr>
          <p:cNvPr id="13373" name="Text Box 84"/>
          <p:cNvSpPr txBox="1">
            <a:spLocks noChangeArrowheads="1"/>
          </p:cNvSpPr>
          <p:nvPr/>
        </p:nvSpPr>
        <p:spPr bwMode="auto">
          <a:xfrm>
            <a:off x="4002088" y="434181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3374" name="Oval 85"/>
          <p:cNvSpPr>
            <a:spLocks noChangeArrowheads="1"/>
          </p:cNvSpPr>
          <p:nvPr/>
        </p:nvSpPr>
        <p:spPr bwMode="auto">
          <a:xfrm>
            <a:off x="2895600" y="2743200"/>
            <a:ext cx="685800" cy="685800"/>
          </a:xfrm>
          <a:prstGeom prst="ellipse">
            <a:avLst/>
          </a:prstGeom>
          <a:noFill/>
          <a:ln w="25400">
            <a:solidFill>
              <a:srgbClr val="CC33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3375" name="Oval 86"/>
          <p:cNvSpPr>
            <a:spLocks noChangeArrowheads="1"/>
          </p:cNvSpPr>
          <p:nvPr/>
        </p:nvSpPr>
        <p:spPr bwMode="auto">
          <a:xfrm>
            <a:off x="914400" y="1600200"/>
            <a:ext cx="685800" cy="685800"/>
          </a:xfrm>
          <a:prstGeom prst="ellipse">
            <a:avLst/>
          </a:prstGeom>
          <a:noFill/>
          <a:ln w="25400">
            <a:solidFill>
              <a:srgbClr val="CC33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3376" name="Oval 87"/>
          <p:cNvSpPr>
            <a:spLocks noChangeArrowheads="1"/>
          </p:cNvSpPr>
          <p:nvPr/>
        </p:nvSpPr>
        <p:spPr bwMode="auto">
          <a:xfrm>
            <a:off x="2209800" y="20574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3377" name="Rectangle 8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4570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4402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4403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4404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3</a:t>
              </a:r>
            </a:p>
          </p:txBody>
        </p:sp>
        <p:sp>
          <p:nvSpPr>
            <p:cNvPr id="14405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4406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4407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4408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4409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9</a:t>
              </a:r>
            </a:p>
          </p:txBody>
        </p:sp>
        <p:sp>
          <p:nvSpPr>
            <p:cNvPr id="14410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4411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4412" name="AutoShape 14"/>
            <p:cNvCxnSpPr>
              <a:cxnSpLocks noChangeShapeType="1"/>
              <a:stCxn id="14411" idx="6"/>
              <a:endCxn id="14410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13" name="AutoShape 15"/>
            <p:cNvCxnSpPr>
              <a:cxnSpLocks noChangeShapeType="1"/>
              <a:stCxn id="14410" idx="5"/>
              <a:endCxn id="14409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14" name="AutoShape 16"/>
            <p:cNvCxnSpPr>
              <a:cxnSpLocks noChangeShapeType="1"/>
              <a:stCxn id="14409" idx="2"/>
              <a:endCxn id="14406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15" name="AutoShape 17"/>
            <p:cNvCxnSpPr>
              <a:cxnSpLocks noChangeShapeType="1"/>
              <a:stCxn id="14410" idx="3"/>
              <a:endCxn id="14402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16" name="AutoShape 18"/>
            <p:cNvCxnSpPr>
              <a:cxnSpLocks noChangeShapeType="1"/>
              <a:stCxn id="14402" idx="6"/>
              <a:endCxn id="14406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17" name="AutoShape 19"/>
            <p:cNvCxnSpPr>
              <a:cxnSpLocks noChangeShapeType="1"/>
              <a:stCxn id="14402" idx="3"/>
              <a:endCxn id="14403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18" name="AutoShape 20"/>
            <p:cNvCxnSpPr>
              <a:cxnSpLocks noChangeShapeType="1"/>
              <a:stCxn id="14403" idx="6"/>
              <a:endCxn id="14404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19" name="AutoShape 21"/>
            <p:cNvCxnSpPr>
              <a:cxnSpLocks noChangeShapeType="1"/>
              <a:stCxn id="14404" idx="7"/>
              <a:endCxn id="14406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20" name="AutoShape 22"/>
            <p:cNvCxnSpPr>
              <a:cxnSpLocks noChangeShapeType="1"/>
              <a:stCxn id="14404" idx="5"/>
              <a:endCxn id="14405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21" name="AutoShape 23"/>
            <p:cNvCxnSpPr>
              <a:cxnSpLocks noChangeShapeType="1"/>
              <a:stCxn id="14405" idx="6"/>
              <a:endCxn id="14408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22" name="AutoShape 24"/>
            <p:cNvCxnSpPr>
              <a:cxnSpLocks noChangeShapeType="1"/>
              <a:stCxn id="14406" idx="6"/>
              <a:endCxn id="14407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23" name="AutoShape 25"/>
            <p:cNvCxnSpPr>
              <a:cxnSpLocks noChangeShapeType="1"/>
              <a:stCxn id="14407" idx="6"/>
              <a:endCxn id="14408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4338" name="Object 26"/>
          <p:cNvGraphicFramePr>
            <a:graphicFrameLocks noChangeAspect="1"/>
          </p:cNvGraphicFramePr>
          <p:nvPr/>
        </p:nvGraphicFramePr>
        <p:xfrm>
          <a:off x="4876800" y="167640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4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67640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27"/>
          <p:cNvSpPr txBox="1">
            <a:spLocks noChangeArrowheads="1"/>
          </p:cNvSpPr>
          <p:nvPr/>
        </p:nvSpPr>
        <p:spPr bwMode="auto">
          <a:xfrm>
            <a:off x="4876800" y="12954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4341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0525" name="Group 29"/>
          <p:cNvGraphicFramePr>
            <a:graphicFrameLocks noGrp="1"/>
          </p:cNvGraphicFramePr>
          <p:nvPr/>
        </p:nvGraphicFramePr>
        <p:xfrm>
          <a:off x="7620000" y="17526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366" name="Text Box 53"/>
          <p:cNvSpPr txBox="1">
            <a:spLocks noChangeArrowheads="1"/>
          </p:cNvSpPr>
          <p:nvPr/>
        </p:nvSpPr>
        <p:spPr bwMode="auto">
          <a:xfrm>
            <a:off x="6934200" y="13096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0550" name="Group 54"/>
          <p:cNvGraphicFramePr>
            <a:graphicFrameLocks noGrp="1"/>
          </p:cNvGraphicFramePr>
          <p:nvPr/>
        </p:nvGraphicFramePr>
        <p:xfrm>
          <a:off x="7875588" y="175260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391" name="Text Box 78"/>
          <p:cNvSpPr txBox="1">
            <a:spLocks noChangeArrowheads="1"/>
          </p:cNvSpPr>
          <p:nvPr/>
        </p:nvSpPr>
        <p:spPr bwMode="auto">
          <a:xfrm>
            <a:off x="450850" y="51673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4392" name="Text Box 79"/>
          <p:cNvSpPr txBox="1">
            <a:spLocks noChangeArrowheads="1"/>
          </p:cNvSpPr>
          <p:nvPr/>
        </p:nvSpPr>
        <p:spPr bwMode="auto">
          <a:xfrm>
            <a:off x="927100" y="5105400"/>
            <a:ext cx="3257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 1, 4, 0, 9 } → { 4, 0, 9, </a:t>
            </a:r>
            <a:r>
              <a:rPr lang="en-US" altLang="zh-CN" sz="1800">
                <a:solidFill>
                  <a:schemeClr val="tx2"/>
                </a:solidFill>
                <a:latin typeface="Arial" charset="0"/>
              </a:rPr>
              <a:t>3, 7</a:t>
            </a:r>
            <a:r>
              <a:rPr lang="en-US" altLang="zh-CN" sz="1800">
                <a:latin typeface="Arial" charset="0"/>
              </a:rPr>
              <a:t> } </a:t>
            </a:r>
          </a:p>
        </p:txBody>
      </p:sp>
      <p:sp>
        <p:nvSpPr>
          <p:cNvPr id="14393" name="Text Box 80"/>
          <p:cNvSpPr txBox="1">
            <a:spLocks noChangeArrowheads="1"/>
          </p:cNvSpPr>
          <p:nvPr/>
        </p:nvSpPr>
        <p:spPr bwMode="auto">
          <a:xfrm>
            <a:off x="7086600" y="4800600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Neighbors 3, 7</a:t>
            </a:r>
          </a:p>
        </p:txBody>
      </p:sp>
      <p:sp>
        <p:nvSpPr>
          <p:cNvPr id="14394" name="Line 81"/>
          <p:cNvSpPr>
            <a:spLocks noChangeShapeType="1"/>
          </p:cNvSpPr>
          <p:nvPr/>
        </p:nvSpPr>
        <p:spPr bwMode="auto">
          <a:xfrm>
            <a:off x="4648200" y="23193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5" name="Text Box 82"/>
          <p:cNvSpPr txBox="1">
            <a:spLocks noChangeArrowheads="1"/>
          </p:cNvSpPr>
          <p:nvPr/>
        </p:nvSpPr>
        <p:spPr bwMode="auto">
          <a:xfrm>
            <a:off x="3946525" y="23225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4396" name="Text Box 83"/>
          <p:cNvSpPr txBox="1">
            <a:spLocks noChangeArrowheads="1"/>
          </p:cNvSpPr>
          <p:nvPr/>
        </p:nvSpPr>
        <p:spPr bwMode="auto">
          <a:xfrm>
            <a:off x="908050" y="5624513"/>
            <a:ext cx="52641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 err="1">
                <a:solidFill>
                  <a:schemeClr val="accent1"/>
                </a:solidFill>
                <a:latin typeface="Arial" charset="0"/>
              </a:rPr>
              <a:t>Dequeue</a:t>
            </a:r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 1.  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 -- Place all unvisited neighbors of 1 on the queue.</a:t>
            </a:r>
          </a:p>
          <a:p>
            <a:pPr eaLnBrk="1" hangingPunct="1"/>
            <a:r>
              <a:rPr lang="en-US" altLang="zh-CN" sz="1800" dirty="0">
                <a:solidFill>
                  <a:schemeClr val="accent1"/>
                </a:solidFill>
                <a:latin typeface="Arial" charset="0"/>
              </a:rPr>
              <a:t> -- Only nodes 3 and 7 haven’t been visited yet.</a:t>
            </a:r>
          </a:p>
        </p:txBody>
      </p:sp>
      <p:sp>
        <p:nvSpPr>
          <p:cNvPr id="14397" name="Text Box 84"/>
          <p:cNvSpPr txBox="1">
            <a:spLocks noChangeArrowheads="1"/>
          </p:cNvSpPr>
          <p:nvPr/>
        </p:nvSpPr>
        <p:spPr bwMode="auto">
          <a:xfrm>
            <a:off x="3849688" y="216376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4398" name="Oval 85"/>
          <p:cNvSpPr>
            <a:spLocks noChangeArrowheads="1"/>
          </p:cNvSpPr>
          <p:nvPr/>
        </p:nvSpPr>
        <p:spPr bwMode="auto">
          <a:xfrm>
            <a:off x="2438400" y="3505200"/>
            <a:ext cx="685800" cy="685800"/>
          </a:xfrm>
          <a:prstGeom prst="ellipse">
            <a:avLst/>
          </a:prstGeom>
          <a:noFill/>
          <a:ln w="25400">
            <a:solidFill>
              <a:srgbClr val="CC33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4399" name="Oval 86"/>
          <p:cNvSpPr>
            <a:spLocks noChangeArrowheads="1"/>
          </p:cNvSpPr>
          <p:nvPr/>
        </p:nvSpPr>
        <p:spPr bwMode="auto">
          <a:xfrm>
            <a:off x="1066800" y="3581400"/>
            <a:ext cx="685800" cy="685800"/>
          </a:xfrm>
          <a:prstGeom prst="ellipse">
            <a:avLst/>
          </a:prstGeom>
          <a:noFill/>
          <a:ln w="25400">
            <a:solidFill>
              <a:srgbClr val="CC33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4400" name="Oval 87"/>
          <p:cNvSpPr>
            <a:spLocks noChangeArrowheads="1"/>
          </p:cNvSpPr>
          <p:nvPr/>
        </p:nvSpPr>
        <p:spPr bwMode="auto">
          <a:xfrm>
            <a:off x="1828800" y="30480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4401" name="Rectangle 8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5546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3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5423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5424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5425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3</a:t>
              </a:r>
            </a:p>
          </p:txBody>
        </p:sp>
        <p:sp>
          <p:nvSpPr>
            <p:cNvPr id="15426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5427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5428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5429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5430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5431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5432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5433" name="AutoShape 14"/>
            <p:cNvCxnSpPr>
              <a:cxnSpLocks noChangeShapeType="1"/>
              <a:stCxn id="15432" idx="6"/>
              <a:endCxn id="15431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34" name="AutoShape 15"/>
            <p:cNvCxnSpPr>
              <a:cxnSpLocks noChangeShapeType="1"/>
              <a:stCxn id="15431" idx="5"/>
              <a:endCxn id="15430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35" name="AutoShape 16"/>
            <p:cNvCxnSpPr>
              <a:cxnSpLocks noChangeShapeType="1"/>
              <a:stCxn id="15430" idx="2"/>
              <a:endCxn id="15427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36" name="AutoShape 17"/>
            <p:cNvCxnSpPr>
              <a:cxnSpLocks noChangeShapeType="1"/>
              <a:stCxn id="15431" idx="3"/>
              <a:endCxn id="15423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37" name="AutoShape 18"/>
            <p:cNvCxnSpPr>
              <a:cxnSpLocks noChangeShapeType="1"/>
              <a:stCxn id="15423" idx="6"/>
              <a:endCxn id="15427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38" name="AutoShape 19"/>
            <p:cNvCxnSpPr>
              <a:cxnSpLocks noChangeShapeType="1"/>
              <a:stCxn id="15423" idx="3"/>
              <a:endCxn id="15424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39" name="AutoShape 20"/>
            <p:cNvCxnSpPr>
              <a:cxnSpLocks noChangeShapeType="1"/>
              <a:stCxn id="15424" idx="6"/>
              <a:endCxn id="15425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40" name="AutoShape 21"/>
            <p:cNvCxnSpPr>
              <a:cxnSpLocks noChangeShapeType="1"/>
              <a:stCxn id="15425" idx="7"/>
              <a:endCxn id="15427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41" name="AutoShape 22"/>
            <p:cNvCxnSpPr>
              <a:cxnSpLocks noChangeShapeType="1"/>
              <a:stCxn id="15425" idx="5"/>
              <a:endCxn id="15426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42" name="AutoShape 23"/>
            <p:cNvCxnSpPr>
              <a:cxnSpLocks noChangeShapeType="1"/>
              <a:stCxn id="15426" idx="6"/>
              <a:endCxn id="15429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43" name="AutoShape 24"/>
            <p:cNvCxnSpPr>
              <a:cxnSpLocks noChangeShapeType="1"/>
              <a:stCxn id="15427" idx="6"/>
              <a:endCxn id="15428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44" name="AutoShape 25"/>
            <p:cNvCxnSpPr>
              <a:cxnSpLocks noChangeShapeType="1"/>
              <a:stCxn id="15428" idx="6"/>
              <a:endCxn id="15429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5362" name="Object 26"/>
          <p:cNvGraphicFramePr>
            <a:graphicFrameLocks noChangeAspect="1"/>
          </p:cNvGraphicFramePr>
          <p:nvPr/>
        </p:nvGraphicFramePr>
        <p:xfrm>
          <a:off x="4876800" y="1752600"/>
          <a:ext cx="21590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8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752600"/>
                        <a:ext cx="21590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4" name="Text Box 27"/>
          <p:cNvSpPr txBox="1">
            <a:spLocks noChangeArrowheads="1"/>
          </p:cNvSpPr>
          <p:nvPr/>
        </p:nvSpPr>
        <p:spPr bwMode="auto">
          <a:xfrm>
            <a:off x="4972050" y="13716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5365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1549" name="Group 29"/>
          <p:cNvGraphicFramePr>
            <a:graphicFrameLocks noGrp="1"/>
          </p:cNvGraphicFramePr>
          <p:nvPr/>
        </p:nvGraphicFramePr>
        <p:xfrm>
          <a:off x="7620000" y="18288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390" name="Text Box 53"/>
          <p:cNvSpPr txBox="1">
            <a:spLocks noChangeArrowheads="1"/>
          </p:cNvSpPr>
          <p:nvPr/>
        </p:nvSpPr>
        <p:spPr bwMode="auto">
          <a:xfrm>
            <a:off x="6927850" y="13858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1574" name="Group 54"/>
          <p:cNvGraphicFramePr>
            <a:graphicFrameLocks noGrp="1"/>
          </p:cNvGraphicFramePr>
          <p:nvPr/>
        </p:nvGraphicFramePr>
        <p:xfrm>
          <a:off x="7875588" y="182880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415" name="Text Box 78"/>
          <p:cNvSpPr txBox="1">
            <a:spLocks noChangeArrowheads="1"/>
          </p:cNvSpPr>
          <p:nvPr/>
        </p:nvSpPr>
        <p:spPr bwMode="auto">
          <a:xfrm>
            <a:off x="685800" y="53959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5416" name="Text Box 79"/>
          <p:cNvSpPr txBox="1">
            <a:spLocks noChangeArrowheads="1"/>
          </p:cNvSpPr>
          <p:nvPr/>
        </p:nvSpPr>
        <p:spPr bwMode="auto">
          <a:xfrm>
            <a:off x="1162050" y="5334000"/>
            <a:ext cx="319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4, 0, 9, 3, 7 } → { 0, 9, 3, 7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15417" name="Line 80"/>
          <p:cNvSpPr>
            <a:spLocks noChangeShapeType="1"/>
          </p:cNvSpPr>
          <p:nvPr/>
        </p:nvSpPr>
        <p:spPr bwMode="auto">
          <a:xfrm>
            <a:off x="4648200" y="33099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8" name="Text Box 81"/>
          <p:cNvSpPr txBox="1">
            <a:spLocks noChangeArrowheads="1"/>
          </p:cNvSpPr>
          <p:nvPr/>
        </p:nvSpPr>
        <p:spPr bwMode="auto">
          <a:xfrm>
            <a:off x="3946525" y="2398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5419" name="Text Box 82"/>
          <p:cNvSpPr txBox="1">
            <a:spLocks noChangeArrowheads="1"/>
          </p:cNvSpPr>
          <p:nvPr/>
        </p:nvSpPr>
        <p:spPr bwMode="auto">
          <a:xfrm>
            <a:off x="1143000" y="5853113"/>
            <a:ext cx="343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Dequeue 4. 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 -- 4 has no unvisited neighbors!</a:t>
            </a:r>
          </a:p>
        </p:txBody>
      </p:sp>
      <p:sp>
        <p:nvSpPr>
          <p:cNvPr id="15420" name="Text Box 83"/>
          <p:cNvSpPr txBox="1">
            <a:spLocks noChangeArrowheads="1"/>
          </p:cNvSpPr>
          <p:nvPr/>
        </p:nvSpPr>
        <p:spPr bwMode="auto">
          <a:xfrm>
            <a:off x="3849688" y="315436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5421" name="Oval 84"/>
          <p:cNvSpPr>
            <a:spLocks noChangeArrowheads="1"/>
          </p:cNvSpPr>
          <p:nvPr/>
        </p:nvSpPr>
        <p:spPr bwMode="auto">
          <a:xfrm>
            <a:off x="304800" y="40386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5422" name="Rectangle 8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9259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7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6447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6448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6449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6450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6451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6452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7</a:t>
              </a:r>
            </a:p>
          </p:txBody>
        </p:sp>
        <p:sp>
          <p:nvSpPr>
            <p:cNvPr id="16453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6454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6455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6456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6457" name="AutoShape 14"/>
            <p:cNvCxnSpPr>
              <a:cxnSpLocks noChangeShapeType="1"/>
              <a:stCxn id="16456" idx="6"/>
              <a:endCxn id="16455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58" name="AutoShape 15"/>
            <p:cNvCxnSpPr>
              <a:cxnSpLocks noChangeShapeType="1"/>
              <a:stCxn id="16455" idx="5"/>
              <a:endCxn id="16454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59" name="AutoShape 16"/>
            <p:cNvCxnSpPr>
              <a:cxnSpLocks noChangeShapeType="1"/>
              <a:stCxn id="16454" idx="2"/>
              <a:endCxn id="16451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0" name="AutoShape 17"/>
            <p:cNvCxnSpPr>
              <a:cxnSpLocks noChangeShapeType="1"/>
              <a:stCxn id="16455" idx="3"/>
              <a:endCxn id="16447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1" name="AutoShape 18"/>
            <p:cNvCxnSpPr>
              <a:cxnSpLocks noChangeShapeType="1"/>
              <a:stCxn id="16447" idx="6"/>
              <a:endCxn id="16451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2" name="AutoShape 19"/>
            <p:cNvCxnSpPr>
              <a:cxnSpLocks noChangeShapeType="1"/>
              <a:stCxn id="16447" idx="3"/>
              <a:endCxn id="16448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3" name="AutoShape 20"/>
            <p:cNvCxnSpPr>
              <a:cxnSpLocks noChangeShapeType="1"/>
              <a:stCxn id="16448" idx="6"/>
              <a:endCxn id="16449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4" name="AutoShape 21"/>
            <p:cNvCxnSpPr>
              <a:cxnSpLocks noChangeShapeType="1"/>
              <a:stCxn id="16449" idx="7"/>
              <a:endCxn id="16451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5" name="AutoShape 22"/>
            <p:cNvCxnSpPr>
              <a:cxnSpLocks noChangeShapeType="1"/>
              <a:stCxn id="16449" idx="5"/>
              <a:endCxn id="16450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6" name="AutoShape 23"/>
            <p:cNvCxnSpPr>
              <a:cxnSpLocks noChangeShapeType="1"/>
              <a:stCxn id="16450" idx="6"/>
              <a:endCxn id="16453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7" name="AutoShape 24"/>
            <p:cNvCxnSpPr>
              <a:cxnSpLocks noChangeShapeType="1"/>
              <a:stCxn id="16451" idx="6"/>
              <a:endCxn id="16452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68" name="AutoShape 25"/>
            <p:cNvCxnSpPr>
              <a:cxnSpLocks noChangeShapeType="1"/>
              <a:stCxn id="16452" idx="6"/>
              <a:endCxn id="16453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6386" name="Object 26"/>
          <p:cNvGraphicFramePr>
            <a:graphicFrameLocks noChangeAspect="1"/>
          </p:cNvGraphicFramePr>
          <p:nvPr/>
        </p:nvGraphicFramePr>
        <p:xfrm>
          <a:off x="4876800" y="175260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2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75260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27"/>
          <p:cNvSpPr txBox="1">
            <a:spLocks noChangeArrowheads="1"/>
          </p:cNvSpPr>
          <p:nvPr/>
        </p:nvSpPr>
        <p:spPr bwMode="auto">
          <a:xfrm>
            <a:off x="4876800" y="13716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6389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2573" name="Group 29"/>
          <p:cNvGraphicFramePr>
            <a:graphicFrameLocks noGrp="1"/>
          </p:cNvGraphicFramePr>
          <p:nvPr/>
        </p:nvGraphicFramePr>
        <p:xfrm>
          <a:off x="7620000" y="18288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414" name="Text Box 53"/>
          <p:cNvSpPr txBox="1">
            <a:spLocks noChangeArrowheads="1"/>
          </p:cNvSpPr>
          <p:nvPr/>
        </p:nvSpPr>
        <p:spPr bwMode="auto">
          <a:xfrm>
            <a:off x="6927850" y="13858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2629" name="Group 85"/>
          <p:cNvGraphicFramePr>
            <a:graphicFrameLocks noGrp="1"/>
          </p:cNvGraphicFramePr>
          <p:nvPr/>
        </p:nvGraphicFramePr>
        <p:xfrm>
          <a:off x="7875588" y="1828800"/>
          <a:ext cx="261937" cy="2971800"/>
        </p:xfrm>
        <a:graphic>
          <a:graphicData uri="http://schemas.openxmlformats.org/drawingml/2006/table">
            <a:tbl>
              <a:tblPr/>
              <a:tblGrid>
                <a:gridCol w="261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439" name="Text Box 78"/>
          <p:cNvSpPr txBox="1">
            <a:spLocks noChangeArrowheads="1"/>
          </p:cNvSpPr>
          <p:nvPr/>
        </p:nvSpPr>
        <p:spPr bwMode="auto">
          <a:xfrm>
            <a:off x="762000" y="52435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6440" name="Text Box 79"/>
          <p:cNvSpPr txBox="1">
            <a:spLocks noChangeArrowheads="1"/>
          </p:cNvSpPr>
          <p:nvPr/>
        </p:nvSpPr>
        <p:spPr bwMode="auto">
          <a:xfrm>
            <a:off x="1238250" y="5181600"/>
            <a:ext cx="2686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0, 9, 3, 7 } → { 9, 3, 7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16441" name="Line 80"/>
          <p:cNvSpPr>
            <a:spLocks noChangeShapeType="1"/>
          </p:cNvSpPr>
          <p:nvPr/>
        </p:nvSpPr>
        <p:spPr bwMode="auto">
          <a:xfrm>
            <a:off x="4648200" y="20907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42" name="Text Box 81"/>
          <p:cNvSpPr txBox="1">
            <a:spLocks noChangeArrowheads="1"/>
          </p:cNvSpPr>
          <p:nvPr/>
        </p:nvSpPr>
        <p:spPr bwMode="auto">
          <a:xfrm>
            <a:off x="3946525" y="2398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6443" name="Text Box 82"/>
          <p:cNvSpPr txBox="1">
            <a:spLocks noChangeArrowheads="1"/>
          </p:cNvSpPr>
          <p:nvPr/>
        </p:nvSpPr>
        <p:spPr bwMode="auto">
          <a:xfrm>
            <a:off x="1219200" y="5700713"/>
            <a:ext cx="343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Dequeue 0. 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 -- 0 has no unvisited neighbors!</a:t>
            </a:r>
          </a:p>
        </p:txBody>
      </p:sp>
      <p:sp>
        <p:nvSpPr>
          <p:cNvPr id="16444" name="Text Box 83"/>
          <p:cNvSpPr txBox="1">
            <a:spLocks noChangeArrowheads="1"/>
          </p:cNvSpPr>
          <p:nvPr/>
        </p:nvSpPr>
        <p:spPr bwMode="auto">
          <a:xfrm>
            <a:off x="3849688" y="193516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6445" name="Oval 84"/>
          <p:cNvSpPr>
            <a:spLocks noChangeArrowheads="1"/>
          </p:cNvSpPr>
          <p:nvPr/>
        </p:nvSpPr>
        <p:spPr bwMode="auto">
          <a:xfrm>
            <a:off x="914400" y="16002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6446" name="Rectangle 8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5243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1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7471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7472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7473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7474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7475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7476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7</a:t>
              </a:r>
            </a:p>
          </p:txBody>
        </p:sp>
        <p:sp>
          <p:nvSpPr>
            <p:cNvPr id="17477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7478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7479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7480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7481" name="AutoShape 14"/>
            <p:cNvCxnSpPr>
              <a:cxnSpLocks noChangeShapeType="1"/>
              <a:stCxn id="17480" idx="6"/>
              <a:endCxn id="17479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2" name="AutoShape 15"/>
            <p:cNvCxnSpPr>
              <a:cxnSpLocks noChangeShapeType="1"/>
              <a:stCxn id="17479" idx="5"/>
              <a:endCxn id="17478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3" name="AutoShape 16"/>
            <p:cNvCxnSpPr>
              <a:cxnSpLocks noChangeShapeType="1"/>
              <a:stCxn id="17478" idx="2"/>
              <a:endCxn id="17475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4" name="AutoShape 17"/>
            <p:cNvCxnSpPr>
              <a:cxnSpLocks noChangeShapeType="1"/>
              <a:stCxn id="17479" idx="3"/>
              <a:endCxn id="17471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5" name="AutoShape 18"/>
            <p:cNvCxnSpPr>
              <a:cxnSpLocks noChangeShapeType="1"/>
              <a:stCxn id="17471" idx="6"/>
              <a:endCxn id="17475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6" name="AutoShape 19"/>
            <p:cNvCxnSpPr>
              <a:cxnSpLocks noChangeShapeType="1"/>
              <a:stCxn id="17471" idx="3"/>
              <a:endCxn id="17472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7" name="AutoShape 20"/>
            <p:cNvCxnSpPr>
              <a:cxnSpLocks noChangeShapeType="1"/>
              <a:stCxn id="17472" idx="6"/>
              <a:endCxn id="17473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8" name="AutoShape 21"/>
            <p:cNvCxnSpPr>
              <a:cxnSpLocks noChangeShapeType="1"/>
              <a:stCxn id="17473" idx="7"/>
              <a:endCxn id="17475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89" name="AutoShape 22"/>
            <p:cNvCxnSpPr>
              <a:cxnSpLocks noChangeShapeType="1"/>
              <a:stCxn id="17473" idx="5"/>
              <a:endCxn id="17474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90" name="AutoShape 23"/>
            <p:cNvCxnSpPr>
              <a:cxnSpLocks noChangeShapeType="1"/>
              <a:stCxn id="17474" idx="6"/>
              <a:endCxn id="17477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91" name="AutoShape 24"/>
            <p:cNvCxnSpPr>
              <a:cxnSpLocks noChangeShapeType="1"/>
              <a:stCxn id="17475" idx="6"/>
              <a:endCxn id="17476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92" name="AutoShape 25"/>
            <p:cNvCxnSpPr>
              <a:cxnSpLocks noChangeShapeType="1"/>
              <a:stCxn id="17476" idx="6"/>
              <a:endCxn id="17477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7410" name="Object 26"/>
          <p:cNvGraphicFramePr>
            <a:graphicFrameLocks noChangeAspect="1"/>
          </p:cNvGraphicFramePr>
          <p:nvPr/>
        </p:nvGraphicFramePr>
        <p:xfrm>
          <a:off x="4800600" y="1752600"/>
          <a:ext cx="2106613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26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752600"/>
                        <a:ext cx="2106613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27"/>
          <p:cNvSpPr txBox="1">
            <a:spLocks noChangeArrowheads="1"/>
          </p:cNvSpPr>
          <p:nvPr/>
        </p:nvSpPr>
        <p:spPr bwMode="auto">
          <a:xfrm>
            <a:off x="4800600" y="13716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7413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3597" name="Group 29"/>
          <p:cNvGraphicFramePr>
            <a:graphicFrameLocks noGrp="1"/>
          </p:cNvGraphicFramePr>
          <p:nvPr/>
        </p:nvGraphicFramePr>
        <p:xfrm>
          <a:off x="7543800" y="18288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438" name="Text Box 53"/>
          <p:cNvSpPr txBox="1">
            <a:spLocks noChangeArrowheads="1"/>
          </p:cNvSpPr>
          <p:nvPr/>
        </p:nvSpPr>
        <p:spPr bwMode="auto">
          <a:xfrm>
            <a:off x="6851650" y="13858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3653" name="Group 85"/>
          <p:cNvGraphicFramePr>
            <a:graphicFrameLocks noGrp="1"/>
          </p:cNvGraphicFramePr>
          <p:nvPr/>
        </p:nvGraphicFramePr>
        <p:xfrm>
          <a:off x="7799388" y="1828800"/>
          <a:ext cx="261937" cy="2971800"/>
        </p:xfrm>
        <a:graphic>
          <a:graphicData uri="http://schemas.openxmlformats.org/drawingml/2006/table">
            <a:tbl>
              <a:tblPr/>
              <a:tblGrid>
                <a:gridCol w="261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463" name="Text Box 78"/>
          <p:cNvSpPr txBox="1">
            <a:spLocks noChangeArrowheads="1"/>
          </p:cNvSpPr>
          <p:nvPr/>
        </p:nvSpPr>
        <p:spPr bwMode="auto">
          <a:xfrm>
            <a:off x="679450" y="5226050"/>
            <a:ext cx="622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7464" name="Text Box 79"/>
          <p:cNvSpPr txBox="1">
            <a:spLocks noChangeArrowheads="1"/>
          </p:cNvSpPr>
          <p:nvPr/>
        </p:nvSpPr>
        <p:spPr bwMode="auto">
          <a:xfrm>
            <a:off x="1155700" y="5164138"/>
            <a:ext cx="217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9, 3, 7 } → { 3, 7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17465" name="Line 80"/>
          <p:cNvSpPr>
            <a:spLocks noChangeShapeType="1"/>
          </p:cNvSpPr>
          <p:nvPr/>
        </p:nvSpPr>
        <p:spPr bwMode="auto">
          <a:xfrm>
            <a:off x="4724400" y="46815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66" name="Text Box 81"/>
          <p:cNvSpPr txBox="1">
            <a:spLocks noChangeArrowheads="1"/>
          </p:cNvSpPr>
          <p:nvPr/>
        </p:nvSpPr>
        <p:spPr bwMode="auto">
          <a:xfrm>
            <a:off x="3946525" y="2017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7467" name="Text Box 82"/>
          <p:cNvSpPr txBox="1">
            <a:spLocks noChangeArrowheads="1"/>
          </p:cNvSpPr>
          <p:nvPr/>
        </p:nvSpPr>
        <p:spPr bwMode="auto">
          <a:xfrm>
            <a:off x="1136650" y="5683250"/>
            <a:ext cx="343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Dequeue 9. 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 -- 9 has no unvisited neighbors!</a:t>
            </a:r>
          </a:p>
        </p:txBody>
      </p:sp>
      <p:sp>
        <p:nvSpPr>
          <p:cNvPr id="17468" name="Text Box 83"/>
          <p:cNvSpPr txBox="1">
            <a:spLocks noChangeArrowheads="1"/>
          </p:cNvSpPr>
          <p:nvPr/>
        </p:nvSpPr>
        <p:spPr bwMode="auto">
          <a:xfrm>
            <a:off x="3925888" y="452596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7469" name="Oval 84"/>
          <p:cNvSpPr>
            <a:spLocks noChangeArrowheads="1"/>
          </p:cNvSpPr>
          <p:nvPr/>
        </p:nvSpPr>
        <p:spPr bwMode="auto">
          <a:xfrm>
            <a:off x="2819400" y="27432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7470" name="Rectangle 8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1273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5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8497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8498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8499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8500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5</a:t>
              </a:r>
            </a:p>
          </p:txBody>
        </p:sp>
        <p:sp>
          <p:nvSpPr>
            <p:cNvPr id="18501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8502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8503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8504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8505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8506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8507" name="AutoShape 14"/>
            <p:cNvCxnSpPr>
              <a:cxnSpLocks noChangeShapeType="1"/>
              <a:stCxn id="18506" idx="6"/>
              <a:endCxn id="18505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8" name="AutoShape 15"/>
            <p:cNvCxnSpPr>
              <a:cxnSpLocks noChangeShapeType="1"/>
              <a:stCxn id="18505" idx="5"/>
              <a:endCxn id="18504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09" name="AutoShape 16"/>
            <p:cNvCxnSpPr>
              <a:cxnSpLocks noChangeShapeType="1"/>
              <a:stCxn id="18504" idx="2"/>
              <a:endCxn id="18501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0" name="AutoShape 17"/>
            <p:cNvCxnSpPr>
              <a:cxnSpLocks noChangeShapeType="1"/>
              <a:stCxn id="18505" idx="3"/>
              <a:endCxn id="18497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1" name="AutoShape 18"/>
            <p:cNvCxnSpPr>
              <a:cxnSpLocks noChangeShapeType="1"/>
              <a:stCxn id="18497" idx="6"/>
              <a:endCxn id="18501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2" name="AutoShape 19"/>
            <p:cNvCxnSpPr>
              <a:cxnSpLocks noChangeShapeType="1"/>
              <a:stCxn id="18497" idx="3"/>
              <a:endCxn id="18498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3" name="AutoShape 20"/>
            <p:cNvCxnSpPr>
              <a:cxnSpLocks noChangeShapeType="1"/>
              <a:stCxn id="18498" idx="6"/>
              <a:endCxn id="18499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4" name="AutoShape 21"/>
            <p:cNvCxnSpPr>
              <a:cxnSpLocks noChangeShapeType="1"/>
              <a:stCxn id="18499" idx="7"/>
              <a:endCxn id="18501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5" name="AutoShape 22"/>
            <p:cNvCxnSpPr>
              <a:cxnSpLocks noChangeShapeType="1"/>
              <a:stCxn id="18499" idx="5"/>
              <a:endCxn id="18500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6" name="AutoShape 23"/>
            <p:cNvCxnSpPr>
              <a:cxnSpLocks noChangeShapeType="1"/>
              <a:stCxn id="18500" idx="6"/>
              <a:endCxn id="18503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7" name="AutoShape 24"/>
            <p:cNvCxnSpPr>
              <a:cxnSpLocks noChangeShapeType="1"/>
              <a:stCxn id="18501" idx="6"/>
              <a:endCxn id="18502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18" name="AutoShape 25"/>
            <p:cNvCxnSpPr>
              <a:cxnSpLocks noChangeShapeType="1"/>
              <a:stCxn id="18502" idx="6"/>
              <a:endCxn id="18503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8434" name="Object 26"/>
          <p:cNvGraphicFramePr>
            <a:graphicFrameLocks noChangeAspect="1"/>
          </p:cNvGraphicFramePr>
          <p:nvPr/>
        </p:nvGraphicFramePr>
        <p:xfrm>
          <a:off x="4876800" y="175260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0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75260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27"/>
          <p:cNvSpPr txBox="1">
            <a:spLocks noChangeArrowheads="1"/>
          </p:cNvSpPr>
          <p:nvPr/>
        </p:nvSpPr>
        <p:spPr bwMode="auto">
          <a:xfrm>
            <a:off x="4876800" y="13716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8437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4621" name="Group 29"/>
          <p:cNvGraphicFramePr>
            <a:graphicFrameLocks noGrp="1"/>
          </p:cNvGraphicFramePr>
          <p:nvPr/>
        </p:nvGraphicFramePr>
        <p:xfrm>
          <a:off x="7620000" y="18288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462" name="Text Box 53"/>
          <p:cNvSpPr txBox="1">
            <a:spLocks noChangeArrowheads="1"/>
          </p:cNvSpPr>
          <p:nvPr/>
        </p:nvSpPr>
        <p:spPr bwMode="auto">
          <a:xfrm>
            <a:off x="6927850" y="13858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4646" name="Group 54"/>
          <p:cNvGraphicFramePr>
            <a:graphicFrameLocks noGrp="1"/>
          </p:cNvGraphicFramePr>
          <p:nvPr/>
        </p:nvGraphicFramePr>
        <p:xfrm>
          <a:off x="7875588" y="182880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487" name="Text Box 78"/>
          <p:cNvSpPr txBox="1">
            <a:spLocks noChangeArrowheads="1"/>
          </p:cNvSpPr>
          <p:nvPr/>
        </p:nvSpPr>
        <p:spPr bwMode="auto">
          <a:xfrm>
            <a:off x="685800" y="53197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8488" name="Text Box 79"/>
          <p:cNvSpPr txBox="1">
            <a:spLocks noChangeArrowheads="1"/>
          </p:cNvSpPr>
          <p:nvPr/>
        </p:nvSpPr>
        <p:spPr bwMode="auto">
          <a:xfrm>
            <a:off x="1162050" y="5257800"/>
            <a:ext cx="192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3, 7 } → { 7, 5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18489" name="Line 80"/>
          <p:cNvSpPr>
            <a:spLocks noChangeShapeType="1"/>
          </p:cNvSpPr>
          <p:nvPr/>
        </p:nvSpPr>
        <p:spPr bwMode="auto">
          <a:xfrm>
            <a:off x="4648200" y="29289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90" name="Text Box 81"/>
          <p:cNvSpPr txBox="1">
            <a:spLocks noChangeArrowheads="1"/>
          </p:cNvSpPr>
          <p:nvPr/>
        </p:nvSpPr>
        <p:spPr bwMode="auto">
          <a:xfrm>
            <a:off x="3946525" y="2398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18491" name="Text Box 82"/>
          <p:cNvSpPr txBox="1">
            <a:spLocks noChangeArrowheads="1"/>
          </p:cNvSpPr>
          <p:nvPr/>
        </p:nvSpPr>
        <p:spPr bwMode="auto">
          <a:xfrm>
            <a:off x="1143000" y="5776913"/>
            <a:ext cx="361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Dequeue 3. 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 -- place neighbor 5 on the queue.</a:t>
            </a:r>
          </a:p>
        </p:txBody>
      </p:sp>
      <p:sp>
        <p:nvSpPr>
          <p:cNvPr id="18492" name="Text Box 83"/>
          <p:cNvSpPr txBox="1">
            <a:spLocks noChangeArrowheads="1"/>
          </p:cNvSpPr>
          <p:nvPr/>
        </p:nvSpPr>
        <p:spPr bwMode="auto">
          <a:xfrm>
            <a:off x="3849688" y="277336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8493" name="Oval 84"/>
          <p:cNvSpPr>
            <a:spLocks noChangeArrowheads="1"/>
          </p:cNvSpPr>
          <p:nvPr/>
        </p:nvSpPr>
        <p:spPr bwMode="auto">
          <a:xfrm>
            <a:off x="1066800" y="35814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8494" name="Text Box 85"/>
          <p:cNvSpPr txBox="1">
            <a:spLocks noChangeArrowheads="1"/>
          </p:cNvSpPr>
          <p:nvPr/>
        </p:nvSpPr>
        <p:spPr bwMode="auto">
          <a:xfrm>
            <a:off x="7086600" y="4876800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Vertex 5</a:t>
            </a:r>
          </a:p>
        </p:txBody>
      </p:sp>
      <p:sp>
        <p:nvSpPr>
          <p:cNvPr id="18495" name="Oval 86"/>
          <p:cNvSpPr>
            <a:spLocks noChangeArrowheads="1"/>
          </p:cNvSpPr>
          <p:nvPr/>
        </p:nvSpPr>
        <p:spPr bwMode="auto">
          <a:xfrm>
            <a:off x="1676400" y="4114800"/>
            <a:ext cx="685800" cy="685800"/>
          </a:xfrm>
          <a:prstGeom prst="ellipse">
            <a:avLst/>
          </a:prstGeom>
          <a:noFill/>
          <a:ln w="25400">
            <a:solidFill>
              <a:srgbClr val="CC33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8496" name="Rectangle 8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1949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19520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19521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19522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19523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19524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19525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19526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19527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19528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19529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19530" name="AutoShape 14"/>
            <p:cNvCxnSpPr>
              <a:cxnSpLocks noChangeShapeType="1"/>
              <a:stCxn id="19529" idx="6"/>
              <a:endCxn id="19528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1" name="AutoShape 15"/>
            <p:cNvCxnSpPr>
              <a:cxnSpLocks noChangeShapeType="1"/>
              <a:stCxn id="19528" idx="5"/>
              <a:endCxn id="19527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2" name="AutoShape 16"/>
            <p:cNvCxnSpPr>
              <a:cxnSpLocks noChangeShapeType="1"/>
              <a:stCxn id="19527" idx="2"/>
              <a:endCxn id="19524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3" name="AutoShape 17"/>
            <p:cNvCxnSpPr>
              <a:cxnSpLocks noChangeShapeType="1"/>
              <a:stCxn id="19528" idx="3"/>
              <a:endCxn id="19520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4" name="AutoShape 18"/>
            <p:cNvCxnSpPr>
              <a:cxnSpLocks noChangeShapeType="1"/>
              <a:stCxn id="19520" idx="6"/>
              <a:endCxn id="19524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5" name="AutoShape 19"/>
            <p:cNvCxnSpPr>
              <a:cxnSpLocks noChangeShapeType="1"/>
              <a:stCxn id="19520" idx="3"/>
              <a:endCxn id="19521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6" name="AutoShape 20"/>
            <p:cNvCxnSpPr>
              <a:cxnSpLocks noChangeShapeType="1"/>
              <a:stCxn id="19521" idx="6"/>
              <a:endCxn id="19522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7" name="AutoShape 21"/>
            <p:cNvCxnSpPr>
              <a:cxnSpLocks noChangeShapeType="1"/>
              <a:stCxn id="19522" idx="7"/>
              <a:endCxn id="19524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8" name="AutoShape 22"/>
            <p:cNvCxnSpPr>
              <a:cxnSpLocks noChangeShapeType="1"/>
              <a:stCxn id="19522" idx="5"/>
              <a:endCxn id="19523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39" name="AutoShape 23"/>
            <p:cNvCxnSpPr>
              <a:cxnSpLocks noChangeShapeType="1"/>
              <a:stCxn id="19523" idx="6"/>
              <a:endCxn id="19526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40" name="AutoShape 24"/>
            <p:cNvCxnSpPr>
              <a:cxnSpLocks noChangeShapeType="1"/>
              <a:stCxn id="19524" idx="6"/>
              <a:endCxn id="19525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41" name="AutoShape 25"/>
            <p:cNvCxnSpPr>
              <a:cxnSpLocks noChangeShapeType="1"/>
              <a:stCxn id="19525" idx="6"/>
              <a:endCxn id="19526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9458" name="Object 26"/>
          <p:cNvGraphicFramePr>
            <a:graphicFrameLocks noChangeAspect="1"/>
          </p:cNvGraphicFramePr>
          <p:nvPr/>
        </p:nvGraphicFramePr>
        <p:xfrm>
          <a:off x="4876800" y="1524000"/>
          <a:ext cx="2055813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4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524000"/>
                        <a:ext cx="2055813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27"/>
          <p:cNvSpPr txBox="1">
            <a:spLocks noChangeArrowheads="1"/>
          </p:cNvSpPr>
          <p:nvPr/>
        </p:nvSpPr>
        <p:spPr bwMode="auto">
          <a:xfrm>
            <a:off x="4876800" y="12192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19461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5645" name="Group 29"/>
          <p:cNvGraphicFramePr>
            <a:graphicFrameLocks noGrp="1"/>
          </p:cNvGraphicFramePr>
          <p:nvPr/>
        </p:nvGraphicFramePr>
        <p:xfrm>
          <a:off x="7620000" y="16002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486" name="Text Box 53"/>
          <p:cNvSpPr txBox="1">
            <a:spLocks noChangeArrowheads="1"/>
          </p:cNvSpPr>
          <p:nvPr/>
        </p:nvSpPr>
        <p:spPr bwMode="auto">
          <a:xfrm>
            <a:off x="6927850" y="12334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5670" name="Group 54"/>
          <p:cNvGraphicFramePr>
            <a:graphicFrameLocks noGrp="1"/>
          </p:cNvGraphicFramePr>
          <p:nvPr/>
        </p:nvGraphicFramePr>
        <p:xfrm>
          <a:off x="7875588" y="160020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9511" name="Text Box 78"/>
          <p:cNvSpPr txBox="1">
            <a:spLocks noChangeArrowheads="1"/>
          </p:cNvSpPr>
          <p:nvPr/>
        </p:nvSpPr>
        <p:spPr bwMode="auto">
          <a:xfrm>
            <a:off x="609600" y="52435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19512" name="Text Box 79"/>
          <p:cNvSpPr txBox="1">
            <a:spLocks noChangeArrowheads="1"/>
          </p:cNvSpPr>
          <p:nvPr/>
        </p:nvSpPr>
        <p:spPr bwMode="auto">
          <a:xfrm>
            <a:off x="1085850" y="5181600"/>
            <a:ext cx="192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7, 5 } → { 5, 6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19513" name="Line 80"/>
          <p:cNvSpPr>
            <a:spLocks noChangeShapeType="1"/>
          </p:cNvSpPr>
          <p:nvPr/>
        </p:nvSpPr>
        <p:spPr bwMode="auto">
          <a:xfrm>
            <a:off x="4724400" y="381317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514" name="Text Box 82"/>
          <p:cNvSpPr txBox="1">
            <a:spLocks noChangeArrowheads="1"/>
          </p:cNvSpPr>
          <p:nvPr/>
        </p:nvSpPr>
        <p:spPr bwMode="auto">
          <a:xfrm>
            <a:off x="1066800" y="5700713"/>
            <a:ext cx="3549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Dequeue 7. 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 -- place neighbor 6 on the queue</a:t>
            </a:r>
          </a:p>
        </p:txBody>
      </p:sp>
      <p:sp>
        <p:nvSpPr>
          <p:cNvPr id="19515" name="Text Box 83"/>
          <p:cNvSpPr txBox="1">
            <a:spLocks noChangeArrowheads="1"/>
          </p:cNvSpPr>
          <p:nvPr/>
        </p:nvSpPr>
        <p:spPr bwMode="auto">
          <a:xfrm>
            <a:off x="3925888" y="3657600"/>
            <a:ext cx="8747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19516" name="Oval 84"/>
          <p:cNvSpPr>
            <a:spLocks noChangeArrowheads="1"/>
          </p:cNvSpPr>
          <p:nvPr/>
        </p:nvSpPr>
        <p:spPr bwMode="auto">
          <a:xfrm>
            <a:off x="2438400" y="35052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9517" name="Text Box 85"/>
          <p:cNvSpPr txBox="1">
            <a:spLocks noChangeArrowheads="1"/>
          </p:cNvSpPr>
          <p:nvPr/>
        </p:nvSpPr>
        <p:spPr bwMode="auto">
          <a:xfrm>
            <a:off x="7086600" y="4648200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Mark new visited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Vertex 6</a:t>
            </a:r>
          </a:p>
        </p:txBody>
      </p:sp>
      <p:sp>
        <p:nvSpPr>
          <p:cNvPr id="19518" name="Oval 86"/>
          <p:cNvSpPr>
            <a:spLocks noChangeArrowheads="1"/>
          </p:cNvSpPr>
          <p:nvPr/>
        </p:nvSpPr>
        <p:spPr bwMode="auto">
          <a:xfrm>
            <a:off x="3657600" y="3886200"/>
            <a:ext cx="685800" cy="685800"/>
          </a:xfrm>
          <a:prstGeom prst="ellipse">
            <a:avLst/>
          </a:prstGeom>
          <a:noFill/>
          <a:ln w="25400">
            <a:solidFill>
              <a:srgbClr val="CC33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19519" name="Rectangle 8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327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20543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20544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20545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20546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20547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20548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20549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 dirty="0">
                  <a:latin typeface="Arial" charset="0"/>
                </a:rPr>
                <a:t>6</a:t>
              </a:r>
            </a:p>
          </p:txBody>
        </p:sp>
        <p:sp>
          <p:nvSpPr>
            <p:cNvPr id="20550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20551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20552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20553" name="AutoShape 14"/>
            <p:cNvCxnSpPr>
              <a:cxnSpLocks noChangeShapeType="1"/>
              <a:stCxn id="20552" idx="6"/>
              <a:endCxn id="20551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4" name="AutoShape 15"/>
            <p:cNvCxnSpPr>
              <a:cxnSpLocks noChangeShapeType="1"/>
              <a:stCxn id="20551" idx="5"/>
              <a:endCxn id="20550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5" name="AutoShape 16"/>
            <p:cNvCxnSpPr>
              <a:cxnSpLocks noChangeShapeType="1"/>
              <a:stCxn id="20550" idx="2"/>
              <a:endCxn id="20547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6" name="AutoShape 17"/>
            <p:cNvCxnSpPr>
              <a:cxnSpLocks noChangeShapeType="1"/>
              <a:stCxn id="20551" idx="3"/>
              <a:endCxn id="20543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7" name="AutoShape 18"/>
            <p:cNvCxnSpPr>
              <a:cxnSpLocks noChangeShapeType="1"/>
              <a:stCxn id="20543" idx="6"/>
              <a:endCxn id="20547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8" name="AutoShape 19"/>
            <p:cNvCxnSpPr>
              <a:cxnSpLocks noChangeShapeType="1"/>
              <a:stCxn id="20543" idx="3"/>
              <a:endCxn id="20544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59" name="AutoShape 20"/>
            <p:cNvCxnSpPr>
              <a:cxnSpLocks noChangeShapeType="1"/>
              <a:stCxn id="20544" idx="6"/>
              <a:endCxn id="20545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0" name="AutoShape 21"/>
            <p:cNvCxnSpPr>
              <a:cxnSpLocks noChangeShapeType="1"/>
              <a:stCxn id="20545" idx="7"/>
              <a:endCxn id="20547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1" name="AutoShape 22"/>
            <p:cNvCxnSpPr>
              <a:cxnSpLocks noChangeShapeType="1"/>
              <a:stCxn id="20545" idx="5"/>
              <a:endCxn id="20546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2" name="AutoShape 23"/>
            <p:cNvCxnSpPr>
              <a:cxnSpLocks noChangeShapeType="1"/>
              <a:stCxn id="20546" idx="6"/>
              <a:endCxn id="20549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3" name="AutoShape 24"/>
            <p:cNvCxnSpPr>
              <a:cxnSpLocks noChangeShapeType="1"/>
              <a:stCxn id="20547" idx="6"/>
              <a:endCxn id="20548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64" name="AutoShape 25"/>
            <p:cNvCxnSpPr>
              <a:cxnSpLocks noChangeShapeType="1"/>
              <a:stCxn id="20548" idx="6"/>
              <a:endCxn id="20549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0482" name="Object 26"/>
          <p:cNvGraphicFramePr>
            <a:graphicFrameLocks noChangeAspect="1"/>
          </p:cNvGraphicFramePr>
          <p:nvPr/>
        </p:nvGraphicFramePr>
        <p:xfrm>
          <a:off x="4876800" y="167640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98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67640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27"/>
          <p:cNvSpPr txBox="1">
            <a:spLocks noChangeArrowheads="1"/>
          </p:cNvSpPr>
          <p:nvPr/>
        </p:nvSpPr>
        <p:spPr bwMode="auto">
          <a:xfrm>
            <a:off x="4876800" y="12954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20485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6669" name="Group 29"/>
          <p:cNvGraphicFramePr>
            <a:graphicFrameLocks noGrp="1"/>
          </p:cNvGraphicFramePr>
          <p:nvPr/>
        </p:nvGraphicFramePr>
        <p:xfrm>
          <a:off x="7620000" y="17526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510" name="Text Box 53"/>
          <p:cNvSpPr txBox="1">
            <a:spLocks noChangeArrowheads="1"/>
          </p:cNvSpPr>
          <p:nvPr/>
        </p:nvSpPr>
        <p:spPr bwMode="auto">
          <a:xfrm>
            <a:off x="6927850" y="13096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6726" name="Group 86"/>
          <p:cNvGraphicFramePr>
            <a:graphicFrameLocks noGrp="1"/>
          </p:cNvGraphicFramePr>
          <p:nvPr/>
        </p:nvGraphicFramePr>
        <p:xfrm>
          <a:off x="7875588" y="1752600"/>
          <a:ext cx="261937" cy="2971800"/>
        </p:xfrm>
        <a:graphic>
          <a:graphicData uri="http://schemas.openxmlformats.org/drawingml/2006/table">
            <a:tbl>
              <a:tblPr/>
              <a:tblGrid>
                <a:gridCol w="261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0535" name="Text Box 78"/>
          <p:cNvSpPr txBox="1">
            <a:spLocks noChangeArrowheads="1"/>
          </p:cNvSpPr>
          <p:nvPr/>
        </p:nvSpPr>
        <p:spPr bwMode="auto">
          <a:xfrm>
            <a:off x="819150" y="53197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20536" name="Text Box 79"/>
          <p:cNvSpPr txBox="1">
            <a:spLocks noChangeArrowheads="1"/>
          </p:cNvSpPr>
          <p:nvPr/>
        </p:nvSpPr>
        <p:spPr bwMode="auto">
          <a:xfrm>
            <a:off x="1295400" y="5257800"/>
            <a:ext cx="1606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5, 6} → { 6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20537" name="Line 80"/>
          <p:cNvSpPr>
            <a:spLocks noChangeShapeType="1"/>
          </p:cNvSpPr>
          <p:nvPr/>
        </p:nvSpPr>
        <p:spPr bwMode="auto">
          <a:xfrm>
            <a:off x="4648200" y="3432175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38" name="Text Box 82"/>
          <p:cNvSpPr txBox="1">
            <a:spLocks noChangeArrowheads="1"/>
          </p:cNvSpPr>
          <p:nvPr/>
        </p:nvSpPr>
        <p:spPr bwMode="auto">
          <a:xfrm>
            <a:off x="1276350" y="5776913"/>
            <a:ext cx="319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Dequeue 5. 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 -- no unvisited neighbors of 5</a:t>
            </a:r>
          </a:p>
        </p:txBody>
      </p:sp>
      <p:sp>
        <p:nvSpPr>
          <p:cNvPr id="20539" name="Text Box 83"/>
          <p:cNvSpPr txBox="1">
            <a:spLocks noChangeArrowheads="1"/>
          </p:cNvSpPr>
          <p:nvPr/>
        </p:nvSpPr>
        <p:spPr bwMode="auto">
          <a:xfrm>
            <a:off x="3849688" y="3276600"/>
            <a:ext cx="8747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20540" name="Oval 84"/>
          <p:cNvSpPr>
            <a:spLocks noChangeArrowheads="1"/>
          </p:cNvSpPr>
          <p:nvPr/>
        </p:nvSpPr>
        <p:spPr bwMode="auto">
          <a:xfrm>
            <a:off x="1676400" y="41148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20541" name="Text Box 85"/>
          <p:cNvSpPr txBox="1">
            <a:spLocks noChangeArrowheads="1"/>
          </p:cNvSpPr>
          <p:nvPr/>
        </p:nvSpPr>
        <p:spPr bwMode="auto">
          <a:xfrm>
            <a:off x="7086600" y="4495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20542" name="Rectangle 8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745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21567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21568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21569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21570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21571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21572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21573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21574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21575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21576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21577" name="AutoShape 14"/>
            <p:cNvCxnSpPr>
              <a:cxnSpLocks noChangeShapeType="1"/>
              <a:stCxn id="21576" idx="6"/>
              <a:endCxn id="21575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8" name="AutoShape 15"/>
            <p:cNvCxnSpPr>
              <a:cxnSpLocks noChangeShapeType="1"/>
              <a:stCxn id="21575" idx="5"/>
              <a:endCxn id="21574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79" name="AutoShape 16"/>
            <p:cNvCxnSpPr>
              <a:cxnSpLocks noChangeShapeType="1"/>
              <a:stCxn id="21574" idx="2"/>
              <a:endCxn id="21571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0" name="AutoShape 17"/>
            <p:cNvCxnSpPr>
              <a:cxnSpLocks noChangeShapeType="1"/>
              <a:stCxn id="21575" idx="3"/>
              <a:endCxn id="21567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1" name="AutoShape 18"/>
            <p:cNvCxnSpPr>
              <a:cxnSpLocks noChangeShapeType="1"/>
              <a:stCxn id="21567" idx="6"/>
              <a:endCxn id="21571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2" name="AutoShape 19"/>
            <p:cNvCxnSpPr>
              <a:cxnSpLocks noChangeShapeType="1"/>
              <a:stCxn id="21567" idx="3"/>
              <a:endCxn id="21568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3" name="AutoShape 20"/>
            <p:cNvCxnSpPr>
              <a:cxnSpLocks noChangeShapeType="1"/>
              <a:stCxn id="21568" idx="6"/>
              <a:endCxn id="21569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4" name="AutoShape 21"/>
            <p:cNvCxnSpPr>
              <a:cxnSpLocks noChangeShapeType="1"/>
              <a:stCxn id="21569" idx="7"/>
              <a:endCxn id="21571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5" name="AutoShape 22"/>
            <p:cNvCxnSpPr>
              <a:cxnSpLocks noChangeShapeType="1"/>
              <a:stCxn id="21569" idx="5"/>
              <a:endCxn id="21570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6" name="AutoShape 23"/>
            <p:cNvCxnSpPr>
              <a:cxnSpLocks noChangeShapeType="1"/>
              <a:stCxn id="21570" idx="6"/>
              <a:endCxn id="21573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7" name="AutoShape 24"/>
            <p:cNvCxnSpPr>
              <a:cxnSpLocks noChangeShapeType="1"/>
              <a:stCxn id="21571" idx="6"/>
              <a:endCxn id="21572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8" name="AutoShape 25"/>
            <p:cNvCxnSpPr>
              <a:cxnSpLocks noChangeShapeType="1"/>
              <a:stCxn id="21572" idx="6"/>
              <a:endCxn id="21573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1506" name="Object 26"/>
          <p:cNvGraphicFramePr>
            <a:graphicFrameLocks noChangeAspect="1"/>
          </p:cNvGraphicFramePr>
          <p:nvPr/>
        </p:nvGraphicFramePr>
        <p:xfrm>
          <a:off x="4953000" y="1676400"/>
          <a:ext cx="21590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2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676400"/>
                        <a:ext cx="2159000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Text Box 27"/>
          <p:cNvSpPr txBox="1">
            <a:spLocks noChangeArrowheads="1"/>
          </p:cNvSpPr>
          <p:nvPr/>
        </p:nvSpPr>
        <p:spPr bwMode="auto">
          <a:xfrm>
            <a:off x="4953000" y="12954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21509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7693" name="Group 29"/>
          <p:cNvGraphicFramePr>
            <a:graphicFrameLocks noGrp="1"/>
          </p:cNvGraphicFramePr>
          <p:nvPr/>
        </p:nvGraphicFramePr>
        <p:xfrm>
          <a:off x="7696200" y="1752600"/>
          <a:ext cx="254000" cy="3124202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534" name="Text Box 53"/>
          <p:cNvSpPr txBox="1">
            <a:spLocks noChangeArrowheads="1"/>
          </p:cNvSpPr>
          <p:nvPr/>
        </p:nvSpPr>
        <p:spPr bwMode="auto">
          <a:xfrm>
            <a:off x="7004050" y="13096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7750" name="Group 86"/>
          <p:cNvGraphicFramePr>
            <a:graphicFrameLocks noGrp="1"/>
          </p:cNvGraphicFramePr>
          <p:nvPr/>
        </p:nvGraphicFramePr>
        <p:xfrm>
          <a:off x="7951788" y="1752600"/>
          <a:ext cx="277812" cy="3124202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1559" name="Text Box 78"/>
          <p:cNvSpPr txBox="1">
            <a:spLocks noChangeArrowheads="1"/>
          </p:cNvSpPr>
          <p:nvPr/>
        </p:nvSpPr>
        <p:spPr bwMode="auto">
          <a:xfrm>
            <a:off x="742950" y="52435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21560" name="Text Box 79"/>
          <p:cNvSpPr txBox="1">
            <a:spLocks noChangeArrowheads="1"/>
          </p:cNvSpPr>
          <p:nvPr/>
        </p:nvSpPr>
        <p:spPr bwMode="auto">
          <a:xfrm>
            <a:off x="1219200" y="5181600"/>
            <a:ext cx="1289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6 } → { 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21561" name="Line 80"/>
          <p:cNvSpPr>
            <a:spLocks noChangeShapeType="1"/>
          </p:cNvSpPr>
          <p:nvPr/>
        </p:nvSpPr>
        <p:spPr bwMode="auto">
          <a:xfrm>
            <a:off x="4724400" y="37671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62" name="Text Box 82"/>
          <p:cNvSpPr txBox="1">
            <a:spLocks noChangeArrowheads="1"/>
          </p:cNvSpPr>
          <p:nvPr/>
        </p:nvSpPr>
        <p:spPr bwMode="auto">
          <a:xfrm>
            <a:off x="1200150" y="5700713"/>
            <a:ext cx="319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Dequeue 6.  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 -- no unvisited neighbors of 6</a:t>
            </a:r>
          </a:p>
        </p:txBody>
      </p:sp>
      <p:sp>
        <p:nvSpPr>
          <p:cNvPr id="21563" name="Text Box 83"/>
          <p:cNvSpPr txBox="1">
            <a:spLocks noChangeArrowheads="1"/>
          </p:cNvSpPr>
          <p:nvPr/>
        </p:nvSpPr>
        <p:spPr bwMode="auto">
          <a:xfrm>
            <a:off x="3925888" y="3611563"/>
            <a:ext cx="8747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Neighbors</a:t>
            </a:r>
          </a:p>
        </p:txBody>
      </p:sp>
      <p:sp>
        <p:nvSpPr>
          <p:cNvPr id="21564" name="Oval 84"/>
          <p:cNvSpPr>
            <a:spLocks noChangeArrowheads="1"/>
          </p:cNvSpPr>
          <p:nvPr/>
        </p:nvSpPr>
        <p:spPr bwMode="auto">
          <a:xfrm>
            <a:off x="3657600" y="3886200"/>
            <a:ext cx="685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zh-CN"/>
          </a:p>
        </p:txBody>
      </p:sp>
      <p:sp>
        <p:nvSpPr>
          <p:cNvPr id="21565" name="Text Box 85"/>
          <p:cNvSpPr txBox="1">
            <a:spLocks noChangeArrowheads="1"/>
          </p:cNvSpPr>
          <p:nvPr/>
        </p:nvSpPr>
        <p:spPr bwMode="auto">
          <a:xfrm>
            <a:off x="7772400" y="25146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21566" name="Rectangle 8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36422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457200" y="1752600"/>
            <a:ext cx="3733800" cy="2895600"/>
            <a:chOff x="192" y="816"/>
            <a:chExt cx="2976" cy="2208"/>
          </a:xfrm>
        </p:grpSpPr>
        <p:sp>
          <p:nvSpPr>
            <p:cNvPr id="22590" name="Oval 4"/>
            <p:cNvSpPr>
              <a:spLocks noChangeArrowheads="1"/>
            </p:cNvSpPr>
            <p:nvPr/>
          </p:nvSpPr>
          <p:spPr bwMode="auto">
            <a:xfrm>
              <a:off x="624" y="163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2</a:t>
              </a:r>
            </a:p>
          </p:txBody>
        </p:sp>
        <p:sp>
          <p:nvSpPr>
            <p:cNvPr id="22591" name="Oval 5"/>
            <p:cNvSpPr>
              <a:spLocks noChangeArrowheads="1"/>
            </p:cNvSpPr>
            <p:nvPr/>
          </p:nvSpPr>
          <p:spPr bwMode="auto">
            <a:xfrm>
              <a:off x="192" y="264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4</a:t>
              </a:r>
            </a:p>
          </p:txBody>
        </p:sp>
        <p:sp>
          <p:nvSpPr>
            <p:cNvPr id="22592" name="Oval 6"/>
            <p:cNvSpPr>
              <a:spLocks noChangeArrowheads="1"/>
            </p:cNvSpPr>
            <p:nvPr/>
          </p:nvSpPr>
          <p:spPr bwMode="auto">
            <a:xfrm>
              <a:off x="816" y="2304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3</a:t>
              </a:r>
            </a:p>
          </p:txBody>
        </p:sp>
        <p:sp>
          <p:nvSpPr>
            <p:cNvPr id="22593" name="Oval 7"/>
            <p:cNvSpPr>
              <a:spLocks noChangeArrowheads="1"/>
            </p:cNvSpPr>
            <p:nvPr/>
          </p:nvSpPr>
          <p:spPr bwMode="auto">
            <a:xfrm>
              <a:off x="1296" y="273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5</a:t>
              </a:r>
            </a:p>
          </p:txBody>
        </p:sp>
        <p:sp>
          <p:nvSpPr>
            <p:cNvPr id="22594" name="Oval 8"/>
            <p:cNvSpPr>
              <a:spLocks noChangeArrowheads="1"/>
            </p:cNvSpPr>
            <p:nvPr/>
          </p:nvSpPr>
          <p:spPr bwMode="auto">
            <a:xfrm>
              <a:off x="1392" y="192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1</a:t>
              </a:r>
            </a:p>
          </p:txBody>
        </p:sp>
        <p:sp>
          <p:nvSpPr>
            <p:cNvPr id="22595" name="Oval 9"/>
            <p:cNvSpPr>
              <a:spLocks noChangeArrowheads="1"/>
            </p:cNvSpPr>
            <p:nvPr/>
          </p:nvSpPr>
          <p:spPr bwMode="auto">
            <a:xfrm>
              <a:off x="1920" y="225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7</a:t>
              </a:r>
            </a:p>
          </p:txBody>
        </p:sp>
        <p:sp>
          <p:nvSpPr>
            <p:cNvPr id="22596" name="Oval 10"/>
            <p:cNvSpPr>
              <a:spLocks noChangeArrowheads="1"/>
            </p:cNvSpPr>
            <p:nvPr/>
          </p:nvSpPr>
          <p:spPr bwMode="auto">
            <a:xfrm>
              <a:off x="2880" y="249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6</a:t>
              </a:r>
            </a:p>
          </p:txBody>
        </p:sp>
        <p:sp>
          <p:nvSpPr>
            <p:cNvPr id="22597" name="Oval 11"/>
            <p:cNvSpPr>
              <a:spLocks noChangeArrowheads="1"/>
            </p:cNvSpPr>
            <p:nvPr/>
          </p:nvSpPr>
          <p:spPr bwMode="auto">
            <a:xfrm>
              <a:off x="2208" y="1680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9</a:t>
              </a:r>
            </a:p>
          </p:txBody>
        </p:sp>
        <p:sp>
          <p:nvSpPr>
            <p:cNvPr id="22598" name="Oval 12"/>
            <p:cNvSpPr>
              <a:spLocks noChangeArrowheads="1"/>
            </p:cNvSpPr>
            <p:nvPr/>
          </p:nvSpPr>
          <p:spPr bwMode="auto">
            <a:xfrm>
              <a:off x="1728" y="1152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8</a:t>
              </a:r>
            </a:p>
          </p:txBody>
        </p:sp>
        <p:sp>
          <p:nvSpPr>
            <p:cNvPr id="22599" name="Oval 13"/>
            <p:cNvSpPr>
              <a:spLocks noChangeArrowheads="1"/>
            </p:cNvSpPr>
            <p:nvPr/>
          </p:nvSpPr>
          <p:spPr bwMode="auto">
            <a:xfrm>
              <a:off x="720" y="816"/>
              <a:ext cx="288" cy="288"/>
            </a:xfrm>
            <a:prstGeom prst="ellipse">
              <a:avLst/>
            </a:prstGeom>
            <a:solidFill>
              <a:srgbClr val="E9B5B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zh-CN" sz="1800">
                  <a:latin typeface="Arial" charset="0"/>
                </a:rPr>
                <a:t>0</a:t>
              </a:r>
            </a:p>
          </p:txBody>
        </p:sp>
        <p:cxnSp>
          <p:nvCxnSpPr>
            <p:cNvPr id="22600" name="AutoShape 14"/>
            <p:cNvCxnSpPr>
              <a:cxnSpLocks noChangeShapeType="1"/>
              <a:stCxn id="22599" idx="6"/>
              <a:endCxn id="22598" idx="1"/>
            </p:cNvCxnSpPr>
            <p:nvPr/>
          </p:nvCxnSpPr>
          <p:spPr bwMode="auto">
            <a:xfrm>
              <a:off x="1008" y="960"/>
              <a:ext cx="76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1" name="AutoShape 15"/>
            <p:cNvCxnSpPr>
              <a:cxnSpLocks noChangeShapeType="1"/>
              <a:stCxn id="22598" idx="5"/>
              <a:endCxn id="22597" idx="1"/>
            </p:cNvCxnSpPr>
            <p:nvPr/>
          </p:nvCxnSpPr>
          <p:spPr bwMode="auto">
            <a:xfrm>
              <a:off x="1974" y="1398"/>
              <a:ext cx="276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2" name="AutoShape 16"/>
            <p:cNvCxnSpPr>
              <a:cxnSpLocks noChangeShapeType="1"/>
              <a:stCxn id="22597" idx="2"/>
              <a:endCxn id="22594" idx="7"/>
            </p:cNvCxnSpPr>
            <p:nvPr/>
          </p:nvCxnSpPr>
          <p:spPr bwMode="auto">
            <a:xfrm flipH="1">
              <a:off x="1638" y="1824"/>
              <a:ext cx="570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3" name="AutoShape 17"/>
            <p:cNvCxnSpPr>
              <a:cxnSpLocks noChangeShapeType="1"/>
              <a:stCxn id="22598" idx="3"/>
              <a:endCxn id="22590" idx="6"/>
            </p:cNvCxnSpPr>
            <p:nvPr/>
          </p:nvCxnSpPr>
          <p:spPr bwMode="auto">
            <a:xfrm flipH="1">
              <a:off x="912" y="1398"/>
              <a:ext cx="858" cy="37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4" name="AutoShape 18"/>
            <p:cNvCxnSpPr>
              <a:cxnSpLocks noChangeShapeType="1"/>
              <a:stCxn id="22590" idx="6"/>
              <a:endCxn id="22594" idx="1"/>
            </p:cNvCxnSpPr>
            <p:nvPr/>
          </p:nvCxnSpPr>
          <p:spPr bwMode="auto">
            <a:xfrm>
              <a:off x="912" y="1776"/>
              <a:ext cx="522" cy="18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5" name="AutoShape 19"/>
            <p:cNvCxnSpPr>
              <a:cxnSpLocks noChangeShapeType="1"/>
              <a:stCxn id="22590" idx="3"/>
              <a:endCxn id="22591" idx="0"/>
            </p:cNvCxnSpPr>
            <p:nvPr/>
          </p:nvCxnSpPr>
          <p:spPr bwMode="auto">
            <a:xfrm flipH="1">
              <a:off x="336" y="1878"/>
              <a:ext cx="330" cy="7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6" name="AutoShape 20"/>
            <p:cNvCxnSpPr>
              <a:cxnSpLocks noChangeShapeType="1"/>
              <a:stCxn id="22591" idx="6"/>
              <a:endCxn id="22592" idx="3"/>
            </p:cNvCxnSpPr>
            <p:nvPr/>
          </p:nvCxnSpPr>
          <p:spPr bwMode="auto">
            <a:xfrm flipV="1">
              <a:off x="480" y="2550"/>
              <a:ext cx="37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7" name="AutoShape 21"/>
            <p:cNvCxnSpPr>
              <a:cxnSpLocks noChangeShapeType="1"/>
              <a:stCxn id="22592" idx="7"/>
              <a:endCxn id="22594" idx="3"/>
            </p:cNvCxnSpPr>
            <p:nvPr/>
          </p:nvCxnSpPr>
          <p:spPr bwMode="auto">
            <a:xfrm flipV="1">
              <a:off x="1062" y="2166"/>
              <a:ext cx="372" cy="1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8" name="AutoShape 22"/>
            <p:cNvCxnSpPr>
              <a:cxnSpLocks noChangeShapeType="1"/>
              <a:stCxn id="22592" idx="5"/>
              <a:endCxn id="22593" idx="1"/>
            </p:cNvCxnSpPr>
            <p:nvPr/>
          </p:nvCxnSpPr>
          <p:spPr bwMode="auto">
            <a:xfrm>
              <a:off x="1062" y="2550"/>
              <a:ext cx="276" cy="2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09" name="AutoShape 23"/>
            <p:cNvCxnSpPr>
              <a:cxnSpLocks noChangeShapeType="1"/>
              <a:stCxn id="22593" idx="6"/>
              <a:endCxn id="22596" idx="2"/>
            </p:cNvCxnSpPr>
            <p:nvPr/>
          </p:nvCxnSpPr>
          <p:spPr bwMode="auto">
            <a:xfrm flipV="1">
              <a:off x="1584" y="2640"/>
              <a:ext cx="1296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0" name="AutoShape 24"/>
            <p:cNvCxnSpPr>
              <a:cxnSpLocks noChangeShapeType="1"/>
              <a:stCxn id="22594" idx="6"/>
              <a:endCxn id="22595" idx="1"/>
            </p:cNvCxnSpPr>
            <p:nvPr/>
          </p:nvCxnSpPr>
          <p:spPr bwMode="auto">
            <a:xfrm>
              <a:off x="1680" y="2064"/>
              <a:ext cx="282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611" name="AutoShape 25"/>
            <p:cNvCxnSpPr>
              <a:cxnSpLocks noChangeShapeType="1"/>
              <a:stCxn id="22595" idx="6"/>
              <a:endCxn id="22596" idx="1"/>
            </p:cNvCxnSpPr>
            <p:nvPr/>
          </p:nvCxnSpPr>
          <p:spPr bwMode="auto">
            <a:xfrm>
              <a:off x="2208" y="2400"/>
              <a:ext cx="714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2530" name="Object 26"/>
          <p:cNvGraphicFramePr>
            <a:graphicFrameLocks noChangeAspect="1"/>
          </p:cNvGraphicFramePr>
          <p:nvPr/>
        </p:nvGraphicFramePr>
        <p:xfrm>
          <a:off x="4876800" y="1676400"/>
          <a:ext cx="21082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6" name="Bitmap Image" r:id="rId3" imgW="2762636" imgH="4095238" progId="Paint.Picture">
                  <p:embed/>
                </p:oleObj>
              </mc:Choice>
              <mc:Fallback>
                <p:oleObj name="Bitmap Image" r:id="rId3" imgW="2762636" imgH="409523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676400"/>
                        <a:ext cx="210820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Text Box 27"/>
          <p:cNvSpPr txBox="1">
            <a:spLocks noChangeArrowheads="1"/>
          </p:cNvSpPr>
          <p:nvPr/>
        </p:nvSpPr>
        <p:spPr bwMode="auto">
          <a:xfrm>
            <a:off x="4876800" y="1295400"/>
            <a:ext cx="1657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Adjacency List</a:t>
            </a:r>
          </a:p>
        </p:txBody>
      </p:sp>
      <p:sp>
        <p:nvSpPr>
          <p:cNvPr id="22533" name="Text Box 28"/>
          <p:cNvSpPr txBox="1">
            <a:spLocks noChangeArrowheads="1"/>
          </p:cNvSpPr>
          <p:nvPr/>
        </p:nvSpPr>
        <p:spPr bwMode="auto">
          <a:xfrm>
            <a:off x="427038" y="2849563"/>
            <a:ext cx="63976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200">
                <a:latin typeface="Arial" charset="0"/>
              </a:rPr>
              <a:t>source</a:t>
            </a:r>
            <a:endParaRPr lang="en-US" altLang="zh-CN" sz="1200" b="1" i="1">
              <a:latin typeface="Arial" charset="0"/>
            </a:endParaRPr>
          </a:p>
        </p:txBody>
      </p:sp>
      <p:graphicFrame>
        <p:nvGraphicFramePr>
          <p:cNvPr id="498775" name="Group 87"/>
          <p:cNvGraphicFramePr>
            <a:graphicFrameLocks noGrp="1"/>
          </p:cNvGraphicFramePr>
          <p:nvPr/>
        </p:nvGraphicFramePr>
        <p:xfrm>
          <a:off x="7620000" y="1752600"/>
          <a:ext cx="254000" cy="2971800"/>
        </p:xfrm>
        <a:graphic>
          <a:graphicData uri="http://schemas.openxmlformats.org/drawingml/2006/table">
            <a:tbl>
              <a:tblPr/>
              <a:tblGrid>
                <a:gridCol w="25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558" name="Text Box 53"/>
          <p:cNvSpPr txBox="1">
            <a:spLocks noChangeArrowheads="1"/>
          </p:cNvSpPr>
          <p:nvPr/>
        </p:nvSpPr>
        <p:spPr bwMode="auto">
          <a:xfrm>
            <a:off x="6927850" y="1295400"/>
            <a:ext cx="2063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Visited Table (T/F)</a:t>
            </a:r>
          </a:p>
        </p:txBody>
      </p:sp>
      <p:graphicFrame>
        <p:nvGraphicFramePr>
          <p:cNvPr id="498774" name="Group 86"/>
          <p:cNvGraphicFramePr>
            <a:graphicFrameLocks noGrp="1"/>
          </p:cNvGraphicFramePr>
          <p:nvPr/>
        </p:nvGraphicFramePr>
        <p:xfrm>
          <a:off x="7875588" y="1752600"/>
          <a:ext cx="277812" cy="2971800"/>
        </p:xfrm>
        <a:graphic>
          <a:graphicData uri="http://schemas.openxmlformats.org/drawingml/2006/table">
            <a:tbl>
              <a:tblPr/>
              <a:tblGrid>
                <a:gridCol w="277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583" name="Text Box 78"/>
          <p:cNvSpPr txBox="1">
            <a:spLocks noChangeArrowheads="1"/>
          </p:cNvSpPr>
          <p:nvPr/>
        </p:nvSpPr>
        <p:spPr bwMode="auto">
          <a:xfrm>
            <a:off x="361950" y="5472113"/>
            <a:ext cx="622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latin typeface="Arial" charset="0"/>
              </a:rPr>
              <a:t>Q = </a:t>
            </a:r>
          </a:p>
        </p:txBody>
      </p:sp>
      <p:sp>
        <p:nvSpPr>
          <p:cNvPr id="22584" name="Text Box 79"/>
          <p:cNvSpPr txBox="1">
            <a:spLocks noChangeArrowheads="1"/>
          </p:cNvSpPr>
          <p:nvPr/>
        </p:nvSpPr>
        <p:spPr bwMode="auto">
          <a:xfrm>
            <a:off x="838200" y="5410200"/>
            <a:ext cx="527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Arial" charset="0"/>
              </a:rPr>
              <a:t>{  } </a:t>
            </a:r>
          </a:p>
          <a:p>
            <a:pPr eaLnBrk="1" hangingPunct="1"/>
            <a:r>
              <a:rPr lang="en-US" altLang="zh-CN" sz="1800">
                <a:latin typeface="Arial" charset="0"/>
              </a:rPr>
              <a:t> </a:t>
            </a:r>
          </a:p>
        </p:txBody>
      </p:sp>
      <p:sp>
        <p:nvSpPr>
          <p:cNvPr id="22585" name="Text Box 81"/>
          <p:cNvSpPr txBox="1">
            <a:spLocks noChangeArrowheads="1"/>
          </p:cNvSpPr>
          <p:nvPr/>
        </p:nvSpPr>
        <p:spPr bwMode="auto">
          <a:xfrm>
            <a:off x="3946525" y="2017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22586" name="Text Box 82"/>
          <p:cNvSpPr txBox="1">
            <a:spLocks noChangeArrowheads="1"/>
          </p:cNvSpPr>
          <p:nvPr/>
        </p:nvSpPr>
        <p:spPr bwMode="auto">
          <a:xfrm>
            <a:off x="1371600" y="5461000"/>
            <a:ext cx="2886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b="1">
                <a:latin typeface="Arial" charset="0"/>
              </a:rPr>
              <a:t>STOP!!!   Q is empty!!!</a:t>
            </a:r>
          </a:p>
        </p:txBody>
      </p:sp>
      <p:sp>
        <p:nvSpPr>
          <p:cNvPr id="22587" name="Text Box 84"/>
          <p:cNvSpPr txBox="1">
            <a:spLocks noChangeArrowheads="1"/>
          </p:cNvSpPr>
          <p:nvPr/>
        </p:nvSpPr>
        <p:spPr bwMode="auto">
          <a:xfrm>
            <a:off x="7086600" y="4495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>
              <a:latin typeface="Arial" charset="0"/>
            </a:endParaRPr>
          </a:p>
        </p:txBody>
      </p:sp>
      <p:sp>
        <p:nvSpPr>
          <p:cNvPr id="22588" name="Text Box 85"/>
          <p:cNvSpPr txBox="1">
            <a:spLocks noChangeArrowheads="1"/>
          </p:cNvSpPr>
          <p:nvPr/>
        </p:nvSpPr>
        <p:spPr bwMode="auto">
          <a:xfrm>
            <a:off x="5029200" y="5041900"/>
            <a:ext cx="366395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hlink"/>
                </a:solidFill>
                <a:latin typeface="Arial" charset="0"/>
              </a:rPr>
              <a:t>What did we discover?</a:t>
            </a:r>
          </a:p>
          <a:p>
            <a:pPr eaLnBrk="1" hangingPunct="1"/>
            <a:endParaRPr lang="en-US" altLang="zh-CN" sz="1800">
              <a:solidFill>
                <a:schemeClr val="hlink"/>
              </a:solidFill>
              <a:latin typeface="Arial" charset="0"/>
            </a:endParaRPr>
          </a:p>
          <a:p>
            <a:pPr eaLnBrk="1" hangingPunct="1"/>
            <a:r>
              <a:rPr lang="en-US" altLang="zh-CN" sz="1800">
                <a:latin typeface="Arial" charset="0"/>
              </a:rPr>
              <a:t>Look at “visited” tables.</a:t>
            </a:r>
          </a:p>
          <a:p>
            <a:pPr eaLnBrk="1" hangingPunct="1"/>
            <a:endParaRPr lang="en-US" altLang="zh-CN" sz="1800">
              <a:latin typeface="Arial" charset="0"/>
            </a:endParaRP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There exists a path from source</a:t>
            </a:r>
          </a:p>
          <a:p>
            <a:pPr eaLnBrk="1" hangingPunct="1"/>
            <a:r>
              <a:rPr lang="en-US" altLang="zh-CN" sz="1800">
                <a:solidFill>
                  <a:schemeClr val="accent1"/>
                </a:solidFill>
                <a:latin typeface="Arial" charset="0"/>
              </a:rPr>
              <a:t>vertex 2 to all vertices in the graph</a:t>
            </a:r>
          </a:p>
        </p:txBody>
      </p:sp>
      <p:sp>
        <p:nvSpPr>
          <p:cNvPr id="22589" name="Rectangle 8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BFS Example (Cont</a:t>
            </a:r>
            <a:r>
              <a:rPr lang="en-US" altLang="zh-CN">
                <a:latin typeface="Arial" charset="0"/>
                <a:ea typeface="宋体" pitchFamily="2" charset="-122"/>
              </a:rPr>
              <a:t>’</a:t>
            </a:r>
            <a:r>
              <a:rPr lang="en-US" altLang="zh-CN">
                <a:ea typeface="宋体" pitchFamily="2" charset="-122"/>
              </a:rPr>
              <a:t>d)</a:t>
            </a:r>
            <a:endParaRPr lang="zh-CN" altLang="en-US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0032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itchFamily="2" charset="-122"/>
              </a:rPr>
              <a:t>Time Complexity of BFS</a:t>
            </a:r>
            <a:br>
              <a:rPr lang="en-US" altLang="zh-CN" sz="3200">
                <a:ea typeface="宋体" pitchFamily="2" charset="-122"/>
              </a:rPr>
            </a:br>
            <a:r>
              <a:rPr lang="en-US" altLang="zh-CN" sz="2000">
                <a:ea typeface="宋体" pitchFamily="2" charset="-122"/>
              </a:rPr>
              <a:t>(Using Adjacency List)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zh-CN" sz="2000">
                <a:ea typeface="宋体" pitchFamily="2" charset="-122"/>
              </a:rPr>
              <a:t>Assume adjacency list</a:t>
            </a:r>
          </a:p>
          <a:p>
            <a:pPr lvl="1" eaLnBrk="1" hangingPunct="1"/>
            <a:r>
              <a:rPr lang="en-US" altLang="zh-CN" sz="1800">
                <a:ea typeface="宋体" pitchFamily="2" charset="-122"/>
              </a:rPr>
              <a:t>n = number of vertices   m = number of edges</a:t>
            </a:r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90800"/>
            <a:ext cx="4648200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9718" name="Line 6"/>
          <p:cNvSpPr>
            <a:spLocks noChangeShapeType="1"/>
          </p:cNvSpPr>
          <p:nvPr/>
        </p:nvSpPr>
        <p:spPr bwMode="auto">
          <a:xfrm flipH="1">
            <a:off x="3200400" y="5257800"/>
            <a:ext cx="20574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9719" name="Line 7"/>
          <p:cNvSpPr>
            <a:spLocks noChangeShapeType="1"/>
          </p:cNvSpPr>
          <p:nvPr/>
        </p:nvSpPr>
        <p:spPr bwMode="auto">
          <a:xfrm flipH="1">
            <a:off x="3200400" y="4724400"/>
            <a:ext cx="20574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9720" name="Text Box 8"/>
          <p:cNvSpPr txBox="1">
            <a:spLocks noChangeArrowheads="1"/>
          </p:cNvSpPr>
          <p:nvPr/>
        </p:nvSpPr>
        <p:spPr bwMode="auto">
          <a:xfrm>
            <a:off x="5313363" y="4435475"/>
            <a:ext cx="29337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Arial" charset="0"/>
              </a:rPr>
              <a:t>Each vertex will enter Q </a:t>
            </a:r>
            <a:br>
              <a:rPr lang="en-US" altLang="zh-CN" sz="2000" dirty="0">
                <a:latin typeface="Arial" charset="0"/>
              </a:rPr>
            </a:br>
            <a:r>
              <a:rPr lang="en-US" altLang="zh-CN" sz="2000" dirty="0">
                <a:latin typeface="Arial" charset="0"/>
              </a:rPr>
              <a:t>at most once.</a:t>
            </a:r>
          </a:p>
        </p:txBody>
      </p:sp>
      <p:sp>
        <p:nvSpPr>
          <p:cNvPr id="499721" name="Text Box 9"/>
          <p:cNvSpPr txBox="1">
            <a:spLocks noChangeArrowheads="1"/>
          </p:cNvSpPr>
          <p:nvPr/>
        </p:nvSpPr>
        <p:spPr bwMode="auto">
          <a:xfrm>
            <a:off x="5313363" y="5137149"/>
            <a:ext cx="38862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Arial" charset="0"/>
              </a:rPr>
              <a:t>Each iteration takes time proportional to </a:t>
            </a:r>
            <a:r>
              <a:rPr lang="en-US" altLang="zh-CN" sz="2000" dirty="0" err="1">
                <a:latin typeface="Arial" charset="0"/>
              </a:rPr>
              <a:t>deg</a:t>
            </a:r>
            <a:r>
              <a:rPr lang="en-US" altLang="zh-CN" sz="2000" dirty="0">
                <a:latin typeface="Arial" charset="0"/>
              </a:rPr>
              <a:t>(v) + 1  (the number 1 is to account for the case where </a:t>
            </a:r>
            <a:r>
              <a:rPr lang="en-US" altLang="zh-CN" sz="2000" dirty="0" err="1">
                <a:latin typeface="Arial" charset="0"/>
              </a:rPr>
              <a:t>deg</a:t>
            </a:r>
            <a:r>
              <a:rPr lang="en-US" altLang="zh-CN" sz="2000" dirty="0">
                <a:latin typeface="Arial" charset="0"/>
              </a:rPr>
              <a:t>(v) = 0 --- the work required is 1, not 0).</a:t>
            </a:r>
          </a:p>
        </p:txBody>
      </p:sp>
      <p:sp>
        <p:nvSpPr>
          <p:cNvPr id="499723" name="Text Box 11"/>
          <p:cNvSpPr txBox="1">
            <a:spLocks noChangeArrowheads="1"/>
          </p:cNvSpPr>
          <p:nvPr/>
        </p:nvSpPr>
        <p:spPr bwMode="auto">
          <a:xfrm>
            <a:off x="6172200" y="2667000"/>
            <a:ext cx="2070100" cy="66040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latin typeface="Arial" charset="0"/>
              </a:rPr>
              <a:t>O(n + m)</a:t>
            </a:r>
          </a:p>
        </p:txBody>
      </p:sp>
    </p:spTree>
    <p:extLst>
      <p:ext uri="{BB962C8B-B14F-4D97-AF65-F5344CB8AC3E}">
        <p14:creationId xmlns:p14="http://schemas.microsoft.com/office/powerpoint/2010/main" val="109731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8" grpId="0" animBg="1"/>
      <p:bldP spid="499719" grpId="0" animBg="1"/>
      <p:bldP spid="499720" grpId="0"/>
      <p:bldP spid="499721" grpId="0"/>
      <p:bldP spid="4997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Running Time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2400" dirty="0">
                <a:ea typeface="宋体" pitchFamily="2" charset="-122"/>
              </a:rPr>
              <a:t>Total time for the </a:t>
            </a:r>
            <a:r>
              <a:rPr lang="en-US" altLang="zh-CN" sz="2400" dirty="0" err="1">
                <a:ea typeface="宋体" pitchFamily="2" charset="-122"/>
              </a:rPr>
              <a:t>enqueue</a:t>
            </a:r>
            <a:r>
              <a:rPr lang="en-US" altLang="zh-CN" sz="2400" dirty="0">
                <a:ea typeface="宋体" pitchFamily="2" charset="-122"/>
              </a:rPr>
              <a:t> and </a:t>
            </a:r>
            <a:r>
              <a:rPr lang="en-US" altLang="zh-CN" sz="2400" dirty="0" err="1">
                <a:ea typeface="宋体" pitchFamily="2" charset="-122"/>
              </a:rPr>
              <a:t>deqeue</a:t>
            </a:r>
            <a:r>
              <a:rPr lang="en-US" altLang="zh-CN" sz="2400" dirty="0">
                <a:ea typeface="宋体" pitchFamily="2" charset="-122"/>
              </a:rPr>
              <a:t> operations: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O(n)</a:t>
            </a:r>
          </a:p>
          <a:p>
            <a:pPr eaLnBrk="1" hangingPunct="1"/>
            <a:endParaRPr lang="en-US" altLang="zh-CN" sz="2400" dirty="0">
              <a:ea typeface="宋体" pitchFamily="2" charset="-122"/>
            </a:endParaRP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Recall: Given a graph with m edges, what is the total degree?</a:t>
            </a:r>
          </a:p>
          <a:p>
            <a:pPr marL="0" indent="0" eaLnBrk="1" hangingPunct="1">
              <a:buNone/>
            </a:pPr>
            <a:endParaRPr lang="en-US" altLang="zh-CN" sz="2400" dirty="0">
              <a:ea typeface="宋体" pitchFamily="2" charset="-122"/>
            </a:endParaRPr>
          </a:p>
          <a:p>
            <a:pPr eaLnBrk="1" hangingPunct="1"/>
            <a:r>
              <a:rPr lang="en-US" altLang="zh-CN" sz="2400" dirty="0">
                <a:ea typeface="宋体" pitchFamily="2" charset="-122"/>
              </a:rPr>
              <a:t>Total time for processing adjacent vertices:</a:t>
            </a:r>
          </a:p>
          <a:p>
            <a:pPr eaLnBrk="1" hangingPunct="1"/>
            <a:endParaRPr lang="en-US" altLang="zh-CN" sz="2400" dirty="0">
              <a:ea typeface="宋体" pitchFamily="2" charset="-122"/>
            </a:endParaRPr>
          </a:p>
          <a:p>
            <a:pPr eaLnBrk="1" hangingPunct="1"/>
            <a:endParaRPr lang="en-US" altLang="zh-CN" sz="2400" dirty="0">
              <a:ea typeface="宋体" pitchFamily="2" charset="-122"/>
            </a:endParaRPr>
          </a:p>
          <a:p>
            <a:pPr marL="361950" indent="0" eaLnBrk="1" hangingPunct="1">
              <a:buFont typeface="Wingdings" pitchFamily="2" charset="2"/>
              <a:buNone/>
            </a:pPr>
            <a:r>
              <a:rPr lang="en-US" altLang="zh-CN" sz="2400" dirty="0">
                <a:ea typeface="宋体" pitchFamily="2" charset="-122"/>
              </a:rPr>
              <a:t>This is summing over all the iterations in the while loop!</a:t>
            </a:r>
          </a:p>
          <a:p>
            <a:r>
              <a:rPr lang="en-US" altLang="zh-CN" sz="2400" dirty="0">
                <a:ea typeface="宋体" pitchFamily="2" charset="-122"/>
              </a:rPr>
              <a:t>The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total</a:t>
            </a:r>
            <a:r>
              <a:rPr lang="en-US" altLang="zh-CN" sz="2400" dirty="0">
                <a:ea typeface="宋体" pitchFamily="2" charset="-122"/>
              </a:rPr>
              <a:t> running time is then: </a:t>
            </a:r>
            <a:r>
              <a:rPr lang="en-US" altLang="zh-CN" sz="2400" dirty="0">
                <a:solidFill>
                  <a:schemeClr val="accent1"/>
                </a:solidFill>
                <a:ea typeface="宋体" pitchFamily="2" charset="-122"/>
              </a:rPr>
              <a:t>O(n + m)</a:t>
            </a:r>
          </a:p>
          <a:p>
            <a:pPr eaLnBrk="1" hangingPunct="1"/>
            <a:endParaRPr lang="zh-CN" altLang="en-US" sz="2400" dirty="0">
              <a:ea typeface="宋体" pitchFamily="2" charset="-122"/>
            </a:endParaRP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2774212" y="4221494"/>
            <a:ext cx="3581400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charset="0"/>
              </a:rPr>
              <a:t>O( </a:t>
            </a:r>
            <a:r>
              <a:rPr lang="el-GR" altLang="zh-CN" dirty="0">
                <a:latin typeface="Arial" charset="0"/>
              </a:rPr>
              <a:t>Σ</a:t>
            </a:r>
            <a:r>
              <a:rPr lang="en-US" altLang="zh-CN" baseline="-25000" dirty="0">
                <a:latin typeface="Arial" charset="0"/>
              </a:rPr>
              <a:t>vertex </a:t>
            </a:r>
            <a:r>
              <a:rPr lang="en-US" altLang="zh-CN" i="1" baseline="-25000" dirty="0">
                <a:latin typeface="Arial" charset="0"/>
              </a:rPr>
              <a:t>v  </a:t>
            </a:r>
            <a:r>
              <a:rPr lang="en-US" altLang="zh-CN" dirty="0">
                <a:latin typeface="Arial" charset="0"/>
              </a:rPr>
              <a:t>(</a:t>
            </a:r>
            <a:r>
              <a:rPr lang="en-US" altLang="zh-CN" dirty="0" err="1">
                <a:latin typeface="Arial" charset="0"/>
              </a:rPr>
              <a:t>deg</a:t>
            </a:r>
            <a:r>
              <a:rPr lang="en-US" altLang="zh-CN" dirty="0">
                <a:latin typeface="Arial" charset="0"/>
              </a:rPr>
              <a:t>(v)</a:t>
            </a:r>
            <a:r>
              <a:rPr lang="en-US" altLang="zh-CN" i="1" dirty="0">
                <a:latin typeface="Arial" charset="0"/>
              </a:rPr>
              <a:t> + </a:t>
            </a:r>
            <a:r>
              <a:rPr lang="en-US" altLang="zh-CN" dirty="0">
                <a:latin typeface="Arial" charset="0"/>
              </a:rPr>
              <a:t>1) )</a:t>
            </a:r>
            <a:r>
              <a:rPr lang="en-US" altLang="zh-CN" i="1" dirty="0">
                <a:latin typeface="Arial" charset="0"/>
              </a:rPr>
              <a:t> = </a:t>
            </a:r>
            <a:r>
              <a:rPr lang="en-US" altLang="zh-CN" dirty="0">
                <a:solidFill>
                  <a:schemeClr val="accent1"/>
                </a:solidFill>
                <a:latin typeface="Arial" charset="0"/>
              </a:rPr>
              <a:t>O(m)</a:t>
            </a: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3162300" y="2971800"/>
            <a:ext cx="2819400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charset="0"/>
              </a:rPr>
              <a:t> </a:t>
            </a:r>
            <a:r>
              <a:rPr lang="el-GR" altLang="zh-CN" dirty="0">
                <a:latin typeface="Arial" charset="0"/>
              </a:rPr>
              <a:t>Σ</a:t>
            </a:r>
            <a:r>
              <a:rPr lang="en-US" altLang="zh-CN" baseline="-25000" dirty="0">
                <a:latin typeface="Arial" charset="0"/>
              </a:rPr>
              <a:t>vertex </a:t>
            </a:r>
            <a:r>
              <a:rPr lang="en-US" altLang="zh-CN" i="1" baseline="-25000" dirty="0">
                <a:latin typeface="Arial" charset="0"/>
              </a:rPr>
              <a:t>v  </a:t>
            </a:r>
            <a:r>
              <a:rPr lang="en-US" altLang="zh-CN" dirty="0">
                <a:latin typeface="Arial" charset="0"/>
              </a:rPr>
              <a:t> </a:t>
            </a:r>
            <a:r>
              <a:rPr lang="en-US" altLang="zh-CN" dirty="0" err="1">
                <a:latin typeface="Arial" charset="0"/>
              </a:rPr>
              <a:t>deg</a:t>
            </a:r>
            <a:r>
              <a:rPr lang="en-US" altLang="zh-CN" dirty="0">
                <a:latin typeface="Arial" charset="0"/>
              </a:rPr>
              <a:t>(v)</a:t>
            </a:r>
            <a:r>
              <a:rPr lang="en-US" altLang="zh-CN" i="1" dirty="0">
                <a:latin typeface="Arial" charset="0"/>
              </a:rPr>
              <a:t>  =</a:t>
            </a:r>
            <a:r>
              <a:rPr lang="en-US" altLang="zh-CN" dirty="0">
                <a:latin typeface="Arial" charset="0"/>
              </a:rPr>
              <a:t>  2m</a:t>
            </a:r>
          </a:p>
        </p:txBody>
      </p:sp>
    </p:spTree>
    <p:extLst>
      <p:ext uri="{BB962C8B-B14F-4D97-AF65-F5344CB8AC3E}">
        <p14:creationId xmlns:p14="http://schemas.microsoft.com/office/powerpoint/2010/main" val="1262245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>
                <a:ea typeface="宋体" pitchFamily="2" charset="-122"/>
              </a:rPr>
              <a:t>Time Complexity of BFS</a:t>
            </a:r>
            <a:br>
              <a:rPr lang="en-US" altLang="zh-CN" sz="3200">
                <a:ea typeface="宋体" pitchFamily="2" charset="-122"/>
              </a:rPr>
            </a:br>
            <a:r>
              <a:rPr lang="en-US" altLang="zh-CN" sz="2000">
                <a:ea typeface="宋体" pitchFamily="2" charset="-122"/>
              </a:rPr>
              <a:t>(Using Adjacency Matrix)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zh-CN" sz="2000">
                <a:ea typeface="宋体" pitchFamily="2" charset="-122"/>
              </a:rPr>
              <a:t>Assume adjacency list</a:t>
            </a:r>
          </a:p>
          <a:p>
            <a:pPr lvl="1" eaLnBrk="1" hangingPunct="1"/>
            <a:r>
              <a:rPr lang="en-US" altLang="zh-CN" sz="1800">
                <a:ea typeface="宋体" pitchFamily="2" charset="-122"/>
              </a:rPr>
              <a:t>n = number of vertices   m = number of edges</a:t>
            </a:r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90800"/>
            <a:ext cx="4648200" cy="362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Line 5"/>
          <p:cNvSpPr>
            <a:spLocks noChangeShapeType="1"/>
          </p:cNvSpPr>
          <p:nvPr/>
        </p:nvSpPr>
        <p:spPr bwMode="auto">
          <a:xfrm flipH="1">
            <a:off x="3200400" y="5257800"/>
            <a:ext cx="2057400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8" name="Text Box 8"/>
          <p:cNvSpPr txBox="1">
            <a:spLocks noChangeArrowheads="1"/>
          </p:cNvSpPr>
          <p:nvPr/>
        </p:nvSpPr>
        <p:spPr bwMode="auto">
          <a:xfrm>
            <a:off x="5334000" y="4267200"/>
            <a:ext cx="3352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latin typeface="Arial" charset="0"/>
              </a:rPr>
              <a:t>Finding the adjacent vertices of v requires checking all elements in the matrix row. This takes linear time O(n).</a:t>
            </a:r>
          </a:p>
          <a:p>
            <a:pPr eaLnBrk="1" hangingPunct="1"/>
            <a:endParaRPr lang="en-US" altLang="zh-CN" sz="1800" dirty="0">
              <a:latin typeface="Arial" charset="0"/>
            </a:endParaRPr>
          </a:p>
          <a:p>
            <a:pPr eaLnBrk="1" hangingPunct="1"/>
            <a:r>
              <a:rPr lang="en-US" altLang="zh-CN" sz="1800" dirty="0">
                <a:latin typeface="Arial" charset="0"/>
              </a:rPr>
              <a:t>Summing over all the n iterations, the total running time is O(n</a:t>
            </a:r>
            <a:r>
              <a:rPr lang="en-US" altLang="zh-CN" sz="1800" baseline="30000" dirty="0">
                <a:latin typeface="Arial" charset="0"/>
              </a:rPr>
              <a:t>2</a:t>
            </a:r>
            <a:r>
              <a:rPr lang="en-US" altLang="zh-CN" sz="1800" dirty="0">
                <a:latin typeface="Arial" charset="0"/>
              </a:rPr>
              <a:t>).</a:t>
            </a:r>
          </a:p>
        </p:txBody>
      </p:sp>
      <p:sp>
        <p:nvSpPr>
          <p:cNvPr id="500745" name="Text Box 9"/>
          <p:cNvSpPr txBox="1">
            <a:spLocks noChangeArrowheads="1"/>
          </p:cNvSpPr>
          <p:nvPr/>
        </p:nvSpPr>
        <p:spPr bwMode="auto">
          <a:xfrm>
            <a:off x="6172200" y="2667000"/>
            <a:ext cx="1312863" cy="66040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latin typeface="Arial" charset="0"/>
              </a:rPr>
              <a:t>O(n</a:t>
            </a:r>
            <a:r>
              <a:rPr lang="en-US" altLang="zh-CN" sz="3600" b="1" baseline="30000" dirty="0">
                <a:latin typeface="Arial" charset="0"/>
              </a:rPr>
              <a:t>2</a:t>
            </a:r>
            <a:r>
              <a:rPr lang="en-US" altLang="zh-CN" sz="3600" b="1" dirty="0">
                <a:latin typeface="Arial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5741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 dirty="0">
                <a:ea typeface="宋体" pitchFamily="2" charset="-122"/>
              </a:rPr>
              <a:t>Time Complexity of BFS</a:t>
            </a:r>
            <a:endParaRPr lang="en-US" altLang="zh-CN" sz="2000" dirty="0">
              <a:ea typeface="宋体" pitchFamily="2" charset="-122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05800" cy="495300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ea typeface="宋体" pitchFamily="2" charset="-122"/>
              </a:rPr>
              <a:t>When using an adjacency matrix, BFS is O(n</a:t>
            </a:r>
            <a:r>
              <a:rPr lang="en-US" altLang="zh-CN" sz="2800" baseline="30000" dirty="0">
                <a:ea typeface="宋体" pitchFamily="2" charset="-122"/>
              </a:rPr>
              <a:t>2</a:t>
            </a:r>
            <a:r>
              <a:rPr lang="en-US" altLang="zh-CN" sz="2800" dirty="0">
                <a:ea typeface="宋体" pitchFamily="2" charset="-122"/>
              </a:rPr>
              <a:t>), independent of the number of edges m.</a:t>
            </a:r>
          </a:p>
          <a:p>
            <a:endParaRPr lang="en-US" altLang="zh-CN" sz="16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When using an adjacency list, BFS is O(n + m).</a:t>
            </a:r>
          </a:p>
          <a:p>
            <a:endParaRPr lang="en-US" altLang="zh-CN" sz="1600" dirty="0">
              <a:ea typeface="宋体" pitchFamily="2" charset="-122"/>
            </a:endParaRPr>
          </a:p>
          <a:p>
            <a:r>
              <a:rPr lang="en-US" altLang="zh-CN" sz="2800" dirty="0">
                <a:ea typeface="宋体" pitchFamily="2" charset="-122"/>
              </a:rPr>
              <a:t>If the graph is dense then m = O(n</a:t>
            </a:r>
            <a:r>
              <a:rPr lang="en-US" altLang="zh-CN" sz="2800" baseline="30000" dirty="0">
                <a:ea typeface="宋体" pitchFamily="2" charset="-122"/>
              </a:rPr>
              <a:t>2</a:t>
            </a:r>
            <a:r>
              <a:rPr lang="en-US" altLang="zh-CN" sz="2800" dirty="0">
                <a:ea typeface="宋体" pitchFamily="2" charset="-122"/>
              </a:rPr>
              <a:t>) and then O(n + m)=O(n</a:t>
            </a:r>
            <a:r>
              <a:rPr lang="en-US" altLang="zh-CN" sz="2800" baseline="30000" dirty="0">
                <a:ea typeface="宋体" pitchFamily="2" charset="-122"/>
              </a:rPr>
              <a:t>2</a:t>
            </a:r>
            <a:r>
              <a:rPr lang="en-US" altLang="zh-CN" sz="2800" dirty="0">
                <a:ea typeface="宋体" pitchFamily="2" charset="-122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88047943"/>
      </p:ext>
    </p:extLst>
  </p:cSld>
  <p:clrMapOvr>
    <a:masterClrMapping/>
  </p:clrMapOvr>
</p:sld>
</file>

<file path=ppt/theme/theme1.xml><?xml version="1.0" encoding="utf-8"?>
<a:theme xmlns:a="http://schemas.openxmlformats.org/drawingml/2006/main" name="知识图谱及其应用">
  <a:themeElements>
    <a:clrScheme name="Custom 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699FF"/>
      </a:accent1>
      <a:accent2>
        <a:srgbClr val="C0504D"/>
      </a:accent2>
      <a:accent3>
        <a:srgbClr val="4F79FF"/>
      </a:accent3>
      <a:accent4>
        <a:srgbClr val="6699FF"/>
      </a:accent4>
      <a:accent5>
        <a:srgbClr val="4BACC6"/>
      </a:accent5>
      <a:accent6>
        <a:srgbClr val="548DD4"/>
      </a:accent6>
      <a:hlink>
        <a:srgbClr val="4F81BD"/>
      </a:hlink>
      <a:folHlink>
        <a:srgbClr val="C2BB93"/>
      </a:folHlink>
    </a:clrScheme>
    <a:fontScheme name="Custom 1">
      <a:majorFont>
        <a:latin typeface="Verdana"/>
        <a:ea typeface=""/>
        <a:cs typeface=""/>
      </a:majorFont>
      <a:minorFont>
        <a:latin typeface="微软雅黑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Lec9 - Binary Search Trees</Template>
  <TotalTime>1233</TotalTime>
  <Words>2832</Words>
  <Application>Microsoft Office PowerPoint</Application>
  <PresentationFormat>On-screen Show (4:3)</PresentationFormat>
  <Paragraphs>905</Paragraphs>
  <Slides>36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Monotype Sorts</vt:lpstr>
      <vt:lpstr>微软雅黑</vt:lpstr>
      <vt:lpstr>微软雅黑 Light</vt:lpstr>
      <vt:lpstr>Arial</vt:lpstr>
      <vt:lpstr>Calibri</vt:lpstr>
      <vt:lpstr>Tahoma</vt:lpstr>
      <vt:lpstr>Verdana</vt:lpstr>
      <vt:lpstr>Wingdings</vt:lpstr>
      <vt:lpstr>知识图谱及其应用</vt:lpstr>
      <vt:lpstr>Bitmap Image</vt:lpstr>
      <vt:lpstr>Equation</vt:lpstr>
      <vt:lpstr>PowerPoint Presentation</vt:lpstr>
      <vt:lpstr>Graphs</vt:lpstr>
      <vt:lpstr>Application 1</vt:lpstr>
      <vt:lpstr>Application 2</vt:lpstr>
      <vt:lpstr>Definition</vt:lpstr>
      <vt:lpstr>Terminology</vt:lpstr>
      <vt:lpstr>Graph Representation</vt:lpstr>
      <vt:lpstr>Adjacency Matrix</vt:lpstr>
      <vt:lpstr>Adjacency List</vt:lpstr>
      <vt:lpstr>Adjacency Matrix Example</vt:lpstr>
      <vt:lpstr>Adjacency List Example</vt:lpstr>
      <vt:lpstr>Storage of Adjacency List</vt:lpstr>
      <vt:lpstr>Adjacency List vs. Matrix</vt:lpstr>
      <vt:lpstr>Path between Vertices</vt:lpstr>
      <vt:lpstr>Types of paths</vt:lpstr>
      <vt:lpstr>Path Examples</vt:lpstr>
      <vt:lpstr>Graph Traversal</vt:lpstr>
      <vt:lpstr>BFS and Shortest Path Problem</vt:lpstr>
      <vt:lpstr>BFS Algorithm</vt:lpstr>
      <vt:lpstr>BFS Example</vt:lpstr>
      <vt:lpstr>BFS Example (Cont’d)</vt:lpstr>
      <vt:lpstr>BFS Example (Cont’d)</vt:lpstr>
      <vt:lpstr>BFS Example (Cont’d)</vt:lpstr>
      <vt:lpstr>BFS Example (Cont’d)</vt:lpstr>
      <vt:lpstr>BFS Example (Cont’d)</vt:lpstr>
      <vt:lpstr>BFS Example (Cont’d)</vt:lpstr>
      <vt:lpstr>BFS Example (Cont’d)</vt:lpstr>
      <vt:lpstr>BFS Example (Cont’d)</vt:lpstr>
      <vt:lpstr>BFS Example (Cont’d)</vt:lpstr>
      <vt:lpstr>BFS Example (Cont’d)</vt:lpstr>
      <vt:lpstr>BFS Example (Cont’d)</vt:lpstr>
      <vt:lpstr>BFS Example (Cont’d)</vt:lpstr>
      <vt:lpstr>Time Complexity of BFS (Using Adjacency List)</vt:lpstr>
      <vt:lpstr>Running Time</vt:lpstr>
      <vt:lpstr>Time Complexity of BFS (Using Adjacency Matrix)</vt:lpstr>
      <vt:lpstr>Time Complexity of BFS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UIC</dc:creator>
  <cp:lastModifiedBy>Jing ZHAO</cp:lastModifiedBy>
  <cp:revision>143</cp:revision>
  <dcterms:created xsi:type="dcterms:W3CDTF">2006-08-16T00:00:00Z</dcterms:created>
  <dcterms:modified xsi:type="dcterms:W3CDTF">2025-12-04T03:11:23Z</dcterms:modified>
</cp:coreProperties>
</file>