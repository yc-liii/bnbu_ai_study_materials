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7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95" autoAdjust="0"/>
    <p:restoredTop sz="94660"/>
  </p:normalViewPr>
  <p:slideViewPr>
    <p:cSldViewPr>
      <p:cViewPr varScale="1">
        <p:scale>
          <a:sx n="113" d="100"/>
          <a:sy n="113" d="100"/>
        </p:scale>
        <p:origin x="13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CF215-757D-448D-AEAA-F4348FA1978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E951D-57D1-422E-8A36-49203CB59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5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34C51F8-4206-4F2B-91B5-8A93EFF2332E}" type="slidenum">
              <a:rPr lang="zh-CN" altLang="en-US" sz="1200">
                <a:latin typeface="Arial" charset="0"/>
              </a:rPr>
              <a:pPr eaLnBrk="1" hangingPunct="1"/>
              <a:t>2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27F28A3-CD19-41EE-965D-6BCBFE1C611C}" type="slidenum">
              <a:rPr lang="zh-CN" altLang="en-US" sz="1200">
                <a:latin typeface="Arial" charset="0"/>
              </a:rPr>
              <a:pPr eaLnBrk="1" hangingPunct="1"/>
              <a:t>3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8905CEE-8055-4923-A2A6-6E1174B80BC1}" type="slidenum">
              <a:rPr lang="zh-CN" altLang="en-US" sz="1200">
                <a:latin typeface="Arial" charset="0"/>
              </a:rPr>
              <a:pPr eaLnBrk="1" hangingPunct="1"/>
              <a:t>4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5A0B5BB-137B-406C-B258-FF3BCB0706CD}" type="slidenum">
              <a:rPr lang="zh-CN" altLang="en-US" sz="1200">
                <a:latin typeface="Arial" charset="0"/>
              </a:rPr>
              <a:pPr eaLnBrk="1" hangingPunct="1"/>
              <a:t>5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48E864A-5573-4127-B1DC-3CA573E54023}" type="slidenum">
              <a:rPr lang="zh-CN" altLang="en-US" sz="1200">
                <a:latin typeface="Arial" charset="0"/>
              </a:rPr>
              <a:pPr eaLnBrk="1" hangingPunct="1"/>
              <a:t>6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29FF982-B3C4-4CCA-9F7D-D6ED32BF724B}" type="slidenum">
              <a:rPr lang="zh-CN" altLang="en-US" sz="1200">
                <a:latin typeface="Arial" charset="0"/>
              </a:rPr>
              <a:pPr eaLnBrk="1" hangingPunct="1"/>
              <a:t>7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30259A7-62BC-4D13-9456-71143FFEFF72}" type="slidenum">
              <a:rPr lang="zh-CN" altLang="en-US" sz="1200">
                <a:latin typeface="Arial" charset="0"/>
              </a:rPr>
              <a:pPr eaLnBrk="1" hangingPunct="1"/>
              <a:t>8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503B40-741A-46CE-9F70-737B2374E2DE}" type="slidenum">
              <a:rPr lang="zh-CN" altLang="en-US" sz="1200">
                <a:latin typeface="Arial" charset="0"/>
              </a:rPr>
              <a:pPr eaLnBrk="1" hangingPunct="1"/>
              <a:t>9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39A287B-6E94-4985-99A0-95571638104A}" type="slidenum">
              <a:rPr lang="zh-CN" altLang="en-US" sz="1200">
                <a:latin typeface="Arial" charset="0"/>
              </a:rPr>
              <a:pPr eaLnBrk="1" hangingPunct="1"/>
              <a:t>10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74F3D35-F3F7-4B8F-AF57-E31DEE68BE2A}" type="slidenum">
              <a:rPr lang="zh-CN" altLang="en-US" sz="1200">
                <a:latin typeface="Arial" charset="0"/>
              </a:rPr>
              <a:pPr eaLnBrk="1" hangingPunct="1"/>
              <a:t>11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9D1A9F1-989F-4E82-9805-1AE393E17269}" type="slidenum">
              <a:rPr lang="zh-CN" altLang="en-US" sz="1200">
                <a:latin typeface="Arial" charset="0"/>
              </a:rPr>
              <a:pPr eaLnBrk="1" hangingPunct="1"/>
              <a:t>12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3747913-E4B2-4238-B786-4B68D4CFC478}" type="slidenum">
              <a:rPr lang="zh-CN" altLang="en-US" sz="1200">
                <a:latin typeface="Arial" charset="0"/>
              </a:rPr>
              <a:pPr eaLnBrk="1" hangingPunct="1"/>
              <a:t>13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A61AABD-0A0A-4873-9DA5-7C7DBD758289}" type="slidenum">
              <a:rPr lang="zh-CN" altLang="en-US" sz="1200">
                <a:latin typeface="Arial" charset="0"/>
              </a:rPr>
              <a:pPr eaLnBrk="1" hangingPunct="1"/>
              <a:t>14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AD13C4A-B55A-4C6D-948D-8113C407E72A}" type="slidenum">
              <a:rPr lang="zh-CN" altLang="en-US" sz="1200">
                <a:latin typeface="Arial" charset="0"/>
              </a:rPr>
              <a:pPr eaLnBrk="1" hangingPunct="1"/>
              <a:t>15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8457510-40AD-4175-B762-951DA206A5A2}" type="slidenum">
              <a:rPr lang="zh-CN" altLang="en-US" sz="1200">
                <a:latin typeface="Arial" charset="0"/>
              </a:rPr>
              <a:pPr eaLnBrk="1" hangingPunct="1"/>
              <a:t>16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362D267-79C6-4E93-8D33-EAC8A5A1F51E}" type="slidenum">
              <a:rPr lang="zh-CN" altLang="en-US" sz="1200">
                <a:latin typeface="Arial" charset="0"/>
              </a:rPr>
              <a:pPr eaLnBrk="1" hangingPunct="1"/>
              <a:t>17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09E3FB4-4602-442D-9ACA-9C07CA7B989F}" type="slidenum">
              <a:rPr lang="zh-CN" altLang="en-US" sz="1200">
                <a:latin typeface="Arial" charset="0"/>
              </a:rPr>
              <a:pPr eaLnBrk="1" hangingPunct="1"/>
              <a:t>18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AD3793D-C616-49F2-B9E7-79363B4BDCCE}" type="slidenum">
              <a:rPr lang="zh-CN" altLang="en-US" sz="1200">
                <a:latin typeface="Arial" charset="0"/>
              </a:rPr>
              <a:pPr eaLnBrk="1" hangingPunct="1"/>
              <a:t>19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6055BCB-5048-4A5E-B777-77F82826C756}" type="slidenum">
              <a:rPr lang="zh-CN" altLang="en-US" sz="1200">
                <a:latin typeface="Arial" charset="0"/>
              </a:rPr>
              <a:pPr eaLnBrk="1" hangingPunct="1"/>
              <a:t>20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484CF-179D-4BA1-AAAC-1059AF2041D0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E806-83C8-4C29-A154-A04CB7C649F8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EE75-CE15-4D64-BB2E-B23AB0C8719B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CD8D-0152-405B-8D07-B125FE5C0D39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6380-BDC1-4CBC-99BB-B61AD96CCBD6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2DC0-5EAF-4678-9533-2B1352F95B84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0ABD-82A1-400A-B119-445BE5B78D70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873A-EEA6-4E42-8DF9-79233AB87768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71C8-6FB9-4F0B-98B3-F758BAAE1389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EABA-AE75-454B-9D26-4A36EF2C7D99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BAA7-1B31-4381-A13D-5CA2C2C4DE05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D4D10-2DE7-4170-BD17-3E1291D086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D89AEC-E90D-4969-83AF-10E15B1951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39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06C10-A07C-492F-8FA3-C8862857FEBB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.png"/><Relationship Id="rId4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1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.wmf"/><Relationship Id="rId5" Type="http://schemas.openxmlformats.org/officeDocument/2006/relationships/image" Target="../media/image1.png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A814DF-525A-464D-8AA9-D8C175C011C2}"/>
              </a:ext>
            </a:extLst>
          </p:cNvPr>
          <p:cNvGrpSpPr/>
          <p:nvPr/>
        </p:nvGrpSpPr>
        <p:grpSpPr>
          <a:xfrm>
            <a:off x="706967" y="3002339"/>
            <a:ext cx="7746999" cy="707886"/>
            <a:chOff x="876300" y="3330714"/>
            <a:chExt cx="6798864" cy="707886"/>
          </a:xfrm>
        </p:grpSpPr>
        <p:sp>
          <p:nvSpPr>
            <p:cNvPr id="2" name="Rectangle 1"/>
            <p:cNvSpPr/>
            <p:nvPr/>
          </p:nvSpPr>
          <p:spPr>
            <a:xfrm>
              <a:off x="1822356" y="3330714"/>
              <a:ext cx="585280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40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Graphs and BFS II</a:t>
              </a:r>
              <a:endParaRPr lang="en-US" sz="40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76300" y="3576935"/>
              <a:ext cx="215155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Lecture</a:t>
              </a:r>
              <a:r>
                <a:rPr lang="en-US" altLang="zh-CN" sz="24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 14</a:t>
              </a:r>
              <a:r>
                <a:rPr lang="en-US" altLang="zh-TW" sz="24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:</a:t>
              </a:r>
              <a:endParaRPr lang="en-US" sz="24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7BEC7F-287C-488A-9ED0-7EBA26E95B08}"/>
              </a:ext>
            </a:extLst>
          </p:cNvPr>
          <p:cNvSpPr txBox="1"/>
          <p:nvPr/>
        </p:nvSpPr>
        <p:spPr>
          <a:xfrm>
            <a:off x="971550" y="762000"/>
            <a:ext cx="74295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 Light" pitchFamily="34" charset="-122"/>
                <a:cs typeface="+mj-cs"/>
              </a:rPr>
              <a:t>Data Structures and Algorithm </a:t>
            </a:r>
            <a:r>
              <a:rPr lang="en-US" altLang="zh-CN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 Light" pitchFamily="34" charset="-122"/>
                <a:cs typeface="+mj-cs"/>
              </a:rPr>
              <a:t>Analysis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微软雅黑 Light" pitchFamily="34" charset="-122"/>
              <a:cs typeface="+mj-cs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B9AE1A3D-B2D9-4442-9FC5-A33A012B66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54617" y="3910786"/>
            <a:ext cx="7620000" cy="1371600"/>
          </a:xfrm>
          <a:noFill/>
        </p:spPr>
        <p:txBody>
          <a:bodyPr>
            <a:noAutofit/>
          </a:bodyPr>
          <a:lstStyle/>
          <a:p>
            <a:r>
              <a:rPr lang="en-US" altLang="zh-CN" sz="2400" dirty="0">
                <a:latin typeface="+mn-lt"/>
              </a:rPr>
              <a:t>Department of Computer Science &amp; Technology Beijing Normal – Hong Kong Baptist University</a:t>
            </a:r>
            <a:endParaRPr lang="en-US" altLang="zh-CN" sz="2400" dirty="0"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570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Shortest Path Recording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BFS we saw only tells us whether a path exists from source s, to other vertices v.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It doesn</a:t>
            </a:r>
            <a:r>
              <a:rPr lang="en-US" altLang="zh-CN" sz="2000" dirty="0">
                <a:latin typeface="Arial" charset="0"/>
                <a:ea typeface="宋体" pitchFamily="2" charset="-122"/>
              </a:rPr>
              <a:t>’</a:t>
            </a:r>
            <a:r>
              <a:rPr lang="en-US" altLang="zh-CN" sz="2000" dirty="0">
                <a:ea typeface="宋体" pitchFamily="2" charset="-122"/>
              </a:rPr>
              <a:t>t tell us the path!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We need to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modify the algorithm to record the path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How can we do that?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Note: we do not know which vertices lie on this path until we reach v!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Efficient solution: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Use an additional array </a:t>
            </a:r>
            <a:r>
              <a:rPr lang="en-US" altLang="zh-CN" i="1" dirty="0" err="1">
                <a:solidFill>
                  <a:schemeClr val="accent4"/>
                </a:solidFill>
                <a:ea typeface="宋体" pitchFamily="2" charset="-122"/>
              </a:rPr>
              <a:t>pred</a:t>
            </a:r>
            <a:r>
              <a:rPr lang="en-US" altLang="zh-CN" i="1" dirty="0">
                <a:solidFill>
                  <a:schemeClr val="accent4"/>
                </a:solidFill>
                <a:ea typeface="宋体" pitchFamily="2" charset="-122"/>
              </a:rPr>
              <a:t>[0..n-1]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i="1" dirty="0" err="1">
                <a:ea typeface="宋体" pitchFamily="2" charset="-122"/>
              </a:rPr>
              <a:t>Pred</a:t>
            </a:r>
            <a:r>
              <a:rPr lang="en-US" altLang="zh-CN" i="1" dirty="0">
                <a:ea typeface="宋体" pitchFamily="2" charset="-122"/>
              </a:rPr>
              <a:t>[w] = v  means that vertex w was visited </a:t>
            </a:r>
            <a:r>
              <a:rPr lang="en-US" altLang="zh-CN" i="1" dirty="0">
                <a:solidFill>
                  <a:schemeClr val="accent4"/>
                </a:solidFill>
                <a:ea typeface="宋体" pitchFamily="2" charset="-122"/>
              </a:rPr>
              <a:t>from</a:t>
            </a:r>
            <a:r>
              <a:rPr lang="en-US" altLang="zh-CN" i="1" dirty="0">
                <a:ea typeface="宋体" pitchFamily="2" charset="-122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301498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+ Path Finding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152400" y="1258888"/>
          <a:ext cx="5903913" cy="552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2" name="Bitmap Image" r:id="rId4" imgW="7085714" imgH="6628571" progId="Paint.Picture">
                  <p:embed/>
                </p:oleObj>
              </mc:Choice>
              <mc:Fallback>
                <p:oleObj name="Bitmap Image" r:id="rId4" imgW="7085714" imgH="662857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58888"/>
                        <a:ext cx="5903913" cy="552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Line 4"/>
          <p:cNvSpPr>
            <a:spLocks noChangeShapeType="1"/>
          </p:cNvSpPr>
          <p:nvPr/>
        </p:nvSpPr>
        <p:spPr bwMode="auto">
          <a:xfrm flipH="1">
            <a:off x="5715000" y="5959475"/>
            <a:ext cx="838200" cy="0"/>
          </a:xfrm>
          <a:prstGeom prst="line">
            <a:avLst/>
          </a:prstGeom>
          <a:noFill/>
          <a:ln w="9525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6400800" y="2301875"/>
            <a:ext cx="2200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1"/>
                </a:solidFill>
                <a:latin typeface="Arial" charset="0"/>
              </a:rPr>
              <a:t>initialize </a:t>
            </a:r>
            <a:br>
              <a:rPr lang="en-US" altLang="zh-CN" sz="2400">
                <a:solidFill>
                  <a:schemeClr val="accent1"/>
                </a:solidFill>
                <a:latin typeface="Arial" charset="0"/>
              </a:rPr>
            </a:br>
            <a:r>
              <a:rPr lang="en-US" altLang="zh-CN" sz="2400">
                <a:solidFill>
                  <a:schemeClr val="accent1"/>
                </a:solidFill>
                <a:latin typeface="Arial" charset="0"/>
              </a:rPr>
              <a:t>all pred[v] to -1</a:t>
            </a:r>
          </a:p>
        </p:txBody>
      </p:sp>
      <p:sp>
        <p:nvSpPr>
          <p:cNvPr id="3078" name="Line 6"/>
          <p:cNvSpPr>
            <a:spLocks noChangeShapeType="1"/>
          </p:cNvSpPr>
          <p:nvPr/>
        </p:nvSpPr>
        <p:spPr bwMode="auto">
          <a:xfrm flipH="1">
            <a:off x="4756150" y="2682875"/>
            <a:ext cx="1524000" cy="0"/>
          </a:xfrm>
          <a:prstGeom prst="line">
            <a:avLst/>
          </a:prstGeom>
          <a:noFill/>
          <a:ln w="9525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6553200" y="5654675"/>
            <a:ext cx="2470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1"/>
                </a:solidFill>
                <a:latin typeface="Arial" charset="0"/>
              </a:rPr>
              <a:t>Record where  you came from</a:t>
            </a: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828800" y="2530475"/>
            <a:ext cx="2133600" cy="381000"/>
          </a:xfrm>
          <a:prstGeom prst="rect">
            <a:avLst/>
          </a:prstGeom>
          <a:noFill/>
          <a:ln w="31750">
            <a:solidFill>
              <a:schemeClr val="accent4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3810000" y="5807075"/>
            <a:ext cx="1828800" cy="381000"/>
          </a:xfrm>
          <a:prstGeom prst="rect">
            <a:avLst/>
          </a:prstGeom>
          <a:noFill/>
          <a:ln w="31750">
            <a:solidFill>
              <a:schemeClr val="accent4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58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</a:t>
            </a:r>
          </a:p>
        </p:txBody>
      </p:sp>
      <p:grpSp>
        <p:nvGrpSpPr>
          <p:cNvPr id="4100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4181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4182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4183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4184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4185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4186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4187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4188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4189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4190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4191" name="AutoShape 14"/>
            <p:cNvCxnSpPr>
              <a:cxnSpLocks noChangeShapeType="1"/>
              <a:stCxn id="4190" idx="6"/>
              <a:endCxn id="4189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2" name="AutoShape 15"/>
            <p:cNvCxnSpPr>
              <a:cxnSpLocks noChangeShapeType="1"/>
              <a:stCxn id="4189" idx="5"/>
              <a:endCxn id="4188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3" name="AutoShape 16"/>
            <p:cNvCxnSpPr>
              <a:cxnSpLocks noChangeShapeType="1"/>
              <a:stCxn id="4188" idx="2"/>
              <a:endCxn id="4185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4" name="AutoShape 17"/>
            <p:cNvCxnSpPr>
              <a:cxnSpLocks noChangeShapeType="1"/>
              <a:stCxn id="4189" idx="3"/>
              <a:endCxn id="4181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5" name="AutoShape 18"/>
            <p:cNvCxnSpPr>
              <a:cxnSpLocks noChangeShapeType="1"/>
              <a:stCxn id="4181" idx="6"/>
              <a:endCxn id="4185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6" name="AutoShape 19"/>
            <p:cNvCxnSpPr>
              <a:cxnSpLocks noChangeShapeType="1"/>
              <a:stCxn id="4181" idx="3"/>
              <a:endCxn id="4182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7" name="AutoShape 20"/>
            <p:cNvCxnSpPr>
              <a:cxnSpLocks noChangeShapeType="1"/>
              <a:stCxn id="4182" idx="6"/>
              <a:endCxn id="4183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8" name="AutoShape 21"/>
            <p:cNvCxnSpPr>
              <a:cxnSpLocks noChangeShapeType="1"/>
              <a:stCxn id="4183" idx="7"/>
              <a:endCxn id="4185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" name="AutoShape 22"/>
            <p:cNvCxnSpPr>
              <a:cxnSpLocks noChangeShapeType="1"/>
              <a:stCxn id="4183" idx="5"/>
              <a:endCxn id="4184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" name="AutoShape 23"/>
            <p:cNvCxnSpPr>
              <a:cxnSpLocks noChangeShapeType="1"/>
              <a:stCxn id="4184" idx="6"/>
              <a:endCxn id="4187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" name="AutoShape 24"/>
            <p:cNvCxnSpPr>
              <a:cxnSpLocks noChangeShapeType="1"/>
              <a:stCxn id="4185" idx="6"/>
              <a:endCxn id="4186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" name="AutoShape 25"/>
            <p:cNvCxnSpPr>
              <a:cxnSpLocks noChangeShapeType="1"/>
              <a:stCxn id="4186" idx="6"/>
              <a:endCxn id="4187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098" name="Object 26"/>
          <p:cNvGraphicFramePr>
            <a:graphicFrameLocks noChangeAspect="1"/>
          </p:cNvGraphicFramePr>
          <p:nvPr/>
        </p:nvGraphicFramePr>
        <p:xfrm>
          <a:off x="4743450" y="182880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182880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27"/>
          <p:cNvSpPr txBox="1">
            <a:spLocks noChangeArrowheads="1"/>
          </p:cNvSpPr>
          <p:nvPr/>
        </p:nvSpPr>
        <p:spPr bwMode="auto">
          <a:xfrm>
            <a:off x="4743450" y="14478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4102" name="Text Box 28"/>
          <p:cNvSpPr txBox="1">
            <a:spLocks noChangeArrowheads="1"/>
          </p:cNvSpPr>
          <p:nvPr/>
        </p:nvSpPr>
        <p:spPr bwMode="auto">
          <a:xfrm>
            <a:off x="0" y="259080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Arial" charset="0"/>
              </a:rPr>
              <a:t>source</a:t>
            </a:r>
            <a:endParaRPr lang="en-US" altLang="zh-CN" sz="2000" b="1" i="1">
              <a:latin typeface="Arial" charset="0"/>
            </a:endParaRPr>
          </a:p>
        </p:txBody>
      </p:sp>
      <p:graphicFrame>
        <p:nvGraphicFramePr>
          <p:cNvPr id="503837" name="Group 29"/>
          <p:cNvGraphicFramePr>
            <a:graphicFrameLocks noGrp="1"/>
          </p:cNvGraphicFramePr>
          <p:nvPr/>
        </p:nvGraphicFramePr>
        <p:xfrm>
          <a:off x="7486650" y="19050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127" name="Text Box 53"/>
          <p:cNvSpPr txBox="1">
            <a:spLocks noChangeArrowheads="1"/>
          </p:cNvSpPr>
          <p:nvPr/>
        </p:nvSpPr>
        <p:spPr bwMode="auto">
          <a:xfrm>
            <a:off x="6953250" y="1219200"/>
            <a:ext cx="1568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latin typeface="Arial" charset="0"/>
              </a:rPr>
              <a:t>Visited Table </a:t>
            </a:r>
            <a:br>
              <a:rPr lang="en-US" altLang="zh-CN" sz="1800">
                <a:latin typeface="Arial" charset="0"/>
              </a:rPr>
            </a:br>
            <a:r>
              <a:rPr lang="en-US" altLang="zh-CN" sz="1800">
                <a:latin typeface="Arial" charset="0"/>
              </a:rPr>
              <a:t>(T/F)</a:t>
            </a:r>
          </a:p>
        </p:txBody>
      </p:sp>
      <p:graphicFrame>
        <p:nvGraphicFramePr>
          <p:cNvPr id="503862" name="Group 54"/>
          <p:cNvGraphicFramePr>
            <a:graphicFrameLocks noGrp="1"/>
          </p:cNvGraphicFramePr>
          <p:nvPr/>
        </p:nvGraphicFramePr>
        <p:xfrm>
          <a:off x="7742238" y="190500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153" name="Text Box 79"/>
          <p:cNvSpPr txBox="1">
            <a:spLocks noChangeArrowheads="1"/>
          </p:cNvSpPr>
          <p:nvPr/>
        </p:nvSpPr>
        <p:spPr bwMode="auto">
          <a:xfrm>
            <a:off x="1771650" y="5427663"/>
            <a:ext cx="1063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Arial" charset="0"/>
              </a:rPr>
              <a:t>Q</a:t>
            </a:r>
            <a:r>
              <a:rPr lang="en-US" altLang="zh-CN" sz="2400" dirty="0">
                <a:latin typeface="Arial" charset="0"/>
              </a:rPr>
              <a:t> = { }</a:t>
            </a:r>
          </a:p>
        </p:txBody>
      </p:sp>
      <p:sp>
        <p:nvSpPr>
          <p:cNvPr id="4154" name="Text Box 80"/>
          <p:cNvSpPr txBox="1">
            <a:spLocks noChangeArrowheads="1"/>
          </p:cNvSpPr>
          <p:nvPr/>
        </p:nvSpPr>
        <p:spPr bwMode="auto">
          <a:xfrm>
            <a:off x="6038850" y="5153025"/>
            <a:ext cx="22860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accent1"/>
                </a:solidFill>
                <a:latin typeface="Arial" charset="0"/>
              </a:rPr>
              <a:t>Initialize visited</a:t>
            </a:r>
          </a:p>
          <a:p>
            <a:pPr eaLnBrk="1" hangingPunct="1"/>
            <a:r>
              <a:rPr lang="en-US" altLang="zh-CN" sz="2000">
                <a:solidFill>
                  <a:schemeClr val="accent1"/>
                </a:solidFill>
                <a:latin typeface="Arial" charset="0"/>
              </a:rPr>
              <a:t>table (all False)</a:t>
            </a:r>
          </a:p>
          <a:p>
            <a:pPr eaLnBrk="1" hangingPunct="1"/>
            <a:endParaRPr lang="en-US" altLang="zh-CN" sz="2000">
              <a:solidFill>
                <a:schemeClr val="accent1"/>
              </a:solidFill>
              <a:latin typeface="Arial" charset="0"/>
            </a:endParaRPr>
          </a:p>
          <a:p>
            <a:pPr eaLnBrk="1" hangingPunct="1"/>
            <a:r>
              <a:rPr lang="en-US" altLang="zh-CN" sz="2000">
                <a:solidFill>
                  <a:schemeClr val="accent1"/>
                </a:solidFill>
                <a:latin typeface="Arial" charset="0"/>
              </a:rPr>
              <a:t>Initialize Pred to -1</a:t>
            </a:r>
          </a:p>
          <a:p>
            <a:pPr eaLnBrk="1" hangingPunct="1"/>
            <a:endParaRPr lang="zh-CN" altLang="en-US" sz="2000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4155" name="Text Box 81"/>
          <p:cNvSpPr txBox="1">
            <a:spLocks noChangeArrowheads="1"/>
          </p:cNvSpPr>
          <p:nvPr/>
        </p:nvSpPr>
        <p:spPr bwMode="auto">
          <a:xfrm>
            <a:off x="838200" y="5946775"/>
            <a:ext cx="3284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Arial" charset="0"/>
              </a:rPr>
              <a:t>Initialize </a:t>
            </a:r>
            <a:r>
              <a:rPr lang="en-US" altLang="zh-CN" sz="2400" b="1">
                <a:latin typeface="Arial" charset="0"/>
              </a:rPr>
              <a:t>Q </a:t>
            </a:r>
            <a:r>
              <a:rPr lang="en-US" altLang="zh-CN" sz="2400">
                <a:latin typeface="Arial" charset="0"/>
              </a:rPr>
              <a:t>to be empty</a:t>
            </a:r>
          </a:p>
        </p:txBody>
      </p:sp>
      <p:graphicFrame>
        <p:nvGraphicFramePr>
          <p:cNvPr id="503890" name="Group 82"/>
          <p:cNvGraphicFramePr>
            <a:graphicFrameLocks noGrp="1"/>
          </p:cNvGraphicFramePr>
          <p:nvPr/>
        </p:nvGraphicFramePr>
        <p:xfrm>
          <a:off x="8351838" y="190500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180" name="Text Box 106"/>
          <p:cNvSpPr txBox="1">
            <a:spLocks noChangeArrowheads="1"/>
          </p:cNvSpPr>
          <p:nvPr/>
        </p:nvSpPr>
        <p:spPr bwMode="auto">
          <a:xfrm>
            <a:off x="8096250" y="49530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</p:spTree>
    <p:extLst>
      <p:ext uri="{BB962C8B-B14F-4D97-AF65-F5344CB8AC3E}">
        <p14:creationId xmlns:p14="http://schemas.microsoft.com/office/powerpoint/2010/main" val="196677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3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5205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5206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5207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5208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5209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5210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5211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5212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5213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5214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5215" name="AutoShape 14"/>
            <p:cNvCxnSpPr>
              <a:cxnSpLocks noChangeShapeType="1"/>
              <a:stCxn id="5214" idx="6"/>
              <a:endCxn id="5213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16" name="AutoShape 15"/>
            <p:cNvCxnSpPr>
              <a:cxnSpLocks noChangeShapeType="1"/>
              <a:stCxn id="5213" idx="5"/>
              <a:endCxn id="5212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17" name="AutoShape 16"/>
            <p:cNvCxnSpPr>
              <a:cxnSpLocks noChangeShapeType="1"/>
              <a:stCxn id="5212" idx="2"/>
              <a:endCxn id="5209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18" name="AutoShape 17"/>
            <p:cNvCxnSpPr>
              <a:cxnSpLocks noChangeShapeType="1"/>
              <a:stCxn id="5213" idx="3"/>
              <a:endCxn id="5205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19" name="AutoShape 18"/>
            <p:cNvCxnSpPr>
              <a:cxnSpLocks noChangeShapeType="1"/>
              <a:stCxn id="5205" idx="6"/>
              <a:endCxn id="5209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0" name="AutoShape 19"/>
            <p:cNvCxnSpPr>
              <a:cxnSpLocks noChangeShapeType="1"/>
              <a:stCxn id="5205" idx="3"/>
              <a:endCxn id="5206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1" name="AutoShape 20"/>
            <p:cNvCxnSpPr>
              <a:cxnSpLocks noChangeShapeType="1"/>
              <a:stCxn id="5206" idx="6"/>
              <a:endCxn id="5207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2" name="AutoShape 21"/>
            <p:cNvCxnSpPr>
              <a:cxnSpLocks noChangeShapeType="1"/>
              <a:stCxn id="5207" idx="7"/>
              <a:endCxn id="5209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" name="AutoShape 22"/>
            <p:cNvCxnSpPr>
              <a:cxnSpLocks noChangeShapeType="1"/>
              <a:stCxn id="5207" idx="5"/>
              <a:endCxn id="5208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" name="AutoShape 23"/>
            <p:cNvCxnSpPr>
              <a:cxnSpLocks noChangeShapeType="1"/>
              <a:stCxn id="5208" idx="6"/>
              <a:endCxn id="5211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5" name="AutoShape 24"/>
            <p:cNvCxnSpPr>
              <a:cxnSpLocks noChangeShapeType="1"/>
              <a:stCxn id="5209" idx="6"/>
              <a:endCxn id="5210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6" name="AutoShape 25"/>
            <p:cNvCxnSpPr>
              <a:cxnSpLocks noChangeShapeType="1"/>
              <a:stCxn id="5210" idx="6"/>
              <a:endCxn id="5211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5122" name="Object 26"/>
          <p:cNvGraphicFramePr>
            <a:graphicFrameLocks noChangeAspect="1"/>
          </p:cNvGraphicFramePr>
          <p:nvPr/>
        </p:nvGraphicFramePr>
        <p:xfrm>
          <a:off x="4648200" y="1838325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0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838325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27"/>
          <p:cNvSpPr txBox="1">
            <a:spLocks noChangeArrowheads="1"/>
          </p:cNvSpPr>
          <p:nvPr/>
        </p:nvSpPr>
        <p:spPr bwMode="auto">
          <a:xfrm>
            <a:off x="4648200" y="145732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5125" name="Text Box 28"/>
          <p:cNvSpPr txBox="1">
            <a:spLocks noChangeArrowheads="1"/>
          </p:cNvSpPr>
          <p:nvPr/>
        </p:nvSpPr>
        <p:spPr bwMode="auto">
          <a:xfrm>
            <a:off x="0" y="281940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Arial" charset="0"/>
              </a:rPr>
              <a:t>source</a:t>
            </a:r>
            <a:endParaRPr lang="en-US" altLang="zh-CN" sz="2000" b="1" i="1">
              <a:latin typeface="Arial" charset="0"/>
            </a:endParaRPr>
          </a:p>
        </p:txBody>
      </p:sp>
      <p:graphicFrame>
        <p:nvGraphicFramePr>
          <p:cNvPr id="504861" name="Group 29"/>
          <p:cNvGraphicFramePr>
            <a:graphicFrameLocks noGrp="1"/>
          </p:cNvGraphicFramePr>
          <p:nvPr/>
        </p:nvGraphicFramePr>
        <p:xfrm>
          <a:off x="7391400" y="1914525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150" name="Text Box 53"/>
          <p:cNvSpPr txBox="1">
            <a:spLocks noChangeArrowheads="1"/>
          </p:cNvSpPr>
          <p:nvPr/>
        </p:nvSpPr>
        <p:spPr bwMode="auto">
          <a:xfrm>
            <a:off x="6699250" y="1471613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04939" name="Group 107"/>
          <p:cNvGraphicFramePr>
            <a:graphicFrameLocks noGrp="1"/>
          </p:cNvGraphicFramePr>
          <p:nvPr/>
        </p:nvGraphicFramePr>
        <p:xfrm>
          <a:off x="7646988" y="1914525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176" name="Text Box 79"/>
          <p:cNvSpPr txBox="1">
            <a:spLocks noChangeArrowheads="1"/>
          </p:cNvSpPr>
          <p:nvPr/>
        </p:nvSpPr>
        <p:spPr bwMode="auto">
          <a:xfrm>
            <a:off x="1771650" y="5500688"/>
            <a:ext cx="10374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2 }</a:t>
            </a:r>
          </a:p>
        </p:txBody>
      </p:sp>
      <p:sp>
        <p:nvSpPr>
          <p:cNvPr id="5177" name="Text Box 80"/>
          <p:cNvSpPr txBox="1">
            <a:spLocks noChangeArrowheads="1"/>
          </p:cNvSpPr>
          <p:nvPr/>
        </p:nvSpPr>
        <p:spPr bwMode="auto">
          <a:xfrm>
            <a:off x="6629400" y="5165725"/>
            <a:ext cx="19319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accent1"/>
                </a:solidFill>
                <a:latin typeface="Arial" charset="0"/>
              </a:rPr>
              <a:t>Flag that 2 has </a:t>
            </a:r>
          </a:p>
          <a:p>
            <a:pPr eaLnBrk="1" hangingPunct="1"/>
            <a:r>
              <a:rPr lang="en-US" altLang="zh-CN" sz="2000">
                <a:solidFill>
                  <a:schemeClr val="accent1"/>
                </a:solidFill>
                <a:latin typeface="Arial" charset="0"/>
              </a:rPr>
              <a:t>been visited.</a:t>
            </a:r>
          </a:p>
        </p:txBody>
      </p:sp>
      <p:sp>
        <p:nvSpPr>
          <p:cNvPr id="5178" name="Text Box 81"/>
          <p:cNvSpPr txBox="1">
            <a:spLocks noChangeArrowheads="1"/>
          </p:cNvSpPr>
          <p:nvPr/>
        </p:nvSpPr>
        <p:spPr bwMode="auto">
          <a:xfrm>
            <a:off x="838200" y="6019800"/>
            <a:ext cx="315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Place source 2 on the queue.</a:t>
            </a:r>
          </a:p>
        </p:txBody>
      </p:sp>
      <p:graphicFrame>
        <p:nvGraphicFramePr>
          <p:cNvPr id="504914" name="Group 82"/>
          <p:cNvGraphicFramePr>
            <a:graphicFrameLocks noGrp="1"/>
          </p:cNvGraphicFramePr>
          <p:nvPr/>
        </p:nvGraphicFramePr>
        <p:xfrm>
          <a:off x="8408988" y="1914525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03" name="Text Box 106"/>
          <p:cNvSpPr txBox="1">
            <a:spLocks noChangeArrowheads="1"/>
          </p:cNvSpPr>
          <p:nvPr/>
        </p:nvSpPr>
        <p:spPr bwMode="auto">
          <a:xfrm>
            <a:off x="8153400" y="484663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5204" name="Rectangle 10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</a:t>
            </a:r>
            <a:r>
              <a:rPr lang="en-US" altLang="zh-CN">
                <a:latin typeface="Times New Roman" pitchFamily="18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28084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6236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6237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6238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6239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6240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6241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6242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6243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6244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6245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6246" name="AutoShape 14"/>
            <p:cNvCxnSpPr>
              <a:cxnSpLocks noChangeShapeType="1"/>
              <a:stCxn id="6245" idx="6"/>
              <a:endCxn id="6244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" name="AutoShape 15"/>
            <p:cNvCxnSpPr>
              <a:cxnSpLocks noChangeShapeType="1"/>
              <a:stCxn id="6244" idx="5"/>
              <a:endCxn id="6243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" name="AutoShape 16"/>
            <p:cNvCxnSpPr>
              <a:cxnSpLocks noChangeShapeType="1"/>
              <a:stCxn id="6243" idx="2"/>
              <a:endCxn id="6240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" name="AutoShape 17"/>
            <p:cNvCxnSpPr>
              <a:cxnSpLocks noChangeShapeType="1"/>
              <a:stCxn id="6244" idx="3"/>
              <a:endCxn id="6236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0" name="AutoShape 18"/>
            <p:cNvCxnSpPr>
              <a:cxnSpLocks noChangeShapeType="1"/>
              <a:stCxn id="6236" idx="6"/>
              <a:endCxn id="6240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1" name="AutoShape 19"/>
            <p:cNvCxnSpPr>
              <a:cxnSpLocks noChangeShapeType="1"/>
              <a:stCxn id="6236" idx="3"/>
              <a:endCxn id="6237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2" name="AutoShape 20"/>
            <p:cNvCxnSpPr>
              <a:cxnSpLocks noChangeShapeType="1"/>
              <a:stCxn id="6237" idx="6"/>
              <a:endCxn id="6238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3" name="AutoShape 21"/>
            <p:cNvCxnSpPr>
              <a:cxnSpLocks noChangeShapeType="1"/>
              <a:stCxn id="6238" idx="7"/>
              <a:endCxn id="6240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4" name="AutoShape 22"/>
            <p:cNvCxnSpPr>
              <a:cxnSpLocks noChangeShapeType="1"/>
              <a:stCxn id="6238" idx="5"/>
              <a:endCxn id="6239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5" name="AutoShape 23"/>
            <p:cNvCxnSpPr>
              <a:cxnSpLocks noChangeShapeType="1"/>
              <a:stCxn id="6239" idx="6"/>
              <a:endCxn id="6242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" name="AutoShape 24"/>
            <p:cNvCxnSpPr>
              <a:cxnSpLocks noChangeShapeType="1"/>
              <a:stCxn id="6240" idx="6"/>
              <a:endCxn id="6241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7" name="AutoShape 25"/>
            <p:cNvCxnSpPr>
              <a:cxnSpLocks noChangeShapeType="1"/>
              <a:stCxn id="6241" idx="6"/>
              <a:endCxn id="6242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6146" name="Object 26"/>
          <p:cNvGraphicFramePr>
            <a:graphicFrameLocks noChangeAspect="1"/>
          </p:cNvGraphicFramePr>
          <p:nvPr/>
        </p:nvGraphicFramePr>
        <p:xfrm>
          <a:off x="4684713" y="1584325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1584325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27"/>
          <p:cNvSpPr txBox="1">
            <a:spLocks noChangeArrowheads="1"/>
          </p:cNvSpPr>
          <p:nvPr/>
        </p:nvSpPr>
        <p:spPr bwMode="auto">
          <a:xfrm>
            <a:off x="4684713" y="120332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6149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05885" name="Group 29"/>
          <p:cNvGraphicFramePr>
            <a:graphicFrameLocks noGrp="1"/>
          </p:cNvGraphicFramePr>
          <p:nvPr/>
        </p:nvGraphicFramePr>
        <p:xfrm>
          <a:off x="7427913" y="1660525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174" name="Text Box 53"/>
          <p:cNvSpPr txBox="1">
            <a:spLocks noChangeArrowheads="1"/>
          </p:cNvSpPr>
          <p:nvPr/>
        </p:nvSpPr>
        <p:spPr bwMode="auto">
          <a:xfrm>
            <a:off x="6735763" y="1217613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05970" name="Group 114"/>
          <p:cNvGraphicFramePr>
            <a:graphicFrameLocks noGrp="1"/>
          </p:cNvGraphicFramePr>
          <p:nvPr/>
        </p:nvGraphicFramePr>
        <p:xfrm>
          <a:off x="7683500" y="1660525"/>
          <a:ext cx="261938" cy="2971800"/>
        </p:xfrm>
        <a:graphic>
          <a:graphicData uri="http://schemas.openxmlformats.org/drawingml/2006/table">
            <a:tbl>
              <a:tblPr/>
              <a:tblGrid>
                <a:gridCol w="26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200" name="Text Box 79"/>
          <p:cNvSpPr txBox="1">
            <a:spLocks noChangeArrowheads="1"/>
          </p:cNvSpPr>
          <p:nvPr/>
        </p:nvSpPr>
        <p:spPr bwMode="auto">
          <a:xfrm>
            <a:off x="1771650" y="5468938"/>
            <a:ext cx="23839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2 } </a:t>
            </a:r>
            <a:r>
              <a:rPr lang="en-US" altLang="zh-CN" sz="1800" dirty="0">
                <a:latin typeface="Arial" charset="0"/>
                <a:cs typeface="Arial" charset="0"/>
              </a:rPr>
              <a:t>→  </a:t>
            </a:r>
            <a:r>
              <a:rPr lang="en-US" altLang="zh-CN" sz="1800" dirty="0">
                <a:latin typeface="Arial" charset="0"/>
              </a:rPr>
              <a:t>{ 8, 1, 4 }</a:t>
            </a:r>
          </a:p>
        </p:txBody>
      </p:sp>
      <p:sp>
        <p:nvSpPr>
          <p:cNvPr id="6201" name="Text Box 80"/>
          <p:cNvSpPr txBox="1">
            <a:spLocks noChangeArrowheads="1"/>
          </p:cNvSpPr>
          <p:nvPr/>
        </p:nvSpPr>
        <p:spPr bwMode="auto">
          <a:xfrm>
            <a:off x="6248400" y="4876800"/>
            <a:ext cx="25146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Arial" charset="0"/>
              </a:rPr>
              <a:t>Mark neighbors</a:t>
            </a:r>
          </a:p>
          <a:p>
            <a:pPr eaLnBrk="1" hangingPunct="1"/>
            <a:r>
              <a:rPr lang="en-US" altLang="zh-CN" sz="2000" dirty="0">
                <a:latin typeface="Arial" charset="0"/>
              </a:rPr>
              <a:t>as visited.</a:t>
            </a:r>
          </a:p>
          <a:p>
            <a:pPr eaLnBrk="1" hangingPunct="1"/>
            <a:endParaRPr lang="en-US" altLang="zh-CN" sz="2000" dirty="0"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Record in </a:t>
            </a:r>
            <a:r>
              <a:rPr lang="en-US" altLang="zh-CN" sz="2000" dirty="0" err="1">
                <a:solidFill>
                  <a:schemeClr val="accent1"/>
                </a:solidFill>
                <a:latin typeface="Arial" charset="0"/>
              </a:rPr>
              <a:t>Pred</a:t>
            </a:r>
            <a:endParaRPr lang="en-US" altLang="zh-CN" sz="2000" dirty="0">
              <a:solidFill>
                <a:schemeClr val="accent1"/>
              </a:solidFill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that we came from 2.</a:t>
            </a:r>
          </a:p>
        </p:txBody>
      </p:sp>
      <p:sp>
        <p:nvSpPr>
          <p:cNvPr id="6202" name="Line 81"/>
          <p:cNvSpPr>
            <a:spLocks noChangeShapeType="1"/>
          </p:cNvSpPr>
          <p:nvPr/>
        </p:nvSpPr>
        <p:spPr bwMode="auto">
          <a:xfrm>
            <a:off x="4456113" y="25320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3" name="Text Box 82"/>
          <p:cNvSpPr txBox="1">
            <a:spLocks noChangeArrowheads="1"/>
          </p:cNvSpPr>
          <p:nvPr/>
        </p:nvSpPr>
        <p:spPr bwMode="auto">
          <a:xfrm>
            <a:off x="457200" y="5943600"/>
            <a:ext cx="5448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Arial" charset="0"/>
              </a:rPr>
              <a:t>Dequeue 2.  </a:t>
            </a:r>
          </a:p>
          <a:p>
            <a:pPr eaLnBrk="1" hangingPunct="1"/>
            <a:r>
              <a:rPr lang="en-US" altLang="zh-CN" sz="2000">
                <a:latin typeface="Arial" charset="0"/>
              </a:rPr>
              <a:t>Place all unvisited neighbors of 2 on the queue</a:t>
            </a:r>
          </a:p>
        </p:txBody>
      </p:sp>
      <p:sp>
        <p:nvSpPr>
          <p:cNvPr id="6204" name="Text Box 83"/>
          <p:cNvSpPr txBox="1">
            <a:spLocks noChangeArrowheads="1"/>
          </p:cNvSpPr>
          <p:nvPr/>
        </p:nvSpPr>
        <p:spPr bwMode="auto">
          <a:xfrm>
            <a:off x="3657600" y="2376488"/>
            <a:ext cx="8747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grpSp>
        <p:nvGrpSpPr>
          <p:cNvPr id="6205" name="Group 84"/>
          <p:cNvGrpSpPr>
            <a:grpSpLocks/>
          </p:cNvGrpSpPr>
          <p:nvPr/>
        </p:nvGrpSpPr>
        <p:grpSpPr bwMode="auto">
          <a:xfrm>
            <a:off x="304800" y="2057400"/>
            <a:ext cx="2590800" cy="2590800"/>
            <a:chOff x="192" y="1296"/>
            <a:chExt cx="1632" cy="1632"/>
          </a:xfrm>
        </p:grpSpPr>
        <p:sp>
          <p:nvSpPr>
            <p:cNvPr id="6233" name="Oval 85"/>
            <p:cNvSpPr>
              <a:spLocks noChangeArrowheads="1"/>
            </p:cNvSpPr>
            <p:nvPr/>
          </p:nvSpPr>
          <p:spPr bwMode="auto">
            <a:xfrm>
              <a:off x="192" y="2544"/>
              <a:ext cx="43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34" name="Oval 86"/>
            <p:cNvSpPr>
              <a:spLocks noChangeArrowheads="1"/>
            </p:cNvSpPr>
            <p:nvPr/>
          </p:nvSpPr>
          <p:spPr bwMode="auto">
            <a:xfrm>
              <a:off x="1152" y="1920"/>
              <a:ext cx="43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35" name="Oval 87"/>
            <p:cNvSpPr>
              <a:spLocks noChangeArrowheads="1"/>
            </p:cNvSpPr>
            <p:nvPr/>
          </p:nvSpPr>
          <p:spPr bwMode="auto">
            <a:xfrm>
              <a:off x="1392" y="1296"/>
              <a:ext cx="43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06" name="Oval 88"/>
          <p:cNvSpPr>
            <a:spLocks noChangeArrowheads="1"/>
          </p:cNvSpPr>
          <p:nvPr/>
        </p:nvSpPr>
        <p:spPr bwMode="auto">
          <a:xfrm>
            <a:off x="838200" y="26670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5975" name="Group 119"/>
          <p:cNvGraphicFramePr>
            <a:graphicFrameLocks noGrp="1"/>
          </p:cNvGraphicFramePr>
          <p:nvPr/>
        </p:nvGraphicFramePr>
        <p:xfrm>
          <a:off x="8445500" y="1638300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231" name="Text Box 113"/>
          <p:cNvSpPr txBox="1">
            <a:spLocks noChangeArrowheads="1"/>
          </p:cNvSpPr>
          <p:nvPr/>
        </p:nvSpPr>
        <p:spPr bwMode="auto">
          <a:xfrm>
            <a:off x="8189913" y="4570413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6232" name="Rectangle 11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208800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1" name="Group 3"/>
          <p:cNvGrpSpPr>
            <a:grpSpLocks/>
          </p:cNvGrpSpPr>
          <p:nvPr/>
        </p:nvGrpSpPr>
        <p:grpSpPr bwMode="auto">
          <a:xfrm>
            <a:off x="228600" y="1752600"/>
            <a:ext cx="3733800" cy="2895600"/>
            <a:chOff x="192" y="816"/>
            <a:chExt cx="2976" cy="2208"/>
          </a:xfrm>
        </p:grpSpPr>
        <p:sp>
          <p:nvSpPr>
            <p:cNvPr id="7259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7260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7261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7262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7263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1</a:t>
              </a:r>
            </a:p>
          </p:txBody>
        </p:sp>
        <p:sp>
          <p:nvSpPr>
            <p:cNvPr id="7264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7265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7266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7267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7268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7269" name="AutoShape 14"/>
            <p:cNvCxnSpPr>
              <a:cxnSpLocks noChangeShapeType="1"/>
              <a:stCxn id="7268" idx="6"/>
              <a:endCxn id="7267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0" name="AutoShape 15"/>
            <p:cNvCxnSpPr>
              <a:cxnSpLocks noChangeShapeType="1"/>
              <a:stCxn id="7267" idx="5"/>
              <a:endCxn id="7266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1" name="AutoShape 16"/>
            <p:cNvCxnSpPr>
              <a:cxnSpLocks noChangeShapeType="1"/>
              <a:stCxn id="7266" idx="2"/>
              <a:endCxn id="7263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2" name="AutoShape 17"/>
            <p:cNvCxnSpPr>
              <a:cxnSpLocks noChangeShapeType="1"/>
              <a:stCxn id="7267" idx="3"/>
              <a:endCxn id="7259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3" name="AutoShape 18"/>
            <p:cNvCxnSpPr>
              <a:cxnSpLocks noChangeShapeType="1"/>
              <a:stCxn id="7259" idx="6"/>
              <a:endCxn id="7263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4" name="AutoShape 19"/>
            <p:cNvCxnSpPr>
              <a:cxnSpLocks noChangeShapeType="1"/>
              <a:stCxn id="7259" idx="3"/>
              <a:endCxn id="7260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5" name="AutoShape 20"/>
            <p:cNvCxnSpPr>
              <a:cxnSpLocks noChangeShapeType="1"/>
              <a:stCxn id="7260" idx="6"/>
              <a:endCxn id="7261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6" name="AutoShape 21"/>
            <p:cNvCxnSpPr>
              <a:cxnSpLocks noChangeShapeType="1"/>
              <a:stCxn id="7261" idx="7"/>
              <a:endCxn id="7263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7" name="AutoShape 22"/>
            <p:cNvCxnSpPr>
              <a:cxnSpLocks noChangeShapeType="1"/>
              <a:stCxn id="7261" idx="5"/>
              <a:endCxn id="7262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8" name="AutoShape 23"/>
            <p:cNvCxnSpPr>
              <a:cxnSpLocks noChangeShapeType="1"/>
              <a:stCxn id="7262" idx="6"/>
              <a:endCxn id="7265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9" name="AutoShape 24"/>
            <p:cNvCxnSpPr>
              <a:cxnSpLocks noChangeShapeType="1"/>
              <a:stCxn id="7263" idx="6"/>
              <a:endCxn id="7264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80" name="AutoShape 25"/>
            <p:cNvCxnSpPr>
              <a:cxnSpLocks noChangeShapeType="1"/>
              <a:stCxn id="7264" idx="6"/>
              <a:endCxn id="7265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7170" name="Object 26"/>
          <p:cNvGraphicFramePr>
            <a:graphicFrameLocks noChangeAspect="1"/>
          </p:cNvGraphicFramePr>
          <p:nvPr/>
        </p:nvGraphicFramePr>
        <p:xfrm>
          <a:off x="4837113" y="1600200"/>
          <a:ext cx="2055812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8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1600200"/>
                        <a:ext cx="2055812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27"/>
          <p:cNvSpPr txBox="1">
            <a:spLocks noChangeArrowheads="1"/>
          </p:cNvSpPr>
          <p:nvPr/>
        </p:nvSpPr>
        <p:spPr bwMode="auto">
          <a:xfrm>
            <a:off x="4837113" y="12192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7173" name="Text Box 28"/>
          <p:cNvSpPr txBox="1">
            <a:spLocks noChangeArrowheads="1"/>
          </p:cNvSpPr>
          <p:nvPr/>
        </p:nvSpPr>
        <p:spPr bwMode="auto">
          <a:xfrm>
            <a:off x="304800" y="2849563"/>
            <a:ext cx="6397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06909" name="Group 29"/>
          <p:cNvGraphicFramePr>
            <a:graphicFrameLocks noGrp="1"/>
          </p:cNvGraphicFramePr>
          <p:nvPr/>
        </p:nvGraphicFramePr>
        <p:xfrm>
          <a:off x="7580313" y="16764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198" name="Text Box 53"/>
          <p:cNvSpPr txBox="1">
            <a:spLocks noChangeArrowheads="1"/>
          </p:cNvSpPr>
          <p:nvPr/>
        </p:nvSpPr>
        <p:spPr bwMode="auto">
          <a:xfrm>
            <a:off x="6888163" y="12334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06934" name="Group 54"/>
          <p:cNvGraphicFramePr>
            <a:graphicFrameLocks noGrp="1"/>
          </p:cNvGraphicFramePr>
          <p:nvPr/>
        </p:nvGraphicFramePr>
        <p:xfrm>
          <a:off x="7835900" y="1676400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224" name="Text Box 79"/>
          <p:cNvSpPr txBox="1">
            <a:spLocks noChangeArrowheads="1"/>
          </p:cNvSpPr>
          <p:nvPr/>
        </p:nvSpPr>
        <p:spPr bwMode="auto">
          <a:xfrm>
            <a:off x="1295400" y="4876800"/>
            <a:ext cx="32175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8, 1, 4 } → { 1, 4, 0, 9 } </a:t>
            </a:r>
          </a:p>
        </p:txBody>
      </p:sp>
      <p:sp>
        <p:nvSpPr>
          <p:cNvPr id="7225" name="Text Box 80"/>
          <p:cNvSpPr txBox="1">
            <a:spLocks noChangeArrowheads="1"/>
          </p:cNvSpPr>
          <p:nvPr/>
        </p:nvSpPr>
        <p:spPr bwMode="auto">
          <a:xfrm>
            <a:off x="7046913" y="4845050"/>
            <a:ext cx="190308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neighbors.</a:t>
            </a:r>
          </a:p>
          <a:p>
            <a:pPr eaLnBrk="1" hangingPunct="1"/>
            <a:endParaRPr lang="en-US" altLang="zh-CN" sz="1800" dirty="0"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Record in </a:t>
            </a:r>
            <a:r>
              <a:rPr lang="en-US" altLang="zh-CN" sz="2000" dirty="0" err="1">
                <a:solidFill>
                  <a:schemeClr val="accent1"/>
                </a:solidFill>
                <a:latin typeface="Arial" charset="0"/>
              </a:rPr>
              <a:t>Pred</a:t>
            </a:r>
            <a:endParaRPr lang="en-US" altLang="zh-CN" sz="2000" dirty="0">
              <a:solidFill>
                <a:schemeClr val="accent1"/>
              </a:solidFill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that we came </a:t>
            </a:r>
            <a:br>
              <a:rPr lang="en-US" altLang="zh-CN" sz="2000" dirty="0">
                <a:solidFill>
                  <a:schemeClr val="accent1"/>
                </a:solidFill>
                <a:latin typeface="Arial" charset="0"/>
              </a:rPr>
            </a:br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from 8.</a:t>
            </a:r>
          </a:p>
          <a:p>
            <a:pPr eaLnBrk="1" hangingPunct="1"/>
            <a:endParaRPr lang="zh-CN" altLang="en-US" sz="1800" dirty="0">
              <a:solidFill>
                <a:srgbClr val="00FF00"/>
              </a:solidFill>
              <a:latin typeface="Arial" charset="0"/>
            </a:endParaRPr>
          </a:p>
        </p:txBody>
      </p:sp>
      <p:sp>
        <p:nvSpPr>
          <p:cNvPr id="7226" name="Line 81"/>
          <p:cNvSpPr>
            <a:spLocks noChangeShapeType="1"/>
          </p:cNvSpPr>
          <p:nvPr/>
        </p:nvSpPr>
        <p:spPr bwMode="auto">
          <a:xfrm>
            <a:off x="4684713" y="41481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7" name="Text Box 82"/>
          <p:cNvSpPr txBox="1">
            <a:spLocks noChangeArrowheads="1"/>
          </p:cNvSpPr>
          <p:nvPr/>
        </p:nvSpPr>
        <p:spPr bwMode="auto">
          <a:xfrm>
            <a:off x="3824288" y="2017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7228" name="Text Box 83"/>
          <p:cNvSpPr txBox="1">
            <a:spLocks noChangeArrowheads="1"/>
          </p:cNvSpPr>
          <p:nvPr/>
        </p:nvSpPr>
        <p:spPr bwMode="auto">
          <a:xfrm>
            <a:off x="228600" y="5394325"/>
            <a:ext cx="6477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8.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Place all unvisited neighbors of 8 on the queue.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Notice that 2 is not placed on the queue again, it has been visited!</a:t>
            </a:r>
          </a:p>
        </p:txBody>
      </p:sp>
      <p:sp>
        <p:nvSpPr>
          <p:cNvPr id="7229" name="Text Box 84"/>
          <p:cNvSpPr txBox="1">
            <a:spLocks noChangeArrowheads="1"/>
          </p:cNvSpPr>
          <p:nvPr/>
        </p:nvSpPr>
        <p:spPr bwMode="auto">
          <a:xfrm>
            <a:off x="3886200" y="3992563"/>
            <a:ext cx="8747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7230" name="Oval 85"/>
          <p:cNvSpPr>
            <a:spLocks noChangeArrowheads="1"/>
          </p:cNvSpPr>
          <p:nvPr/>
        </p:nvSpPr>
        <p:spPr bwMode="auto">
          <a:xfrm>
            <a:off x="2595715" y="2743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Oval 86"/>
          <p:cNvSpPr>
            <a:spLocks noChangeArrowheads="1"/>
          </p:cNvSpPr>
          <p:nvPr/>
        </p:nvSpPr>
        <p:spPr bwMode="auto">
          <a:xfrm>
            <a:off x="792163" y="1600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Oval 87"/>
          <p:cNvSpPr>
            <a:spLocks noChangeArrowheads="1"/>
          </p:cNvSpPr>
          <p:nvPr/>
        </p:nvSpPr>
        <p:spPr bwMode="auto">
          <a:xfrm>
            <a:off x="2087563" y="20574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6996" name="Group 116"/>
          <p:cNvGraphicFramePr>
            <a:graphicFrameLocks noGrp="1"/>
          </p:cNvGraphicFramePr>
          <p:nvPr/>
        </p:nvGraphicFramePr>
        <p:xfrm>
          <a:off x="8521700" y="1676400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257" name="Text Box 112"/>
          <p:cNvSpPr txBox="1">
            <a:spLocks noChangeArrowheads="1"/>
          </p:cNvSpPr>
          <p:nvPr/>
        </p:nvSpPr>
        <p:spPr bwMode="auto">
          <a:xfrm>
            <a:off x="8266113" y="4608513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7258" name="Rectangle 11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110848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8282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8283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8284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8285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8286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8287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8288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8289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8290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8291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0</a:t>
              </a:r>
            </a:p>
          </p:txBody>
        </p:sp>
        <p:cxnSp>
          <p:nvCxnSpPr>
            <p:cNvPr id="8292" name="AutoShape 14"/>
            <p:cNvCxnSpPr>
              <a:cxnSpLocks noChangeShapeType="1"/>
              <a:stCxn id="8291" idx="6"/>
              <a:endCxn id="8290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3" name="AutoShape 15"/>
            <p:cNvCxnSpPr>
              <a:cxnSpLocks noChangeShapeType="1"/>
              <a:stCxn id="8290" idx="5"/>
              <a:endCxn id="8289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4" name="AutoShape 16"/>
            <p:cNvCxnSpPr>
              <a:cxnSpLocks noChangeShapeType="1"/>
              <a:stCxn id="8289" idx="2"/>
              <a:endCxn id="8286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5" name="AutoShape 17"/>
            <p:cNvCxnSpPr>
              <a:cxnSpLocks noChangeShapeType="1"/>
              <a:stCxn id="8290" idx="3"/>
              <a:endCxn id="8282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6" name="AutoShape 18"/>
            <p:cNvCxnSpPr>
              <a:cxnSpLocks noChangeShapeType="1"/>
              <a:stCxn id="8282" idx="6"/>
              <a:endCxn id="8286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7" name="AutoShape 19"/>
            <p:cNvCxnSpPr>
              <a:cxnSpLocks noChangeShapeType="1"/>
              <a:stCxn id="8282" idx="3"/>
              <a:endCxn id="8283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8" name="AutoShape 20"/>
            <p:cNvCxnSpPr>
              <a:cxnSpLocks noChangeShapeType="1"/>
              <a:stCxn id="8283" idx="6"/>
              <a:endCxn id="8284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9" name="AutoShape 21"/>
            <p:cNvCxnSpPr>
              <a:cxnSpLocks noChangeShapeType="1"/>
              <a:stCxn id="8284" idx="7"/>
              <a:endCxn id="8286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0" name="AutoShape 22"/>
            <p:cNvCxnSpPr>
              <a:cxnSpLocks noChangeShapeType="1"/>
              <a:stCxn id="8284" idx="5"/>
              <a:endCxn id="8285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1" name="AutoShape 23"/>
            <p:cNvCxnSpPr>
              <a:cxnSpLocks noChangeShapeType="1"/>
              <a:stCxn id="8285" idx="6"/>
              <a:endCxn id="8288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2" name="AutoShape 24"/>
            <p:cNvCxnSpPr>
              <a:cxnSpLocks noChangeShapeType="1"/>
              <a:stCxn id="8286" idx="6"/>
              <a:endCxn id="8287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03" name="AutoShape 25"/>
            <p:cNvCxnSpPr>
              <a:cxnSpLocks noChangeShapeType="1"/>
              <a:stCxn id="8287" idx="6"/>
              <a:endCxn id="8288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194" name="Object 26"/>
          <p:cNvGraphicFramePr>
            <a:graphicFrameLocks noChangeAspect="1"/>
          </p:cNvGraphicFramePr>
          <p:nvPr/>
        </p:nvGraphicFramePr>
        <p:xfrm>
          <a:off x="4572000" y="1598613"/>
          <a:ext cx="2055813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2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598613"/>
                        <a:ext cx="2055813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27"/>
          <p:cNvSpPr txBox="1">
            <a:spLocks noChangeArrowheads="1"/>
          </p:cNvSpPr>
          <p:nvPr/>
        </p:nvSpPr>
        <p:spPr bwMode="auto">
          <a:xfrm>
            <a:off x="4572000" y="1217613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8197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07933" name="Group 29"/>
          <p:cNvGraphicFramePr>
            <a:graphicFrameLocks noGrp="1"/>
          </p:cNvGraphicFramePr>
          <p:nvPr/>
        </p:nvGraphicFramePr>
        <p:xfrm>
          <a:off x="7315200" y="1674813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222" name="Text Box 53"/>
          <p:cNvSpPr txBox="1">
            <a:spLocks noChangeArrowheads="1"/>
          </p:cNvSpPr>
          <p:nvPr/>
        </p:nvSpPr>
        <p:spPr bwMode="auto">
          <a:xfrm>
            <a:off x="6623050" y="1231900"/>
            <a:ext cx="206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07958" name="Group 54"/>
          <p:cNvGraphicFramePr>
            <a:graphicFrameLocks noGrp="1"/>
          </p:cNvGraphicFramePr>
          <p:nvPr/>
        </p:nvGraphicFramePr>
        <p:xfrm>
          <a:off x="7570788" y="1674813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248" name="Text Box 79"/>
          <p:cNvSpPr txBox="1">
            <a:spLocks noChangeArrowheads="1"/>
          </p:cNvSpPr>
          <p:nvPr/>
        </p:nvSpPr>
        <p:spPr bwMode="auto">
          <a:xfrm>
            <a:off x="1009650" y="5334000"/>
            <a:ext cx="38010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1, 4, 0, 9 } → { 4, 0, 9, 3, 7 } </a:t>
            </a:r>
          </a:p>
        </p:txBody>
      </p:sp>
      <p:sp>
        <p:nvSpPr>
          <p:cNvPr id="8249" name="Text Box 80"/>
          <p:cNvSpPr txBox="1">
            <a:spLocks noChangeArrowheads="1"/>
          </p:cNvSpPr>
          <p:nvPr/>
        </p:nvSpPr>
        <p:spPr bwMode="auto">
          <a:xfrm>
            <a:off x="6781800" y="4843463"/>
            <a:ext cx="190308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neighbors.</a:t>
            </a:r>
          </a:p>
          <a:p>
            <a:pPr eaLnBrk="1" hangingPunct="1"/>
            <a:endParaRPr lang="en-US" altLang="zh-CN" sz="1800" dirty="0">
              <a:solidFill>
                <a:srgbClr val="00FF00"/>
              </a:solidFill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Record in </a:t>
            </a:r>
            <a:r>
              <a:rPr lang="en-US" altLang="zh-CN" sz="2000" dirty="0" err="1">
                <a:solidFill>
                  <a:schemeClr val="accent1"/>
                </a:solidFill>
                <a:latin typeface="Arial" charset="0"/>
              </a:rPr>
              <a:t>Pred</a:t>
            </a:r>
            <a:endParaRPr lang="en-US" altLang="zh-CN" sz="2000" dirty="0">
              <a:solidFill>
                <a:schemeClr val="accent1"/>
              </a:solidFill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that we came </a:t>
            </a:r>
            <a:br>
              <a:rPr lang="en-US" altLang="zh-CN" sz="2000" dirty="0">
                <a:solidFill>
                  <a:schemeClr val="accent1"/>
                </a:solidFill>
                <a:latin typeface="Arial" charset="0"/>
              </a:rPr>
            </a:br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from 1.</a:t>
            </a:r>
          </a:p>
          <a:p>
            <a:pPr eaLnBrk="1" hangingPunct="1"/>
            <a:endParaRPr lang="zh-CN" altLang="en-US" sz="1800" dirty="0">
              <a:solidFill>
                <a:srgbClr val="00CC00"/>
              </a:solidFill>
              <a:latin typeface="Arial" charset="0"/>
            </a:endParaRPr>
          </a:p>
        </p:txBody>
      </p:sp>
      <p:sp>
        <p:nvSpPr>
          <p:cNvPr id="8250" name="Line 81"/>
          <p:cNvSpPr>
            <a:spLocks noChangeShapeType="1"/>
          </p:cNvSpPr>
          <p:nvPr/>
        </p:nvSpPr>
        <p:spPr bwMode="auto">
          <a:xfrm>
            <a:off x="4343400" y="22113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51" name="Text Box 82"/>
          <p:cNvSpPr txBox="1">
            <a:spLocks noChangeArrowheads="1"/>
          </p:cNvSpPr>
          <p:nvPr/>
        </p:nvSpPr>
        <p:spPr bwMode="auto">
          <a:xfrm>
            <a:off x="3641725" y="224472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8252" name="Text Box 83"/>
          <p:cNvSpPr txBox="1">
            <a:spLocks noChangeArrowheads="1"/>
          </p:cNvSpPr>
          <p:nvPr/>
        </p:nvSpPr>
        <p:spPr bwMode="auto">
          <a:xfrm>
            <a:off x="533400" y="5853113"/>
            <a:ext cx="532068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1.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Place all unvisited neighbors of 1 on the queue.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Only nodes 3 and 7 haven’t been visited yet.</a:t>
            </a:r>
          </a:p>
        </p:txBody>
      </p:sp>
      <p:sp>
        <p:nvSpPr>
          <p:cNvPr id="8253" name="Text Box 84"/>
          <p:cNvSpPr txBox="1">
            <a:spLocks noChangeArrowheads="1"/>
          </p:cNvSpPr>
          <p:nvPr/>
        </p:nvSpPr>
        <p:spPr bwMode="auto">
          <a:xfrm>
            <a:off x="3544888" y="205581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8254" name="Oval 85"/>
          <p:cNvSpPr>
            <a:spLocks noChangeArrowheads="1"/>
          </p:cNvSpPr>
          <p:nvPr/>
        </p:nvSpPr>
        <p:spPr bwMode="auto">
          <a:xfrm>
            <a:off x="2438400" y="3505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55" name="Oval 86"/>
          <p:cNvSpPr>
            <a:spLocks noChangeArrowheads="1"/>
          </p:cNvSpPr>
          <p:nvPr/>
        </p:nvSpPr>
        <p:spPr bwMode="auto">
          <a:xfrm>
            <a:off x="1066800" y="3581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56" name="Oval 87"/>
          <p:cNvSpPr>
            <a:spLocks noChangeArrowheads="1"/>
          </p:cNvSpPr>
          <p:nvPr/>
        </p:nvSpPr>
        <p:spPr bwMode="auto">
          <a:xfrm>
            <a:off x="1828800" y="30480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8019" name="Group 115"/>
          <p:cNvGraphicFramePr>
            <a:graphicFrameLocks noGrp="1"/>
          </p:cNvGraphicFramePr>
          <p:nvPr/>
        </p:nvGraphicFramePr>
        <p:xfrm>
          <a:off x="8256588" y="1652588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281" name="Text Box 112"/>
          <p:cNvSpPr txBox="1">
            <a:spLocks noChangeArrowheads="1"/>
          </p:cNvSpPr>
          <p:nvPr/>
        </p:nvSpPr>
        <p:spPr bwMode="auto">
          <a:xfrm>
            <a:off x="8001000" y="45847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</p:spTree>
    <p:extLst>
      <p:ext uri="{BB962C8B-B14F-4D97-AF65-F5344CB8AC3E}">
        <p14:creationId xmlns:p14="http://schemas.microsoft.com/office/powerpoint/2010/main" val="283696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9304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9305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9306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9307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9308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9309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9310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9311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9312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9313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0</a:t>
              </a:r>
            </a:p>
          </p:txBody>
        </p:sp>
        <p:cxnSp>
          <p:nvCxnSpPr>
            <p:cNvPr id="9314" name="AutoShape 14"/>
            <p:cNvCxnSpPr>
              <a:cxnSpLocks noChangeShapeType="1"/>
              <a:stCxn id="9313" idx="6"/>
              <a:endCxn id="9312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15" name="AutoShape 15"/>
            <p:cNvCxnSpPr>
              <a:cxnSpLocks noChangeShapeType="1"/>
              <a:stCxn id="9312" idx="5"/>
              <a:endCxn id="9311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16" name="AutoShape 16"/>
            <p:cNvCxnSpPr>
              <a:cxnSpLocks noChangeShapeType="1"/>
              <a:stCxn id="9311" idx="2"/>
              <a:endCxn id="9308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17" name="AutoShape 17"/>
            <p:cNvCxnSpPr>
              <a:cxnSpLocks noChangeShapeType="1"/>
              <a:stCxn id="9312" idx="3"/>
              <a:endCxn id="9304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18" name="AutoShape 18"/>
            <p:cNvCxnSpPr>
              <a:cxnSpLocks noChangeShapeType="1"/>
              <a:stCxn id="9304" idx="6"/>
              <a:endCxn id="9308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19" name="AutoShape 19"/>
            <p:cNvCxnSpPr>
              <a:cxnSpLocks noChangeShapeType="1"/>
              <a:stCxn id="9304" idx="3"/>
              <a:endCxn id="9305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0" name="AutoShape 20"/>
            <p:cNvCxnSpPr>
              <a:cxnSpLocks noChangeShapeType="1"/>
              <a:stCxn id="9305" idx="6"/>
              <a:endCxn id="9306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1" name="AutoShape 21"/>
            <p:cNvCxnSpPr>
              <a:cxnSpLocks noChangeShapeType="1"/>
              <a:stCxn id="9306" idx="7"/>
              <a:endCxn id="9308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2" name="AutoShape 22"/>
            <p:cNvCxnSpPr>
              <a:cxnSpLocks noChangeShapeType="1"/>
              <a:stCxn id="9306" idx="5"/>
              <a:endCxn id="9307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3" name="AutoShape 23"/>
            <p:cNvCxnSpPr>
              <a:cxnSpLocks noChangeShapeType="1"/>
              <a:stCxn id="9307" idx="6"/>
              <a:endCxn id="9310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4" name="AutoShape 24"/>
            <p:cNvCxnSpPr>
              <a:cxnSpLocks noChangeShapeType="1"/>
              <a:stCxn id="9308" idx="6"/>
              <a:endCxn id="9309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5" name="AutoShape 25"/>
            <p:cNvCxnSpPr>
              <a:cxnSpLocks noChangeShapeType="1"/>
              <a:stCxn id="9309" idx="6"/>
              <a:endCxn id="9310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9218" name="Object 26"/>
          <p:cNvGraphicFramePr>
            <a:graphicFrameLocks noChangeAspect="1"/>
          </p:cNvGraphicFramePr>
          <p:nvPr/>
        </p:nvGraphicFramePr>
        <p:xfrm>
          <a:off x="4760913" y="1730375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6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1730375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27"/>
          <p:cNvSpPr txBox="1">
            <a:spLocks noChangeArrowheads="1"/>
          </p:cNvSpPr>
          <p:nvPr/>
        </p:nvSpPr>
        <p:spPr bwMode="auto">
          <a:xfrm>
            <a:off x="4760913" y="134937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9221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08957" name="Group 29"/>
          <p:cNvGraphicFramePr>
            <a:graphicFrameLocks noGrp="1"/>
          </p:cNvGraphicFramePr>
          <p:nvPr/>
        </p:nvGraphicFramePr>
        <p:xfrm>
          <a:off x="7504113" y="1806575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246" name="Text Box 53"/>
          <p:cNvSpPr txBox="1">
            <a:spLocks noChangeArrowheads="1"/>
          </p:cNvSpPr>
          <p:nvPr/>
        </p:nvSpPr>
        <p:spPr bwMode="auto">
          <a:xfrm>
            <a:off x="6811963" y="1363663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08982" name="Group 54"/>
          <p:cNvGraphicFramePr>
            <a:graphicFrameLocks noGrp="1"/>
          </p:cNvGraphicFramePr>
          <p:nvPr/>
        </p:nvGraphicFramePr>
        <p:xfrm>
          <a:off x="7759700" y="1806575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272" name="Text Box 79"/>
          <p:cNvSpPr txBox="1">
            <a:spLocks noChangeArrowheads="1"/>
          </p:cNvSpPr>
          <p:nvPr/>
        </p:nvSpPr>
        <p:spPr bwMode="auto">
          <a:xfrm>
            <a:off x="1143000" y="5334000"/>
            <a:ext cx="36663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4, 0, 9, 3, 7 } → { 0, 9, 3, 7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9273" name="Line 80"/>
          <p:cNvSpPr>
            <a:spLocks noChangeShapeType="1"/>
          </p:cNvSpPr>
          <p:nvPr/>
        </p:nvSpPr>
        <p:spPr bwMode="auto">
          <a:xfrm>
            <a:off x="4532313" y="32115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4" name="Text Box 81"/>
          <p:cNvSpPr txBox="1">
            <a:spLocks noChangeArrowheads="1"/>
          </p:cNvSpPr>
          <p:nvPr/>
        </p:nvSpPr>
        <p:spPr bwMode="auto">
          <a:xfrm>
            <a:off x="3830638" y="2376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9275" name="Text Box 82"/>
          <p:cNvSpPr txBox="1">
            <a:spLocks noChangeArrowheads="1"/>
          </p:cNvSpPr>
          <p:nvPr/>
        </p:nvSpPr>
        <p:spPr bwMode="auto">
          <a:xfrm>
            <a:off x="1123950" y="5853113"/>
            <a:ext cx="34740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4.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4 has no unvisited neighbors!</a:t>
            </a:r>
          </a:p>
        </p:txBody>
      </p:sp>
      <p:sp>
        <p:nvSpPr>
          <p:cNvPr id="9276" name="Text Box 83"/>
          <p:cNvSpPr txBox="1">
            <a:spLocks noChangeArrowheads="1"/>
          </p:cNvSpPr>
          <p:nvPr/>
        </p:nvSpPr>
        <p:spPr bwMode="auto">
          <a:xfrm>
            <a:off x="3733800" y="3055938"/>
            <a:ext cx="8747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9277" name="Oval 84"/>
          <p:cNvSpPr>
            <a:spLocks noChangeArrowheads="1"/>
          </p:cNvSpPr>
          <p:nvPr/>
        </p:nvSpPr>
        <p:spPr bwMode="auto">
          <a:xfrm>
            <a:off x="304800" y="40386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9013" name="Group 85"/>
          <p:cNvGraphicFramePr>
            <a:graphicFrameLocks noGrp="1"/>
          </p:cNvGraphicFramePr>
          <p:nvPr/>
        </p:nvGraphicFramePr>
        <p:xfrm>
          <a:off x="8445500" y="1806575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302" name="Text Box 109"/>
          <p:cNvSpPr txBox="1">
            <a:spLocks noChangeArrowheads="1"/>
          </p:cNvSpPr>
          <p:nvPr/>
        </p:nvSpPr>
        <p:spPr bwMode="auto">
          <a:xfrm>
            <a:off x="8189913" y="473868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9303" name="Rectangle 11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758972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0328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0329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0330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0331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0332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0333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0334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0335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0336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0337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0338" name="AutoShape 14"/>
            <p:cNvCxnSpPr>
              <a:cxnSpLocks noChangeShapeType="1"/>
              <a:stCxn id="10337" idx="6"/>
              <a:endCxn id="10336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39" name="AutoShape 15"/>
            <p:cNvCxnSpPr>
              <a:cxnSpLocks noChangeShapeType="1"/>
              <a:stCxn id="10336" idx="5"/>
              <a:endCxn id="10335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0" name="AutoShape 16"/>
            <p:cNvCxnSpPr>
              <a:cxnSpLocks noChangeShapeType="1"/>
              <a:stCxn id="10335" idx="2"/>
              <a:endCxn id="10332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1" name="AutoShape 17"/>
            <p:cNvCxnSpPr>
              <a:cxnSpLocks noChangeShapeType="1"/>
              <a:stCxn id="10336" idx="3"/>
              <a:endCxn id="10328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2" name="AutoShape 18"/>
            <p:cNvCxnSpPr>
              <a:cxnSpLocks noChangeShapeType="1"/>
              <a:stCxn id="10328" idx="6"/>
              <a:endCxn id="10332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" name="AutoShape 19"/>
            <p:cNvCxnSpPr>
              <a:cxnSpLocks noChangeShapeType="1"/>
              <a:stCxn id="10328" idx="3"/>
              <a:endCxn id="10329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" name="AutoShape 20"/>
            <p:cNvCxnSpPr>
              <a:cxnSpLocks noChangeShapeType="1"/>
              <a:stCxn id="10329" idx="6"/>
              <a:endCxn id="10330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" name="AutoShape 21"/>
            <p:cNvCxnSpPr>
              <a:cxnSpLocks noChangeShapeType="1"/>
              <a:stCxn id="10330" idx="7"/>
              <a:endCxn id="10332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6" name="AutoShape 22"/>
            <p:cNvCxnSpPr>
              <a:cxnSpLocks noChangeShapeType="1"/>
              <a:stCxn id="10330" idx="5"/>
              <a:endCxn id="10331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7" name="AutoShape 23"/>
            <p:cNvCxnSpPr>
              <a:cxnSpLocks noChangeShapeType="1"/>
              <a:stCxn id="10331" idx="6"/>
              <a:endCxn id="10334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8" name="AutoShape 24"/>
            <p:cNvCxnSpPr>
              <a:cxnSpLocks noChangeShapeType="1"/>
              <a:stCxn id="10332" idx="6"/>
              <a:endCxn id="10333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9" name="AutoShape 25"/>
            <p:cNvCxnSpPr>
              <a:cxnSpLocks noChangeShapeType="1"/>
              <a:stCxn id="10333" idx="6"/>
              <a:endCxn id="10334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0242" name="Object 26"/>
          <p:cNvGraphicFramePr>
            <a:graphicFrameLocks noChangeAspect="1"/>
          </p:cNvGraphicFramePr>
          <p:nvPr/>
        </p:nvGraphicFramePr>
        <p:xfrm>
          <a:off x="4837113" y="1730375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0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1730375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27"/>
          <p:cNvSpPr txBox="1">
            <a:spLocks noChangeArrowheads="1"/>
          </p:cNvSpPr>
          <p:nvPr/>
        </p:nvSpPr>
        <p:spPr bwMode="auto">
          <a:xfrm>
            <a:off x="4837113" y="134937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0245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09981" name="Group 29"/>
          <p:cNvGraphicFramePr>
            <a:graphicFrameLocks noGrp="1"/>
          </p:cNvGraphicFramePr>
          <p:nvPr/>
        </p:nvGraphicFramePr>
        <p:xfrm>
          <a:off x="7580313" y="1806575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70" name="Text Box 53"/>
          <p:cNvSpPr txBox="1">
            <a:spLocks noChangeArrowheads="1"/>
          </p:cNvSpPr>
          <p:nvPr/>
        </p:nvSpPr>
        <p:spPr bwMode="auto">
          <a:xfrm>
            <a:off x="6888163" y="1363663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10062" name="Group 110"/>
          <p:cNvGraphicFramePr>
            <a:graphicFrameLocks noGrp="1"/>
          </p:cNvGraphicFramePr>
          <p:nvPr/>
        </p:nvGraphicFramePr>
        <p:xfrm>
          <a:off x="7835900" y="1806575"/>
          <a:ext cx="261938" cy="2971800"/>
        </p:xfrm>
        <a:graphic>
          <a:graphicData uri="http://schemas.openxmlformats.org/drawingml/2006/table">
            <a:tbl>
              <a:tblPr/>
              <a:tblGrid>
                <a:gridCol w="26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96" name="Text Box 79"/>
          <p:cNvSpPr txBox="1">
            <a:spLocks noChangeArrowheads="1"/>
          </p:cNvSpPr>
          <p:nvPr/>
        </p:nvSpPr>
        <p:spPr bwMode="auto">
          <a:xfrm>
            <a:off x="1295400" y="5334000"/>
            <a:ext cx="315342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0, 9, 3, 7 } → { 9, 3, 7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10297" name="Line 80"/>
          <p:cNvSpPr>
            <a:spLocks noChangeShapeType="1"/>
          </p:cNvSpPr>
          <p:nvPr/>
        </p:nvSpPr>
        <p:spPr bwMode="auto">
          <a:xfrm>
            <a:off x="4608513" y="20685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8" name="Text Box 81"/>
          <p:cNvSpPr txBox="1">
            <a:spLocks noChangeArrowheads="1"/>
          </p:cNvSpPr>
          <p:nvPr/>
        </p:nvSpPr>
        <p:spPr bwMode="auto">
          <a:xfrm>
            <a:off x="3906838" y="2376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0299" name="Text Box 82"/>
          <p:cNvSpPr txBox="1">
            <a:spLocks noChangeArrowheads="1"/>
          </p:cNvSpPr>
          <p:nvPr/>
        </p:nvSpPr>
        <p:spPr bwMode="auto">
          <a:xfrm>
            <a:off x="1276350" y="5853113"/>
            <a:ext cx="34740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0.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0 has no unvisited neighbors!</a:t>
            </a:r>
          </a:p>
        </p:txBody>
      </p:sp>
      <p:sp>
        <p:nvSpPr>
          <p:cNvPr id="10300" name="Text Box 83"/>
          <p:cNvSpPr txBox="1">
            <a:spLocks noChangeArrowheads="1"/>
          </p:cNvSpPr>
          <p:nvPr/>
        </p:nvSpPr>
        <p:spPr bwMode="auto">
          <a:xfrm>
            <a:off x="3810000" y="1912938"/>
            <a:ext cx="8747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0301" name="Oval 84"/>
          <p:cNvSpPr>
            <a:spLocks noChangeArrowheads="1"/>
          </p:cNvSpPr>
          <p:nvPr/>
        </p:nvSpPr>
        <p:spPr bwMode="auto">
          <a:xfrm>
            <a:off x="914400" y="16002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0037" name="Group 85"/>
          <p:cNvGraphicFramePr>
            <a:graphicFrameLocks noGrp="1"/>
          </p:cNvGraphicFramePr>
          <p:nvPr/>
        </p:nvGraphicFramePr>
        <p:xfrm>
          <a:off x="8464550" y="1806575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326" name="Text Box 109"/>
          <p:cNvSpPr txBox="1">
            <a:spLocks noChangeArrowheads="1"/>
          </p:cNvSpPr>
          <p:nvPr/>
        </p:nvSpPr>
        <p:spPr bwMode="auto">
          <a:xfrm>
            <a:off x="8208963" y="473868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10327" name="Rectangle 11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2081248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1352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1353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1354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3</a:t>
              </a:r>
            </a:p>
          </p:txBody>
        </p:sp>
        <p:sp>
          <p:nvSpPr>
            <p:cNvPr id="11355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1356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1357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1358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1359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1360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1361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1362" name="AutoShape 14"/>
            <p:cNvCxnSpPr>
              <a:cxnSpLocks noChangeShapeType="1"/>
              <a:stCxn id="11361" idx="6"/>
              <a:endCxn id="11360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3" name="AutoShape 15"/>
            <p:cNvCxnSpPr>
              <a:cxnSpLocks noChangeShapeType="1"/>
              <a:stCxn id="11360" idx="5"/>
              <a:endCxn id="11359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4" name="AutoShape 16"/>
            <p:cNvCxnSpPr>
              <a:cxnSpLocks noChangeShapeType="1"/>
              <a:stCxn id="11359" idx="2"/>
              <a:endCxn id="11356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5" name="AutoShape 17"/>
            <p:cNvCxnSpPr>
              <a:cxnSpLocks noChangeShapeType="1"/>
              <a:stCxn id="11360" idx="3"/>
              <a:endCxn id="11352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6" name="AutoShape 18"/>
            <p:cNvCxnSpPr>
              <a:cxnSpLocks noChangeShapeType="1"/>
              <a:stCxn id="11352" idx="6"/>
              <a:endCxn id="11356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7" name="AutoShape 19"/>
            <p:cNvCxnSpPr>
              <a:cxnSpLocks noChangeShapeType="1"/>
              <a:stCxn id="11352" idx="3"/>
              <a:endCxn id="11353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8" name="AutoShape 20"/>
            <p:cNvCxnSpPr>
              <a:cxnSpLocks noChangeShapeType="1"/>
              <a:stCxn id="11353" idx="6"/>
              <a:endCxn id="11354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9" name="AutoShape 21"/>
            <p:cNvCxnSpPr>
              <a:cxnSpLocks noChangeShapeType="1"/>
              <a:stCxn id="11354" idx="7"/>
              <a:endCxn id="11356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70" name="AutoShape 22"/>
            <p:cNvCxnSpPr>
              <a:cxnSpLocks noChangeShapeType="1"/>
              <a:stCxn id="11354" idx="5"/>
              <a:endCxn id="11355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71" name="AutoShape 23"/>
            <p:cNvCxnSpPr>
              <a:cxnSpLocks noChangeShapeType="1"/>
              <a:stCxn id="11355" idx="6"/>
              <a:endCxn id="11358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72" name="AutoShape 24"/>
            <p:cNvCxnSpPr>
              <a:cxnSpLocks noChangeShapeType="1"/>
              <a:stCxn id="11356" idx="6"/>
              <a:endCxn id="11357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73" name="AutoShape 25"/>
            <p:cNvCxnSpPr>
              <a:cxnSpLocks noChangeShapeType="1"/>
              <a:stCxn id="11357" idx="6"/>
              <a:endCxn id="11358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1266" name="Object 26"/>
          <p:cNvGraphicFramePr>
            <a:graphicFrameLocks noChangeAspect="1"/>
          </p:cNvGraphicFramePr>
          <p:nvPr/>
        </p:nvGraphicFramePr>
        <p:xfrm>
          <a:off x="4760913" y="1730375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1730375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27"/>
          <p:cNvSpPr txBox="1">
            <a:spLocks noChangeArrowheads="1"/>
          </p:cNvSpPr>
          <p:nvPr/>
        </p:nvSpPr>
        <p:spPr bwMode="auto">
          <a:xfrm>
            <a:off x="4760913" y="134937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1269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11005" name="Group 29"/>
          <p:cNvGraphicFramePr>
            <a:graphicFrameLocks noGrp="1"/>
          </p:cNvGraphicFramePr>
          <p:nvPr/>
        </p:nvGraphicFramePr>
        <p:xfrm>
          <a:off x="7504113" y="1806575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294" name="Text Box 53"/>
          <p:cNvSpPr txBox="1">
            <a:spLocks noChangeArrowheads="1"/>
          </p:cNvSpPr>
          <p:nvPr/>
        </p:nvSpPr>
        <p:spPr bwMode="auto">
          <a:xfrm>
            <a:off x="6811963" y="1363663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11086" name="Group 110"/>
          <p:cNvGraphicFramePr>
            <a:graphicFrameLocks noGrp="1"/>
          </p:cNvGraphicFramePr>
          <p:nvPr/>
        </p:nvGraphicFramePr>
        <p:xfrm>
          <a:off x="7759700" y="1806575"/>
          <a:ext cx="261938" cy="2971800"/>
        </p:xfrm>
        <a:graphic>
          <a:graphicData uri="http://schemas.openxmlformats.org/drawingml/2006/table">
            <a:tbl>
              <a:tblPr/>
              <a:tblGrid>
                <a:gridCol w="26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320" name="Text Box 79"/>
          <p:cNvSpPr txBox="1">
            <a:spLocks noChangeArrowheads="1"/>
          </p:cNvSpPr>
          <p:nvPr/>
        </p:nvSpPr>
        <p:spPr bwMode="auto">
          <a:xfrm>
            <a:off x="1143000" y="5257800"/>
            <a:ext cx="26404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9, 3, 7 } → { 3, 7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11321" name="Line 80"/>
          <p:cNvSpPr>
            <a:spLocks noChangeShapeType="1"/>
          </p:cNvSpPr>
          <p:nvPr/>
        </p:nvSpPr>
        <p:spPr bwMode="auto">
          <a:xfrm>
            <a:off x="4684713" y="46593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2" name="Text Box 81"/>
          <p:cNvSpPr txBox="1">
            <a:spLocks noChangeArrowheads="1"/>
          </p:cNvSpPr>
          <p:nvPr/>
        </p:nvSpPr>
        <p:spPr bwMode="auto">
          <a:xfrm>
            <a:off x="3946525" y="2017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1323" name="Text Box 82"/>
          <p:cNvSpPr txBox="1">
            <a:spLocks noChangeArrowheads="1"/>
          </p:cNvSpPr>
          <p:nvPr/>
        </p:nvSpPr>
        <p:spPr bwMode="auto">
          <a:xfrm>
            <a:off x="1123950" y="5776913"/>
            <a:ext cx="34740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9.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9 has no unvisited neighbors!</a:t>
            </a:r>
          </a:p>
        </p:txBody>
      </p:sp>
      <p:sp>
        <p:nvSpPr>
          <p:cNvPr id="11324" name="Text Box 83"/>
          <p:cNvSpPr txBox="1">
            <a:spLocks noChangeArrowheads="1"/>
          </p:cNvSpPr>
          <p:nvPr/>
        </p:nvSpPr>
        <p:spPr bwMode="auto">
          <a:xfrm>
            <a:off x="3886200" y="4503738"/>
            <a:ext cx="8747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1325" name="Oval 84"/>
          <p:cNvSpPr>
            <a:spLocks noChangeArrowheads="1"/>
          </p:cNvSpPr>
          <p:nvPr/>
        </p:nvSpPr>
        <p:spPr bwMode="auto">
          <a:xfrm>
            <a:off x="2819400" y="27432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1061" name="Group 85"/>
          <p:cNvGraphicFramePr>
            <a:graphicFrameLocks noGrp="1"/>
          </p:cNvGraphicFramePr>
          <p:nvPr/>
        </p:nvGraphicFramePr>
        <p:xfrm>
          <a:off x="8369300" y="1806575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350" name="Text Box 109"/>
          <p:cNvSpPr txBox="1">
            <a:spLocks noChangeArrowheads="1"/>
          </p:cNvSpPr>
          <p:nvPr/>
        </p:nvSpPr>
        <p:spPr bwMode="auto">
          <a:xfrm>
            <a:off x="8113713" y="473868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11351" name="Rectangle 11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2588197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2378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2379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2380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2381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2382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2383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2384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2385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2386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2387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2388" name="AutoShape 14"/>
            <p:cNvCxnSpPr>
              <a:cxnSpLocks noChangeShapeType="1"/>
              <a:stCxn id="12387" idx="6"/>
              <a:endCxn id="12386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89" name="AutoShape 15"/>
            <p:cNvCxnSpPr>
              <a:cxnSpLocks noChangeShapeType="1"/>
              <a:stCxn id="12386" idx="5"/>
              <a:endCxn id="12385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0" name="AutoShape 16"/>
            <p:cNvCxnSpPr>
              <a:cxnSpLocks noChangeShapeType="1"/>
              <a:stCxn id="12385" idx="2"/>
              <a:endCxn id="12382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1" name="AutoShape 17"/>
            <p:cNvCxnSpPr>
              <a:cxnSpLocks noChangeShapeType="1"/>
              <a:stCxn id="12386" idx="3"/>
              <a:endCxn id="12378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2" name="AutoShape 18"/>
            <p:cNvCxnSpPr>
              <a:cxnSpLocks noChangeShapeType="1"/>
              <a:stCxn id="12378" idx="6"/>
              <a:endCxn id="12382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3" name="AutoShape 19"/>
            <p:cNvCxnSpPr>
              <a:cxnSpLocks noChangeShapeType="1"/>
              <a:stCxn id="12378" idx="3"/>
              <a:endCxn id="12379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4" name="AutoShape 20"/>
            <p:cNvCxnSpPr>
              <a:cxnSpLocks noChangeShapeType="1"/>
              <a:stCxn id="12379" idx="6"/>
              <a:endCxn id="12380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5" name="AutoShape 21"/>
            <p:cNvCxnSpPr>
              <a:cxnSpLocks noChangeShapeType="1"/>
              <a:stCxn id="12380" idx="7"/>
              <a:endCxn id="12382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6" name="AutoShape 22"/>
            <p:cNvCxnSpPr>
              <a:cxnSpLocks noChangeShapeType="1"/>
              <a:stCxn id="12380" idx="5"/>
              <a:endCxn id="12381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7" name="AutoShape 23"/>
            <p:cNvCxnSpPr>
              <a:cxnSpLocks noChangeShapeType="1"/>
              <a:stCxn id="12381" idx="6"/>
              <a:endCxn id="12384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8" name="AutoShape 24"/>
            <p:cNvCxnSpPr>
              <a:cxnSpLocks noChangeShapeType="1"/>
              <a:stCxn id="12382" idx="6"/>
              <a:endCxn id="12383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9" name="AutoShape 25"/>
            <p:cNvCxnSpPr>
              <a:cxnSpLocks noChangeShapeType="1"/>
              <a:stCxn id="12383" idx="6"/>
              <a:endCxn id="12384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2290" name="Object 26"/>
          <p:cNvGraphicFramePr>
            <a:graphicFrameLocks noChangeAspect="1"/>
          </p:cNvGraphicFramePr>
          <p:nvPr/>
        </p:nvGraphicFramePr>
        <p:xfrm>
          <a:off x="4608513" y="1654175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8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1654175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27"/>
          <p:cNvSpPr txBox="1">
            <a:spLocks noChangeArrowheads="1"/>
          </p:cNvSpPr>
          <p:nvPr/>
        </p:nvSpPr>
        <p:spPr bwMode="auto">
          <a:xfrm>
            <a:off x="4608513" y="127317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2293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12029" name="Group 29"/>
          <p:cNvGraphicFramePr>
            <a:graphicFrameLocks noGrp="1"/>
          </p:cNvGraphicFramePr>
          <p:nvPr/>
        </p:nvGraphicFramePr>
        <p:xfrm>
          <a:off x="7351713" y="1730375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318" name="Text Box 53"/>
          <p:cNvSpPr txBox="1">
            <a:spLocks noChangeArrowheads="1"/>
          </p:cNvSpPr>
          <p:nvPr/>
        </p:nvSpPr>
        <p:spPr bwMode="auto">
          <a:xfrm>
            <a:off x="6629400" y="1308100"/>
            <a:ext cx="206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12054" name="Group 54"/>
          <p:cNvGraphicFramePr>
            <a:graphicFrameLocks noGrp="1"/>
          </p:cNvGraphicFramePr>
          <p:nvPr/>
        </p:nvGraphicFramePr>
        <p:xfrm>
          <a:off x="7607300" y="1730375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344" name="Text Box 79"/>
          <p:cNvSpPr txBox="1">
            <a:spLocks noChangeArrowheads="1"/>
          </p:cNvSpPr>
          <p:nvPr/>
        </p:nvSpPr>
        <p:spPr bwMode="auto">
          <a:xfrm>
            <a:off x="1219200" y="5257800"/>
            <a:ext cx="23839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3, 7 } → { 7, 5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12345" name="Line 80"/>
          <p:cNvSpPr>
            <a:spLocks noChangeShapeType="1"/>
          </p:cNvSpPr>
          <p:nvPr/>
        </p:nvSpPr>
        <p:spPr bwMode="auto">
          <a:xfrm>
            <a:off x="4379913" y="28765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6" name="Text Box 81"/>
          <p:cNvSpPr txBox="1">
            <a:spLocks noChangeArrowheads="1"/>
          </p:cNvSpPr>
          <p:nvPr/>
        </p:nvSpPr>
        <p:spPr bwMode="auto">
          <a:xfrm>
            <a:off x="3678238" y="23002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2347" name="Text Box 82"/>
          <p:cNvSpPr txBox="1">
            <a:spLocks noChangeArrowheads="1"/>
          </p:cNvSpPr>
          <p:nvPr/>
        </p:nvSpPr>
        <p:spPr bwMode="auto">
          <a:xfrm>
            <a:off x="1200150" y="5776913"/>
            <a:ext cx="36535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3.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place neighbor 5 on the queue.</a:t>
            </a:r>
          </a:p>
        </p:txBody>
      </p:sp>
      <p:sp>
        <p:nvSpPr>
          <p:cNvPr id="12348" name="Text Box 83"/>
          <p:cNvSpPr txBox="1">
            <a:spLocks noChangeArrowheads="1"/>
          </p:cNvSpPr>
          <p:nvPr/>
        </p:nvSpPr>
        <p:spPr bwMode="auto">
          <a:xfrm>
            <a:off x="3581400" y="2720975"/>
            <a:ext cx="8747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2349" name="Oval 84"/>
          <p:cNvSpPr>
            <a:spLocks noChangeArrowheads="1"/>
          </p:cNvSpPr>
          <p:nvPr/>
        </p:nvSpPr>
        <p:spPr bwMode="auto">
          <a:xfrm>
            <a:off x="1066800" y="35814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50" name="Text Box 85"/>
          <p:cNvSpPr txBox="1">
            <a:spLocks noChangeArrowheads="1"/>
          </p:cNvSpPr>
          <p:nvPr/>
        </p:nvSpPr>
        <p:spPr bwMode="auto">
          <a:xfrm>
            <a:off x="6788150" y="5038249"/>
            <a:ext cx="190308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vertex 5.</a:t>
            </a:r>
          </a:p>
          <a:p>
            <a:pPr eaLnBrk="1" hangingPunct="1"/>
            <a:endParaRPr lang="en-US" altLang="zh-CN" sz="1200" dirty="0"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Record in </a:t>
            </a:r>
            <a:r>
              <a:rPr lang="en-US" altLang="zh-CN" sz="2000" dirty="0" err="1">
                <a:solidFill>
                  <a:schemeClr val="accent1"/>
                </a:solidFill>
                <a:latin typeface="Arial" charset="0"/>
              </a:rPr>
              <a:t>Pred</a:t>
            </a:r>
            <a:endParaRPr lang="en-US" altLang="zh-CN" sz="2000" dirty="0">
              <a:solidFill>
                <a:schemeClr val="accent1"/>
              </a:solidFill>
              <a:latin typeface="Arial" charset="0"/>
            </a:endParaRPr>
          </a:p>
          <a:p>
            <a:pPr eaLnBrk="1" hangingPunct="1"/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that we came </a:t>
            </a:r>
            <a:br>
              <a:rPr lang="en-US" altLang="zh-CN" sz="2000" dirty="0">
                <a:solidFill>
                  <a:schemeClr val="accent1"/>
                </a:solidFill>
                <a:latin typeface="Arial" charset="0"/>
              </a:rPr>
            </a:br>
            <a:r>
              <a:rPr lang="en-US" altLang="zh-CN" sz="2000" dirty="0">
                <a:solidFill>
                  <a:schemeClr val="accent1"/>
                </a:solidFill>
                <a:latin typeface="Arial" charset="0"/>
              </a:rPr>
              <a:t>from 3.</a:t>
            </a:r>
          </a:p>
          <a:p>
            <a:pPr eaLnBrk="1" hangingPunct="1"/>
            <a:endParaRPr lang="zh-CN" altLang="en-US" sz="1800" dirty="0">
              <a:solidFill>
                <a:srgbClr val="00CC00"/>
              </a:solidFill>
              <a:latin typeface="Arial" charset="0"/>
            </a:endParaRPr>
          </a:p>
        </p:txBody>
      </p:sp>
      <p:sp>
        <p:nvSpPr>
          <p:cNvPr id="12351" name="Oval 86"/>
          <p:cNvSpPr>
            <a:spLocks noChangeArrowheads="1"/>
          </p:cNvSpPr>
          <p:nvPr/>
        </p:nvSpPr>
        <p:spPr bwMode="auto">
          <a:xfrm>
            <a:off x="1676400" y="4114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114" name="Group 114"/>
          <p:cNvGraphicFramePr>
            <a:graphicFrameLocks noGrp="1"/>
          </p:cNvGraphicFramePr>
          <p:nvPr/>
        </p:nvGraphicFramePr>
        <p:xfrm>
          <a:off x="8216900" y="1806575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376" name="Text Box 111"/>
          <p:cNvSpPr txBox="1">
            <a:spLocks noChangeArrowheads="1"/>
          </p:cNvSpPr>
          <p:nvPr/>
        </p:nvSpPr>
        <p:spPr bwMode="auto">
          <a:xfrm>
            <a:off x="7961313" y="473868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12377" name="Rectangle 11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3400040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381000" y="1905000"/>
            <a:ext cx="3733800" cy="2895600"/>
            <a:chOff x="192" y="816"/>
            <a:chExt cx="2976" cy="2208"/>
          </a:xfrm>
        </p:grpSpPr>
        <p:sp>
          <p:nvSpPr>
            <p:cNvPr id="13402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3403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3404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3405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5</a:t>
              </a:r>
            </a:p>
          </p:txBody>
        </p:sp>
        <p:sp>
          <p:nvSpPr>
            <p:cNvPr id="13406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3407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3408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3409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3410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3411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3412" name="AutoShape 14"/>
            <p:cNvCxnSpPr>
              <a:cxnSpLocks noChangeShapeType="1"/>
              <a:stCxn id="13411" idx="6"/>
              <a:endCxn id="13410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13" name="AutoShape 15"/>
            <p:cNvCxnSpPr>
              <a:cxnSpLocks noChangeShapeType="1"/>
              <a:stCxn id="13410" idx="5"/>
              <a:endCxn id="13409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14" name="AutoShape 16"/>
            <p:cNvCxnSpPr>
              <a:cxnSpLocks noChangeShapeType="1"/>
              <a:stCxn id="13409" idx="2"/>
              <a:endCxn id="13406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15" name="AutoShape 17"/>
            <p:cNvCxnSpPr>
              <a:cxnSpLocks noChangeShapeType="1"/>
              <a:stCxn id="13410" idx="3"/>
              <a:endCxn id="13402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16" name="AutoShape 18"/>
            <p:cNvCxnSpPr>
              <a:cxnSpLocks noChangeShapeType="1"/>
              <a:stCxn id="13402" idx="6"/>
              <a:endCxn id="13406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17" name="AutoShape 19"/>
            <p:cNvCxnSpPr>
              <a:cxnSpLocks noChangeShapeType="1"/>
              <a:stCxn id="13402" idx="3"/>
              <a:endCxn id="13403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18" name="AutoShape 20"/>
            <p:cNvCxnSpPr>
              <a:cxnSpLocks noChangeShapeType="1"/>
              <a:stCxn id="13403" idx="6"/>
              <a:endCxn id="13404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19" name="AutoShape 21"/>
            <p:cNvCxnSpPr>
              <a:cxnSpLocks noChangeShapeType="1"/>
              <a:stCxn id="13404" idx="7"/>
              <a:endCxn id="13406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20" name="AutoShape 22"/>
            <p:cNvCxnSpPr>
              <a:cxnSpLocks noChangeShapeType="1"/>
              <a:stCxn id="13404" idx="5"/>
              <a:endCxn id="13405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21" name="AutoShape 23"/>
            <p:cNvCxnSpPr>
              <a:cxnSpLocks noChangeShapeType="1"/>
              <a:stCxn id="13405" idx="6"/>
              <a:endCxn id="13408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22" name="AutoShape 24"/>
            <p:cNvCxnSpPr>
              <a:cxnSpLocks noChangeShapeType="1"/>
              <a:stCxn id="13406" idx="6"/>
              <a:endCxn id="13407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23" name="AutoShape 25"/>
            <p:cNvCxnSpPr>
              <a:cxnSpLocks noChangeShapeType="1"/>
              <a:stCxn id="13407" idx="6"/>
              <a:endCxn id="13408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3314" name="Object 26"/>
          <p:cNvGraphicFramePr>
            <a:graphicFrameLocks noChangeAspect="1"/>
          </p:cNvGraphicFramePr>
          <p:nvPr/>
        </p:nvGraphicFramePr>
        <p:xfrm>
          <a:off x="4684713" y="1577975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2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1577975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27"/>
          <p:cNvSpPr txBox="1">
            <a:spLocks noChangeArrowheads="1"/>
          </p:cNvSpPr>
          <p:nvPr/>
        </p:nvSpPr>
        <p:spPr bwMode="auto">
          <a:xfrm>
            <a:off x="4684713" y="119697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3317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13053" name="Group 29"/>
          <p:cNvGraphicFramePr>
            <a:graphicFrameLocks noGrp="1"/>
          </p:cNvGraphicFramePr>
          <p:nvPr/>
        </p:nvGraphicFramePr>
        <p:xfrm>
          <a:off x="7427913" y="1654175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42" name="Text Box 53"/>
          <p:cNvSpPr txBox="1">
            <a:spLocks noChangeArrowheads="1"/>
          </p:cNvSpPr>
          <p:nvPr/>
        </p:nvSpPr>
        <p:spPr bwMode="auto">
          <a:xfrm>
            <a:off x="6735763" y="1211263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13136" name="Group 112"/>
          <p:cNvGraphicFramePr>
            <a:graphicFrameLocks noGrp="1"/>
          </p:cNvGraphicFramePr>
          <p:nvPr/>
        </p:nvGraphicFramePr>
        <p:xfrm>
          <a:off x="7683500" y="1654175"/>
          <a:ext cx="261938" cy="2971800"/>
        </p:xfrm>
        <a:graphic>
          <a:graphicData uri="http://schemas.openxmlformats.org/drawingml/2006/table">
            <a:tbl>
              <a:tblPr/>
              <a:tblGrid>
                <a:gridCol w="26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68" name="Text Box 79"/>
          <p:cNvSpPr txBox="1">
            <a:spLocks noChangeArrowheads="1"/>
          </p:cNvSpPr>
          <p:nvPr/>
        </p:nvSpPr>
        <p:spPr bwMode="auto">
          <a:xfrm>
            <a:off x="1066800" y="5334000"/>
            <a:ext cx="23839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7, 5 } → { 5, 6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13369" name="Line 80"/>
          <p:cNvSpPr>
            <a:spLocks noChangeShapeType="1"/>
          </p:cNvSpPr>
          <p:nvPr/>
        </p:nvSpPr>
        <p:spPr bwMode="auto">
          <a:xfrm>
            <a:off x="4456113" y="38973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0" name="Text Box 81"/>
          <p:cNvSpPr txBox="1">
            <a:spLocks noChangeArrowheads="1"/>
          </p:cNvSpPr>
          <p:nvPr/>
        </p:nvSpPr>
        <p:spPr bwMode="auto">
          <a:xfrm>
            <a:off x="3946525" y="20716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3371" name="Text Box 82"/>
          <p:cNvSpPr txBox="1">
            <a:spLocks noChangeArrowheads="1"/>
          </p:cNvSpPr>
          <p:nvPr/>
        </p:nvSpPr>
        <p:spPr bwMode="auto">
          <a:xfrm>
            <a:off x="1047750" y="5853113"/>
            <a:ext cx="36535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7.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place neighbor 6 on the queue.</a:t>
            </a:r>
          </a:p>
        </p:txBody>
      </p:sp>
      <p:sp>
        <p:nvSpPr>
          <p:cNvPr id="13372" name="Text Box 83"/>
          <p:cNvSpPr txBox="1">
            <a:spLocks noChangeArrowheads="1"/>
          </p:cNvSpPr>
          <p:nvPr/>
        </p:nvSpPr>
        <p:spPr bwMode="auto">
          <a:xfrm>
            <a:off x="3657600" y="3741738"/>
            <a:ext cx="8747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3373" name="Oval 84"/>
          <p:cNvSpPr>
            <a:spLocks noChangeArrowheads="1"/>
          </p:cNvSpPr>
          <p:nvPr/>
        </p:nvSpPr>
        <p:spPr bwMode="auto">
          <a:xfrm>
            <a:off x="2391610" y="3611217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74" name="Text Box 85"/>
          <p:cNvSpPr txBox="1">
            <a:spLocks noChangeArrowheads="1"/>
          </p:cNvSpPr>
          <p:nvPr/>
        </p:nvSpPr>
        <p:spPr bwMode="auto">
          <a:xfrm>
            <a:off x="6400800" y="4843463"/>
            <a:ext cx="1885950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vertex 6.</a:t>
            </a:r>
          </a:p>
          <a:p>
            <a:pPr eaLnBrk="1" hangingPunct="1"/>
            <a:endParaRPr lang="en-US" altLang="zh-CN" sz="1800" dirty="0">
              <a:latin typeface="Arial" charset="0"/>
            </a:endParaRPr>
          </a:p>
          <a:p>
            <a:pPr eaLnBrk="1" hangingPunct="1"/>
            <a:r>
              <a:rPr lang="en-US" altLang="zh-CN" sz="1800" dirty="0">
                <a:solidFill>
                  <a:schemeClr val="accent4"/>
                </a:solidFill>
                <a:latin typeface="Arial" charset="0"/>
              </a:rPr>
              <a:t>Record in </a:t>
            </a:r>
            <a:r>
              <a:rPr lang="en-US" altLang="zh-CN" sz="1800" dirty="0" err="1">
                <a:solidFill>
                  <a:schemeClr val="accent4"/>
                </a:solidFill>
                <a:latin typeface="Arial" charset="0"/>
              </a:rPr>
              <a:t>Pred</a:t>
            </a:r>
            <a:endParaRPr lang="en-US" altLang="zh-CN" sz="1800" dirty="0">
              <a:solidFill>
                <a:schemeClr val="accent4"/>
              </a:solidFill>
              <a:latin typeface="Arial" charset="0"/>
            </a:endParaRPr>
          </a:p>
          <a:p>
            <a:pPr eaLnBrk="1" hangingPunct="1"/>
            <a:r>
              <a:rPr lang="en-US" altLang="zh-CN" sz="1800" dirty="0">
                <a:solidFill>
                  <a:schemeClr val="accent4"/>
                </a:solidFill>
                <a:latin typeface="Arial" charset="0"/>
              </a:rPr>
              <a:t>that we came </a:t>
            </a:r>
            <a:br>
              <a:rPr lang="en-US" altLang="zh-CN" sz="1800" dirty="0">
                <a:solidFill>
                  <a:schemeClr val="accent4"/>
                </a:solidFill>
                <a:latin typeface="Arial" charset="0"/>
              </a:rPr>
            </a:br>
            <a:r>
              <a:rPr lang="en-US" altLang="zh-CN" sz="1800" dirty="0">
                <a:solidFill>
                  <a:schemeClr val="accent4"/>
                </a:solidFill>
                <a:latin typeface="Arial" charset="0"/>
              </a:rPr>
              <a:t>from 7.</a:t>
            </a:r>
          </a:p>
          <a:p>
            <a:pPr eaLnBrk="1" hangingPunct="1"/>
            <a:endParaRPr lang="zh-CN" altLang="en-US" sz="1800" dirty="0">
              <a:solidFill>
                <a:srgbClr val="00CC00"/>
              </a:solidFill>
              <a:latin typeface="Arial" charset="0"/>
            </a:endParaRPr>
          </a:p>
        </p:txBody>
      </p:sp>
      <p:sp>
        <p:nvSpPr>
          <p:cNvPr id="13375" name="Oval 86"/>
          <p:cNvSpPr>
            <a:spLocks noChangeArrowheads="1"/>
          </p:cNvSpPr>
          <p:nvPr/>
        </p:nvSpPr>
        <p:spPr bwMode="auto">
          <a:xfrm>
            <a:off x="3591232" y="39619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3139" name="Group 115"/>
          <p:cNvGraphicFramePr>
            <a:graphicFrameLocks noGrp="1"/>
          </p:cNvGraphicFramePr>
          <p:nvPr/>
        </p:nvGraphicFramePr>
        <p:xfrm>
          <a:off x="8235950" y="1654175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400" name="Text Box 111"/>
          <p:cNvSpPr txBox="1">
            <a:spLocks noChangeArrowheads="1"/>
          </p:cNvSpPr>
          <p:nvPr/>
        </p:nvSpPr>
        <p:spPr bwMode="auto">
          <a:xfrm>
            <a:off x="7980363" y="458628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13401" name="Rectangle 11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79501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4425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4426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4427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4428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4429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4430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4431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6</a:t>
              </a:r>
            </a:p>
          </p:txBody>
        </p:sp>
        <p:sp>
          <p:nvSpPr>
            <p:cNvPr id="14432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4433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4434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4435" name="AutoShape 14"/>
            <p:cNvCxnSpPr>
              <a:cxnSpLocks noChangeShapeType="1"/>
              <a:stCxn id="14434" idx="6"/>
              <a:endCxn id="14433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36" name="AutoShape 15"/>
            <p:cNvCxnSpPr>
              <a:cxnSpLocks noChangeShapeType="1"/>
              <a:stCxn id="14433" idx="5"/>
              <a:endCxn id="14432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37" name="AutoShape 16"/>
            <p:cNvCxnSpPr>
              <a:cxnSpLocks noChangeShapeType="1"/>
              <a:stCxn id="14432" idx="2"/>
              <a:endCxn id="14429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38" name="AutoShape 17"/>
            <p:cNvCxnSpPr>
              <a:cxnSpLocks noChangeShapeType="1"/>
              <a:stCxn id="14433" idx="3"/>
              <a:endCxn id="14425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39" name="AutoShape 18"/>
            <p:cNvCxnSpPr>
              <a:cxnSpLocks noChangeShapeType="1"/>
              <a:stCxn id="14425" idx="6"/>
              <a:endCxn id="14429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0" name="AutoShape 19"/>
            <p:cNvCxnSpPr>
              <a:cxnSpLocks noChangeShapeType="1"/>
              <a:stCxn id="14425" idx="3"/>
              <a:endCxn id="14426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1" name="AutoShape 20"/>
            <p:cNvCxnSpPr>
              <a:cxnSpLocks noChangeShapeType="1"/>
              <a:stCxn id="14426" idx="6"/>
              <a:endCxn id="14427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2" name="AutoShape 21"/>
            <p:cNvCxnSpPr>
              <a:cxnSpLocks noChangeShapeType="1"/>
              <a:stCxn id="14427" idx="7"/>
              <a:endCxn id="14429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3" name="AutoShape 22"/>
            <p:cNvCxnSpPr>
              <a:cxnSpLocks noChangeShapeType="1"/>
              <a:stCxn id="14427" idx="5"/>
              <a:endCxn id="14428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4" name="AutoShape 23"/>
            <p:cNvCxnSpPr>
              <a:cxnSpLocks noChangeShapeType="1"/>
              <a:stCxn id="14428" idx="6"/>
              <a:endCxn id="14431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5" name="AutoShape 24"/>
            <p:cNvCxnSpPr>
              <a:cxnSpLocks noChangeShapeType="1"/>
              <a:stCxn id="14429" idx="6"/>
              <a:endCxn id="14430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6" name="AutoShape 25"/>
            <p:cNvCxnSpPr>
              <a:cxnSpLocks noChangeShapeType="1"/>
              <a:stCxn id="14430" idx="6"/>
              <a:endCxn id="14431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4338" name="Object 26"/>
          <p:cNvGraphicFramePr>
            <a:graphicFrameLocks noChangeAspect="1"/>
          </p:cNvGraphicFramePr>
          <p:nvPr/>
        </p:nvGraphicFramePr>
        <p:xfrm>
          <a:off x="4876800" y="1614488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6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614488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27"/>
          <p:cNvSpPr txBox="1">
            <a:spLocks noChangeArrowheads="1"/>
          </p:cNvSpPr>
          <p:nvPr/>
        </p:nvSpPr>
        <p:spPr bwMode="auto">
          <a:xfrm>
            <a:off x="4876800" y="1233488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4341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14077" name="Group 29"/>
          <p:cNvGraphicFramePr>
            <a:graphicFrameLocks noGrp="1"/>
          </p:cNvGraphicFramePr>
          <p:nvPr/>
        </p:nvGraphicFramePr>
        <p:xfrm>
          <a:off x="7620000" y="1690688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366" name="Text Box 53"/>
          <p:cNvSpPr txBox="1">
            <a:spLocks noChangeArrowheads="1"/>
          </p:cNvSpPr>
          <p:nvPr/>
        </p:nvSpPr>
        <p:spPr bwMode="auto">
          <a:xfrm>
            <a:off x="6927850" y="1247775"/>
            <a:ext cx="206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14102" name="Group 54"/>
          <p:cNvGraphicFramePr>
            <a:graphicFrameLocks noGrp="1"/>
          </p:cNvGraphicFramePr>
          <p:nvPr/>
        </p:nvGraphicFramePr>
        <p:xfrm>
          <a:off x="7875588" y="1690688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392" name="Text Box 79"/>
          <p:cNvSpPr txBox="1">
            <a:spLocks noChangeArrowheads="1"/>
          </p:cNvSpPr>
          <p:nvPr/>
        </p:nvSpPr>
        <p:spPr bwMode="auto">
          <a:xfrm>
            <a:off x="1143000" y="5257800"/>
            <a:ext cx="20633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5, 6} → { 6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14393" name="Line 80"/>
          <p:cNvSpPr>
            <a:spLocks noChangeShapeType="1"/>
          </p:cNvSpPr>
          <p:nvPr/>
        </p:nvSpPr>
        <p:spPr bwMode="auto">
          <a:xfrm>
            <a:off x="4648200" y="33702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4" name="Text Box 81"/>
          <p:cNvSpPr txBox="1">
            <a:spLocks noChangeArrowheads="1"/>
          </p:cNvSpPr>
          <p:nvPr/>
        </p:nvSpPr>
        <p:spPr bwMode="auto">
          <a:xfrm>
            <a:off x="3946525" y="22606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4395" name="Text Box 82"/>
          <p:cNvSpPr txBox="1">
            <a:spLocks noChangeArrowheads="1"/>
          </p:cNvSpPr>
          <p:nvPr/>
        </p:nvSpPr>
        <p:spPr bwMode="auto">
          <a:xfrm>
            <a:off x="1123950" y="5776913"/>
            <a:ext cx="329449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5.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no unvisited neighbors of 5.</a:t>
            </a:r>
          </a:p>
        </p:txBody>
      </p:sp>
      <p:sp>
        <p:nvSpPr>
          <p:cNvPr id="14396" name="Text Box 83"/>
          <p:cNvSpPr txBox="1">
            <a:spLocks noChangeArrowheads="1"/>
          </p:cNvSpPr>
          <p:nvPr/>
        </p:nvSpPr>
        <p:spPr bwMode="auto">
          <a:xfrm>
            <a:off x="3849688" y="3214688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4397" name="Oval 84"/>
          <p:cNvSpPr>
            <a:spLocks noChangeArrowheads="1"/>
          </p:cNvSpPr>
          <p:nvPr/>
        </p:nvSpPr>
        <p:spPr bwMode="auto">
          <a:xfrm>
            <a:off x="1676400" y="41148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98" name="Text Box 85"/>
          <p:cNvSpPr txBox="1">
            <a:spLocks noChangeArrowheads="1"/>
          </p:cNvSpPr>
          <p:nvPr/>
        </p:nvSpPr>
        <p:spPr bwMode="auto">
          <a:xfrm>
            <a:off x="7086600" y="47386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graphicFrame>
        <p:nvGraphicFramePr>
          <p:cNvPr id="514134" name="Group 86"/>
          <p:cNvGraphicFramePr>
            <a:graphicFrameLocks noGrp="1"/>
          </p:cNvGraphicFramePr>
          <p:nvPr/>
        </p:nvGraphicFramePr>
        <p:xfrm>
          <a:off x="8485188" y="1690688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423" name="Text Box 110"/>
          <p:cNvSpPr txBox="1">
            <a:spLocks noChangeArrowheads="1"/>
          </p:cNvSpPr>
          <p:nvPr/>
        </p:nvSpPr>
        <p:spPr bwMode="auto">
          <a:xfrm>
            <a:off x="8229600" y="46228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14424" name="Rectangle 11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3071407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5449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5450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5451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5452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5453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5454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5455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5456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5457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5458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5459" name="AutoShape 14"/>
            <p:cNvCxnSpPr>
              <a:cxnSpLocks noChangeShapeType="1"/>
              <a:stCxn id="15458" idx="6"/>
              <a:endCxn id="15457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0" name="AutoShape 15"/>
            <p:cNvCxnSpPr>
              <a:cxnSpLocks noChangeShapeType="1"/>
              <a:stCxn id="15457" idx="5"/>
              <a:endCxn id="15456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1" name="AutoShape 16"/>
            <p:cNvCxnSpPr>
              <a:cxnSpLocks noChangeShapeType="1"/>
              <a:stCxn id="15456" idx="2"/>
              <a:endCxn id="15453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2" name="AutoShape 17"/>
            <p:cNvCxnSpPr>
              <a:cxnSpLocks noChangeShapeType="1"/>
              <a:stCxn id="15457" idx="3"/>
              <a:endCxn id="15449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3" name="AutoShape 18"/>
            <p:cNvCxnSpPr>
              <a:cxnSpLocks noChangeShapeType="1"/>
              <a:stCxn id="15449" idx="6"/>
              <a:endCxn id="15453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4" name="AutoShape 19"/>
            <p:cNvCxnSpPr>
              <a:cxnSpLocks noChangeShapeType="1"/>
              <a:stCxn id="15449" idx="3"/>
              <a:endCxn id="15450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5" name="AutoShape 20"/>
            <p:cNvCxnSpPr>
              <a:cxnSpLocks noChangeShapeType="1"/>
              <a:stCxn id="15450" idx="6"/>
              <a:endCxn id="15451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6" name="AutoShape 21"/>
            <p:cNvCxnSpPr>
              <a:cxnSpLocks noChangeShapeType="1"/>
              <a:stCxn id="15451" idx="7"/>
              <a:endCxn id="15453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7" name="AutoShape 22"/>
            <p:cNvCxnSpPr>
              <a:cxnSpLocks noChangeShapeType="1"/>
              <a:stCxn id="15451" idx="5"/>
              <a:endCxn id="15452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8" name="AutoShape 23"/>
            <p:cNvCxnSpPr>
              <a:cxnSpLocks noChangeShapeType="1"/>
              <a:stCxn id="15452" idx="6"/>
              <a:endCxn id="15455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69" name="AutoShape 24"/>
            <p:cNvCxnSpPr>
              <a:cxnSpLocks noChangeShapeType="1"/>
              <a:stCxn id="15453" idx="6"/>
              <a:endCxn id="15454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70" name="AutoShape 25"/>
            <p:cNvCxnSpPr>
              <a:cxnSpLocks noChangeShapeType="1"/>
              <a:stCxn id="15454" idx="6"/>
              <a:endCxn id="15455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5362" name="Object 26"/>
          <p:cNvGraphicFramePr>
            <a:graphicFrameLocks noChangeAspect="1"/>
          </p:cNvGraphicFramePr>
          <p:nvPr/>
        </p:nvGraphicFramePr>
        <p:xfrm>
          <a:off x="4837113" y="1690688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0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1690688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27"/>
          <p:cNvSpPr txBox="1">
            <a:spLocks noChangeArrowheads="1"/>
          </p:cNvSpPr>
          <p:nvPr/>
        </p:nvSpPr>
        <p:spPr bwMode="auto">
          <a:xfrm>
            <a:off x="4837113" y="1309688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5365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15101" name="Group 29"/>
          <p:cNvGraphicFramePr>
            <a:graphicFrameLocks noGrp="1"/>
          </p:cNvGraphicFramePr>
          <p:nvPr/>
        </p:nvGraphicFramePr>
        <p:xfrm>
          <a:off x="7580313" y="1766888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390" name="Text Box 53"/>
          <p:cNvSpPr txBox="1">
            <a:spLocks noChangeArrowheads="1"/>
          </p:cNvSpPr>
          <p:nvPr/>
        </p:nvSpPr>
        <p:spPr bwMode="auto">
          <a:xfrm>
            <a:off x="6888163" y="1323975"/>
            <a:ext cx="206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15126" name="Group 54"/>
          <p:cNvGraphicFramePr>
            <a:graphicFrameLocks noGrp="1"/>
          </p:cNvGraphicFramePr>
          <p:nvPr/>
        </p:nvGraphicFramePr>
        <p:xfrm>
          <a:off x="7835900" y="1766888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416" name="Text Box 79"/>
          <p:cNvSpPr txBox="1">
            <a:spLocks noChangeArrowheads="1"/>
          </p:cNvSpPr>
          <p:nvPr/>
        </p:nvSpPr>
        <p:spPr bwMode="auto">
          <a:xfrm>
            <a:off x="1371600" y="5257800"/>
            <a:ext cx="17427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6 } → { 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15417" name="Line 80"/>
          <p:cNvSpPr>
            <a:spLocks noChangeShapeType="1"/>
          </p:cNvSpPr>
          <p:nvPr/>
        </p:nvSpPr>
        <p:spPr bwMode="auto">
          <a:xfrm>
            <a:off x="4608513" y="37512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8" name="Text Box 81"/>
          <p:cNvSpPr txBox="1">
            <a:spLocks noChangeArrowheads="1"/>
          </p:cNvSpPr>
          <p:nvPr/>
        </p:nvSpPr>
        <p:spPr bwMode="auto">
          <a:xfrm>
            <a:off x="3906838" y="2336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5419" name="Text Box 82"/>
          <p:cNvSpPr txBox="1">
            <a:spLocks noChangeArrowheads="1"/>
          </p:cNvSpPr>
          <p:nvPr/>
        </p:nvSpPr>
        <p:spPr bwMode="auto">
          <a:xfrm>
            <a:off x="1352550" y="5776913"/>
            <a:ext cx="329449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latin typeface="Arial" charset="0"/>
              </a:rPr>
              <a:t>Dequeue</a:t>
            </a:r>
            <a:r>
              <a:rPr lang="en-US" altLang="zh-CN" sz="1800" dirty="0">
                <a:latin typeface="Arial" charset="0"/>
              </a:rPr>
              <a:t> 6.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charset="0"/>
              </a:rPr>
              <a:t>no unvisited neighbors of 6.</a:t>
            </a:r>
          </a:p>
        </p:txBody>
      </p:sp>
      <p:sp>
        <p:nvSpPr>
          <p:cNvPr id="15420" name="Text Box 83"/>
          <p:cNvSpPr txBox="1">
            <a:spLocks noChangeArrowheads="1"/>
          </p:cNvSpPr>
          <p:nvPr/>
        </p:nvSpPr>
        <p:spPr bwMode="auto">
          <a:xfrm>
            <a:off x="3810000" y="3595688"/>
            <a:ext cx="8747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5421" name="Oval 84"/>
          <p:cNvSpPr>
            <a:spLocks noChangeArrowheads="1"/>
          </p:cNvSpPr>
          <p:nvPr/>
        </p:nvSpPr>
        <p:spPr bwMode="auto">
          <a:xfrm>
            <a:off x="3657600" y="3829878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22" name="Text Box 85"/>
          <p:cNvSpPr txBox="1">
            <a:spLocks noChangeArrowheads="1"/>
          </p:cNvSpPr>
          <p:nvPr/>
        </p:nvSpPr>
        <p:spPr bwMode="auto">
          <a:xfrm>
            <a:off x="7046913" y="48148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graphicFrame>
        <p:nvGraphicFramePr>
          <p:cNvPr id="515158" name="Group 86"/>
          <p:cNvGraphicFramePr>
            <a:graphicFrameLocks noGrp="1"/>
          </p:cNvGraphicFramePr>
          <p:nvPr/>
        </p:nvGraphicFramePr>
        <p:xfrm>
          <a:off x="8445500" y="1766888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447" name="Text Box 110"/>
          <p:cNvSpPr txBox="1">
            <a:spLocks noChangeArrowheads="1"/>
          </p:cNvSpPr>
          <p:nvPr/>
        </p:nvSpPr>
        <p:spPr bwMode="auto">
          <a:xfrm>
            <a:off x="8189913" y="46990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  <p:sp>
        <p:nvSpPr>
          <p:cNvPr id="15448" name="Rectangle 11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(Cont’d)</a:t>
            </a:r>
          </a:p>
        </p:txBody>
      </p:sp>
    </p:spTree>
    <p:extLst>
      <p:ext uri="{BB962C8B-B14F-4D97-AF65-F5344CB8AC3E}">
        <p14:creationId xmlns:p14="http://schemas.microsoft.com/office/powerpoint/2010/main" val="762396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Finished</a:t>
            </a:r>
          </a:p>
        </p:txBody>
      </p:sp>
      <p:grpSp>
        <p:nvGrpSpPr>
          <p:cNvPr id="16388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6471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6472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6473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6474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6475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6476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6477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6478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6479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6480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6481" name="AutoShape 14"/>
            <p:cNvCxnSpPr>
              <a:cxnSpLocks noChangeShapeType="1"/>
              <a:stCxn id="16480" idx="6"/>
              <a:endCxn id="16479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2" name="AutoShape 15"/>
            <p:cNvCxnSpPr>
              <a:cxnSpLocks noChangeShapeType="1"/>
              <a:stCxn id="16479" idx="5"/>
              <a:endCxn id="16478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3" name="AutoShape 16"/>
            <p:cNvCxnSpPr>
              <a:cxnSpLocks noChangeShapeType="1"/>
              <a:stCxn id="16478" idx="2"/>
              <a:endCxn id="16475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4" name="AutoShape 17"/>
            <p:cNvCxnSpPr>
              <a:cxnSpLocks noChangeShapeType="1"/>
              <a:stCxn id="16479" idx="3"/>
              <a:endCxn id="16471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5" name="AutoShape 18"/>
            <p:cNvCxnSpPr>
              <a:cxnSpLocks noChangeShapeType="1"/>
              <a:stCxn id="16471" idx="6"/>
              <a:endCxn id="16475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6" name="AutoShape 19"/>
            <p:cNvCxnSpPr>
              <a:cxnSpLocks noChangeShapeType="1"/>
              <a:stCxn id="16471" idx="3"/>
              <a:endCxn id="16472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7" name="AutoShape 20"/>
            <p:cNvCxnSpPr>
              <a:cxnSpLocks noChangeShapeType="1"/>
              <a:stCxn id="16472" idx="6"/>
              <a:endCxn id="16473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8" name="AutoShape 21"/>
            <p:cNvCxnSpPr>
              <a:cxnSpLocks noChangeShapeType="1"/>
              <a:stCxn id="16473" idx="7"/>
              <a:endCxn id="16475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89" name="AutoShape 22"/>
            <p:cNvCxnSpPr>
              <a:cxnSpLocks noChangeShapeType="1"/>
              <a:stCxn id="16473" idx="5"/>
              <a:endCxn id="16474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90" name="AutoShape 23"/>
            <p:cNvCxnSpPr>
              <a:cxnSpLocks noChangeShapeType="1"/>
              <a:stCxn id="16474" idx="6"/>
              <a:endCxn id="16477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91" name="AutoShape 24"/>
            <p:cNvCxnSpPr>
              <a:cxnSpLocks noChangeShapeType="1"/>
              <a:stCxn id="16475" idx="6"/>
              <a:endCxn id="16476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92" name="AutoShape 25"/>
            <p:cNvCxnSpPr>
              <a:cxnSpLocks noChangeShapeType="1"/>
              <a:stCxn id="16476" idx="6"/>
              <a:endCxn id="16477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6386" name="Object 26"/>
          <p:cNvGraphicFramePr>
            <a:graphicFrameLocks noChangeAspect="1"/>
          </p:cNvGraphicFramePr>
          <p:nvPr/>
        </p:nvGraphicFramePr>
        <p:xfrm>
          <a:off x="4816475" y="1690688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4" name="Bitmap Image" r:id="rId4" imgW="2762636" imgH="4095238" progId="Paint.Picture">
                  <p:embed/>
                </p:oleObj>
              </mc:Choice>
              <mc:Fallback>
                <p:oleObj name="Bitmap Image" r:id="rId4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1690688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27"/>
          <p:cNvSpPr txBox="1">
            <a:spLocks noChangeArrowheads="1"/>
          </p:cNvSpPr>
          <p:nvPr/>
        </p:nvSpPr>
        <p:spPr bwMode="auto">
          <a:xfrm>
            <a:off x="4816475" y="1309688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6390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516125" name="Group 29"/>
          <p:cNvGraphicFramePr>
            <a:graphicFrameLocks noGrp="1"/>
          </p:cNvGraphicFramePr>
          <p:nvPr/>
        </p:nvGraphicFramePr>
        <p:xfrm>
          <a:off x="7559675" y="1766888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415" name="Text Box 53"/>
          <p:cNvSpPr txBox="1">
            <a:spLocks noChangeArrowheads="1"/>
          </p:cNvSpPr>
          <p:nvPr/>
        </p:nvSpPr>
        <p:spPr bwMode="auto">
          <a:xfrm>
            <a:off x="6867525" y="1323975"/>
            <a:ext cx="206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516150" name="Group 54"/>
          <p:cNvGraphicFramePr>
            <a:graphicFrameLocks noGrp="1"/>
          </p:cNvGraphicFramePr>
          <p:nvPr/>
        </p:nvGraphicFramePr>
        <p:xfrm>
          <a:off x="7815263" y="1766888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441" name="Text Box 79"/>
          <p:cNvSpPr txBox="1">
            <a:spLocks noChangeArrowheads="1"/>
          </p:cNvSpPr>
          <p:nvPr/>
        </p:nvSpPr>
        <p:spPr bwMode="auto">
          <a:xfrm>
            <a:off x="838200" y="5410200"/>
            <a:ext cx="97334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Arial" charset="0"/>
              </a:rPr>
              <a:t>Q</a:t>
            </a:r>
            <a:r>
              <a:rPr lang="en-US" altLang="zh-CN" sz="1800" dirty="0">
                <a:latin typeface="Arial" charset="0"/>
              </a:rPr>
              <a:t> = {  } </a:t>
            </a:r>
          </a:p>
          <a:p>
            <a:pPr eaLnBrk="1" hangingPunct="1"/>
            <a:r>
              <a:rPr lang="en-US" altLang="zh-CN" sz="1800" dirty="0">
                <a:latin typeface="Arial" charset="0"/>
              </a:rPr>
              <a:t> </a:t>
            </a:r>
          </a:p>
        </p:txBody>
      </p:sp>
      <p:sp>
        <p:nvSpPr>
          <p:cNvPr id="16442" name="Text Box 81"/>
          <p:cNvSpPr txBox="1">
            <a:spLocks noChangeArrowheads="1"/>
          </p:cNvSpPr>
          <p:nvPr/>
        </p:nvSpPr>
        <p:spPr bwMode="auto">
          <a:xfrm>
            <a:off x="3886200" y="2336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6443" name="Text Box 82"/>
          <p:cNvSpPr txBox="1">
            <a:spLocks noChangeArrowheads="1"/>
          </p:cNvSpPr>
          <p:nvPr/>
        </p:nvSpPr>
        <p:spPr bwMode="auto">
          <a:xfrm>
            <a:off x="579948" y="5858093"/>
            <a:ext cx="288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charset="0"/>
              </a:rPr>
              <a:t>STOP!!!   Q is empty!!!</a:t>
            </a:r>
          </a:p>
        </p:txBody>
      </p:sp>
      <p:sp>
        <p:nvSpPr>
          <p:cNvPr id="16444" name="Text Box 84"/>
          <p:cNvSpPr txBox="1">
            <a:spLocks noChangeArrowheads="1"/>
          </p:cNvSpPr>
          <p:nvPr/>
        </p:nvSpPr>
        <p:spPr bwMode="auto">
          <a:xfrm>
            <a:off x="7026275" y="48148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6445" name="Text Box 85"/>
          <p:cNvSpPr txBox="1">
            <a:spLocks noChangeArrowheads="1"/>
          </p:cNvSpPr>
          <p:nvPr/>
        </p:nvSpPr>
        <p:spPr bwMode="auto">
          <a:xfrm>
            <a:off x="4572000" y="5241925"/>
            <a:ext cx="4572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chemeClr val="accent4"/>
                </a:solidFill>
                <a:latin typeface="Arial" charset="0"/>
              </a:rPr>
              <a:t>Pred</a:t>
            </a:r>
            <a:r>
              <a:rPr lang="en-US" altLang="zh-CN" sz="2000" b="1" dirty="0">
                <a:solidFill>
                  <a:schemeClr val="accent4"/>
                </a:solidFill>
                <a:latin typeface="Arial" charset="0"/>
              </a:rPr>
              <a:t> now can be traced backward</a:t>
            </a:r>
          </a:p>
          <a:p>
            <a:pPr eaLnBrk="1" hangingPunct="1"/>
            <a:r>
              <a:rPr lang="en-US" altLang="zh-CN" sz="2000" b="1" dirty="0">
                <a:solidFill>
                  <a:schemeClr val="accent4"/>
                </a:solidFill>
                <a:latin typeface="Arial" charset="0"/>
              </a:rPr>
              <a:t>to report the path!</a:t>
            </a:r>
          </a:p>
        </p:txBody>
      </p:sp>
      <p:graphicFrame>
        <p:nvGraphicFramePr>
          <p:cNvPr id="516182" name="Group 86"/>
          <p:cNvGraphicFramePr>
            <a:graphicFrameLocks noGrp="1"/>
          </p:cNvGraphicFramePr>
          <p:nvPr/>
        </p:nvGraphicFramePr>
        <p:xfrm>
          <a:off x="8424863" y="1766888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470" name="Text Box 110"/>
          <p:cNvSpPr txBox="1">
            <a:spLocks noChangeArrowheads="1"/>
          </p:cNvSpPr>
          <p:nvPr/>
        </p:nvSpPr>
        <p:spPr bwMode="auto">
          <a:xfrm>
            <a:off x="8169275" y="46990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latin typeface="Arial" charset="0"/>
              </a:rPr>
              <a:t>Pred</a:t>
            </a:r>
          </a:p>
        </p:txBody>
      </p:sp>
    </p:spTree>
    <p:extLst>
      <p:ext uri="{BB962C8B-B14F-4D97-AF65-F5344CB8AC3E}">
        <p14:creationId xmlns:p14="http://schemas.microsoft.com/office/powerpoint/2010/main" val="552420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762000" y="1295400"/>
          <a:ext cx="5029200" cy="325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6" name="Bitmap Image" r:id="rId4" imgW="7085714" imgH="4590476" progId="Paint.Picture">
                  <p:embed/>
                </p:oleObj>
              </mc:Choice>
              <mc:Fallback>
                <p:oleObj name="Bitmap Image" r:id="rId4" imgW="7085714" imgH="4590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95400"/>
                        <a:ext cx="5029200" cy="325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Path Reporting</a:t>
            </a:r>
          </a:p>
        </p:txBody>
      </p:sp>
      <p:graphicFrame>
        <p:nvGraphicFramePr>
          <p:cNvPr id="517124" name="Group 4"/>
          <p:cNvGraphicFramePr>
            <a:graphicFrameLocks noGrp="1"/>
          </p:cNvGraphicFramePr>
          <p:nvPr/>
        </p:nvGraphicFramePr>
        <p:xfrm>
          <a:off x="7245350" y="1600200"/>
          <a:ext cx="277813" cy="2971800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17148" name="Group 28"/>
          <p:cNvGraphicFramePr>
            <a:graphicFrameLocks noGrp="1"/>
          </p:cNvGraphicFramePr>
          <p:nvPr/>
        </p:nvGraphicFramePr>
        <p:xfrm>
          <a:off x="6991350" y="16002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461" name="Text Box 52"/>
          <p:cNvSpPr txBox="1">
            <a:spLocks noChangeArrowheads="1"/>
          </p:cNvSpPr>
          <p:nvPr/>
        </p:nvSpPr>
        <p:spPr bwMode="auto">
          <a:xfrm>
            <a:off x="6407150" y="121920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nodes</a:t>
            </a:r>
          </a:p>
        </p:txBody>
      </p:sp>
      <p:sp>
        <p:nvSpPr>
          <p:cNvPr id="17462" name="Text Box 53"/>
          <p:cNvSpPr txBox="1">
            <a:spLocks noChangeArrowheads="1"/>
          </p:cNvSpPr>
          <p:nvPr/>
        </p:nvSpPr>
        <p:spPr bwMode="auto">
          <a:xfrm>
            <a:off x="7321550" y="1219200"/>
            <a:ext cx="1352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from</a:t>
            </a:r>
          </a:p>
        </p:txBody>
      </p:sp>
      <p:graphicFrame>
        <p:nvGraphicFramePr>
          <p:cNvPr id="17411" name="Object 54"/>
          <p:cNvGraphicFramePr>
            <a:graphicFrameLocks noChangeAspect="1"/>
          </p:cNvGraphicFramePr>
          <p:nvPr/>
        </p:nvGraphicFramePr>
        <p:xfrm>
          <a:off x="533400" y="4876800"/>
          <a:ext cx="3343275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7" name="Bitmap Image" r:id="rId6" imgW="4866667" imgH="2305372" progId="Paint.Picture">
                  <p:embed/>
                </p:oleObj>
              </mc:Choice>
              <mc:Fallback>
                <p:oleObj name="Bitmap Image" r:id="rId6" imgW="4866667" imgH="230537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76800"/>
                        <a:ext cx="3343275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3" name="Text Box 55"/>
          <p:cNvSpPr txBox="1">
            <a:spLocks noChangeArrowheads="1"/>
          </p:cNvSpPr>
          <p:nvPr/>
        </p:nvSpPr>
        <p:spPr bwMode="auto">
          <a:xfrm>
            <a:off x="4191000" y="4876800"/>
            <a:ext cx="4603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Try some examples, report path from s to v: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Path(0) -&gt;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Path(6) -&gt;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Path(1) -&gt;</a:t>
            </a:r>
          </a:p>
        </p:txBody>
      </p:sp>
      <p:sp>
        <p:nvSpPr>
          <p:cNvPr id="517176" name="Text Box 56"/>
          <p:cNvSpPr txBox="1">
            <a:spLocks noChangeArrowheads="1"/>
          </p:cNvSpPr>
          <p:nvPr/>
        </p:nvSpPr>
        <p:spPr bwMode="auto">
          <a:xfrm>
            <a:off x="4175125" y="6096000"/>
            <a:ext cx="4968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1800" dirty="0">
                <a:solidFill>
                  <a:schemeClr val="accent4"/>
                </a:solidFill>
                <a:latin typeface="Arial" charset="0"/>
              </a:rPr>
              <a:t>The path returned is the shortest from s to v (minimum number of edges).</a:t>
            </a:r>
          </a:p>
        </p:txBody>
      </p:sp>
      <p:sp>
        <p:nvSpPr>
          <p:cNvPr id="17465" name="Text Box 57"/>
          <p:cNvSpPr txBox="1">
            <a:spLocks noChangeArrowheads="1"/>
          </p:cNvSpPr>
          <p:nvPr/>
        </p:nvSpPr>
        <p:spPr bwMode="auto">
          <a:xfrm>
            <a:off x="609600" y="4495800"/>
            <a:ext cx="2624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Recursive algorithm</a:t>
            </a:r>
          </a:p>
        </p:txBody>
      </p:sp>
    </p:spTree>
    <p:extLst>
      <p:ext uri="{BB962C8B-B14F-4D97-AF65-F5344CB8AC3E}">
        <p14:creationId xmlns:p14="http://schemas.microsoft.com/office/powerpoint/2010/main" val="310081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itchFamily="2" charset="-122"/>
              </a:rPr>
              <a:t>BFS Tree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ea typeface="宋体" pitchFamily="2" charset="-122"/>
              </a:rPr>
              <a:t>The paths found by BFS is often drawn as a rooted tree (called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BFS tree</a:t>
            </a:r>
            <a:r>
              <a:rPr lang="en-US" altLang="zh-CN" sz="2000" dirty="0">
                <a:ea typeface="宋体" pitchFamily="2" charset="-122"/>
              </a:rPr>
              <a:t>), with the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starting vertex as the root </a:t>
            </a:r>
            <a:r>
              <a:rPr lang="en-US" altLang="zh-CN" sz="2000" dirty="0">
                <a:ea typeface="宋体" pitchFamily="2" charset="-122"/>
              </a:rPr>
              <a:t>of the tree.</a:t>
            </a: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2286000" y="2743200"/>
          <a:ext cx="44958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2" name="Bitmap Image" r:id="rId4" imgW="6276190" imgH="4563112" progId="Paint.Picture">
                  <p:embed/>
                </p:oleObj>
              </mc:Choice>
              <mc:Fallback>
                <p:oleObj name="Bitmap Image" r:id="rId4" imgW="6276190" imgH="456311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43200"/>
                        <a:ext cx="4495800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479279" y="2438400"/>
            <a:ext cx="4187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BFS tree for vertex s = 2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600200" y="6172200"/>
            <a:ext cx="574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Question: What would a “level” order traversal tell you?</a:t>
            </a:r>
          </a:p>
        </p:txBody>
      </p:sp>
    </p:spTree>
    <p:extLst>
      <p:ext uri="{BB962C8B-B14F-4D97-AF65-F5344CB8AC3E}">
        <p14:creationId xmlns:p14="http://schemas.microsoft.com/office/powerpoint/2010/main" val="2352295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itchFamily="2" charset="-122"/>
              </a:rPr>
              <a:t>Record the Shortest Distance</a:t>
            </a:r>
          </a:p>
        </p:txBody>
      </p:sp>
      <p:graphicFrame>
        <p:nvGraphicFramePr>
          <p:cNvPr id="19458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066800" y="1371600"/>
          <a:ext cx="5457825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6" name="Bitmap Image" r:id="rId4" imgW="7085714" imgH="6628571" progId="Paint.Picture">
                  <p:embed/>
                </p:oleObj>
              </mc:Choice>
              <mc:Fallback>
                <p:oleObj name="Bitmap Image" r:id="rId4" imgW="7085714" imgH="662857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371600"/>
                        <a:ext cx="5457825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495800" y="2514600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chemeClr val="accent4"/>
                </a:solidFill>
                <a:latin typeface="Arial" charset="0"/>
              </a:rPr>
              <a:t>d(v) = </a:t>
            </a:r>
            <a:r>
              <a:rPr lang="en-US" altLang="zh-CN" sz="1800" dirty="0">
                <a:solidFill>
                  <a:schemeClr val="accent4"/>
                </a:solidFill>
                <a:latin typeface="Arial" charset="0"/>
                <a:sym typeface="Symbol" pitchFamily="18" charset="2"/>
              </a:rPr>
              <a:t></a:t>
            </a:r>
            <a:r>
              <a:rPr lang="en-US" altLang="zh-CN" sz="1800" dirty="0">
                <a:solidFill>
                  <a:schemeClr val="accent4"/>
                </a:solidFill>
                <a:latin typeface="Arial" charset="0"/>
              </a:rPr>
              <a:t>;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3048000" y="5562600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accent4"/>
                </a:solidFill>
                <a:latin typeface="Arial" charset="0"/>
              </a:rPr>
              <a:t>d(w)=d(v)+1;</a:t>
            </a: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3886200" y="3200400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accent4"/>
                </a:solidFill>
                <a:latin typeface="Arial" charset="0"/>
              </a:rPr>
              <a:t>d(s) = </a:t>
            </a:r>
            <a:r>
              <a:rPr lang="en-US" altLang="zh-CN" sz="1800">
                <a:solidFill>
                  <a:schemeClr val="accent4"/>
                </a:solidFill>
                <a:latin typeface="Arial" charset="0"/>
                <a:sym typeface="Symbol" pitchFamily="18" charset="2"/>
              </a:rPr>
              <a:t>0</a:t>
            </a:r>
            <a:r>
              <a:rPr lang="en-US" altLang="zh-CN" sz="1800">
                <a:solidFill>
                  <a:schemeClr val="accent4"/>
                </a:solidFill>
                <a:latin typeface="Arial" charset="0"/>
              </a:rPr>
              <a:t>;</a:t>
            </a:r>
          </a:p>
        </p:txBody>
      </p:sp>
      <p:pic>
        <p:nvPicPr>
          <p:cNvPr id="19463" name="Picture 8" descr="MCj03512350000[1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667000"/>
            <a:ext cx="2362200" cy="121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069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Application of BFS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65113" indent="-265113" eaLnBrk="1" hangingPunct="1"/>
            <a:r>
              <a:rPr lang="en-US" altLang="zh-CN" dirty="0">
                <a:ea typeface="宋体" pitchFamily="2" charset="-122"/>
              </a:rPr>
              <a:t>One application concerns how to find connected components in a graph</a:t>
            </a:r>
          </a:p>
          <a:p>
            <a:pPr marL="265113" indent="-265113" eaLnBrk="1" hangingPunct="1">
              <a:buFont typeface="Wingdings" pitchFamily="2" charset="2"/>
              <a:buNone/>
            </a:pPr>
            <a:endParaRPr lang="en-US" altLang="zh-CN" dirty="0">
              <a:ea typeface="宋体" pitchFamily="2" charset="-122"/>
            </a:endParaRPr>
          </a:p>
          <a:p>
            <a:pPr marL="265113" indent="-265113" eaLnBrk="1" hangingPunct="1"/>
            <a:r>
              <a:rPr lang="en-US" altLang="zh-CN" dirty="0">
                <a:ea typeface="宋体" pitchFamily="2" charset="-122"/>
              </a:rPr>
              <a:t>If a graph has more than one connected components, BFS builds a BFS-forest (not just BFS-tree)!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Each tree in the forest is a 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connected component</a:t>
            </a:r>
            <a:r>
              <a:rPr lang="en-US" altLang="zh-CN" dirty="0">
                <a:ea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447090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Custom 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699FF"/>
      </a:accent1>
      <a:accent2>
        <a:srgbClr val="C0504D"/>
      </a:accent2>
      <a:accent3>
        <a:srgbClr val="4F79FF"/>
      </a:accent3>
      <a:accent4>
        <a:srgbClr val="6699FF"/>
      </a:accent4>
      <a:accent5>
        <a:srgbClr val="4BACC6"/>
      </a:accent5>
      <a:accent6>
        <a:srgbClr val="548DD4"/>
      </a:accent6>
      <a:hlink>
        <a:srgbClr val="4F81BD"/>
      </a:hlink>
      <a:folHlink>
        <a:srgbClr val="C2BB93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Lec9 - Binary Search Trees</Template>
  <TotalTime>1293</TotalTime>
  <Words>1490</Words>
  <Application>Microsoft Office PowerPoint</Application>
  <PresentationFormat>On-screen Show (4:3)</PresentationFormat>
  <Paragraphs>751</Paragraphs>
  <Slides>20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Monotype Sorts</vt:lpstr>
      <vt:lpstr>微软雅黑</vt:lpstr>
      <vt:lpstr>微软雅黑 Light</vt:lpstr>
      <vt:lpstr>Arial</vt:lpstr>
      <vt:lpstr>Calibri</vt:lpstr>
      <vt:lpstr>Tahoma</vt:lpstr>
      <vt:lpstr>Times New Roman</vt:lpstr>
      <vt:lpstr>Verdana</vt:lpstr>
      <vt:lpstr>Wingdings</vt:lpstr>
      <vt:lpstr>知识图谱及其应用</vt:lpstr>
      <vt:lpstr>Bitmap Image</vt:lpstr>
      <vt:lpstr>PowerPoint Presentation</vt:lpstr>
      <vt:lpstr>Shortest Path Recording</vt:lpstr>
      <vt:lpstr>BFS + Path Finding</vt:lpstr>
      <vt:lpstr>Example</vt:lpstr>
      <vt:lpstr>Example (Cont’d)</vt:lpstr>
      <vt:lpstr>Example (Cont’d)</vt:lpstr>
      <vt:lpstr>Example (Cont’d)</vt:lpstr>
      <vt:lpstr>PowerPoint Presentation</vt:lpstr>
      <vt:lpstr>Example (Cont’d)</vt:lpstr>
      <vt:lpstr>Example (Cont’d)</vt:lpstr>
      <vt:lpstr>Example (Cont’d)</vt:lpstr>
      <vt:lpstr>Example (Cont’d)</vt:lpstr>
      <vt:lpstr>Example (Cont’d)</vt:lpstr>
      <vt:lpstr>Example (Cont’d)</vt:lpstr>
      <vt:lpstr>Example (Cont’d)</vt:lpstr>
      <vt:lpstr>BFS Finished</vt:lpstr>
      <vt:lpstr>Path Reporting</vt:lpstr>
      <vt:lpstr>BFS Tree</vt:lpstr>
      <vt:lpstr>Record the Shortest Distance</vt:lpstr>
      <vt:lpstr>Application of BFS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UIC</dc:creator>
  <cp:lastModifiedBy>Jing ZHAO</cp:lastModifiedBy>
  <cp:revision>138</cp:revision>
  <dcterms:created xsi:type="dcterms:W3CDTF">2006-08-16T00:00:00Z</dcterms:created>
  <dcterms:modified xsi:type="dcterms:W3CDTF">2025-12-04T03:13:10Z</dcterms:modified>
</cp:coreProperties>
</file>