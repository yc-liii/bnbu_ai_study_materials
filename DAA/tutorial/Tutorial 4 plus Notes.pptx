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56" r:id="rId2"/>
    <p:sldId id="279" r:id="rId3"/>
    <p:sldId id="280" r:id="rId4"/>
    <p:sldId id="281" r:id="rId5"/>
    <p:sldId id="282" r:id="rId6"/>
    <p:sldId id="284" r:id="rId7"/>
    <p:sldId id="283" r:id="rId8"/>
    <p:sldId id="285" r:id="rId9"/>
    <p:sldId id="286" r:id="rId10"/>
    <p:sldId id="287" r:id="rId11"/>
    <p:sldId id="288" r:id="rId12"/>
    <p:sldId id="289" r:id="rId13"/>
    <p:sldId id="290" r:id="rId14"/>
    <p:sldId id="291" r:id="rId15"/>
    <p:sldId id="292" r:id="rId16"/>
    <p:sldId id="293" r:id="rId17"/>
    <p:sldId id="294" r:id="rId18"/>
    <p:sldId id="296" r:id="rId19"/>
    <p:sldId id="297" r:id="rId20"/>
    <p:sldId id="298" r:id="rId21"/>
    <p:sldId id="295" r:id="rId22"/>
  </p:sldIdLst>
  <p:sldSz cx="12192000" cy="6858000"/>
  <p:notesSz cx="6794500" cy="9931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UIC" initials="U" lastIdx="1" clrIdx="0">
    <p:extLst>
      <p:ext uri="{19B8F6BF-5375-455C-9EA6-DF929625EA0E}">
        <p15:presenceInfo xmlns:p15="http://schemas.microsoft.com/office/powerpoint/2012/main" userId="UIC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9644"/>
    <a:srgbClr val="44AA5F"/>
    <a:srgbClr val="3333FF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63337" autoAdjust="0"/>
  </p:normalViewPr>
  <p:slideViewPr>
    <p:cSldViewPr snapToGrid="0">
      <p:cViewPr varScale="1">
        <p:scale>
          <a:sx n="72" d="100"/>
          <a:sy n="72" d="100"/>
        </p:scale>
        <p:origin x="201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3-20T01:30:02.265"/>
    </inkml:context>
    <inkml:brush xml:id="br0">
      <inkml:brushProperty name="width" value="0.05" units="cm"/>
      <inkml:brushProperty name="height" value="0.05" units="cm"/>
      <inkml:brushProperty name="color" value="#008C3A"/>
      <inkml:brushProperty name="ignorePressure" value="1"/>
    </inkml:brush>
  </inkml:definitions>
  <inkml:trace contextRef="#ctx0" brushRef="#br0">1 0,'0'0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3-20T01:32:20.149"/>
    </inkml:context>
    <inkml:brush xml:id="br0">
      <inkml:brushProperty name="width" value="0.05" units="cm"/>
      <inkml:brushProperty name="height" value="0.05" units="cm"/>
      <inkml:brushProperty name="color" value="#008C3A"/>
      <inkml:brushProperty name="ignorePressure" value="1"/>
    </inkml:brush>
  </inkml:definitions>
  <inkml:trace contextRef="#ctx0" brushRef="#br0">1 0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4813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48100" y="0"/>
            <a:ext cx="2944813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40C938A-8B2C-46CD-A255-A82BF6E66D98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19100" y="1241425"/>
            <a:ext cx="5956300" cy="33512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450" y="4779963"/>
            <a:ext cx="5435600" cy="391001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32925"/>
            <a:ext cx="2944813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48100" y="9432925"/>
            <a:ext cx="2944813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CF115E-2527-4307-85CF-9602B00435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34862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2C2C36"/>
                </a:solidFill>
                <a:effectLst/>
                <a:latin typeface="-apple-system"/>
              </a:rPr>
              <a:t>中位数在统计学中代表一个样本里面的一个值，其可将数值集合划分为相等的上下两部分。</a:t>
            </a:r>
          </a:p>
          <a:p>
            <a:pPr algn="l"/>
            <a:r>
              <a:rPr lang="zh-CN" altLang="en-US" b="0" i="0" dirty="0">
                <a:solidFill>
                  <a:srgbClr val="2C2C36"/>
                </a:solidFill>
                <a:effectLst/>
                <a:latin typeface="-apple-system"/>
              </a:rPr>
              <a:t>解题思路： ① 用一条边界把两个数组划分为左右两个相等的部分，若总长度为奇数，则让左半部分多一个数。 ② 通过边界值去求中位数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CF115E-2527-4307-85CF-9602B00435BE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75833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None/>
            </a:pPr>
            <a:r>
              <a:rPr lang="zh-CN" altLang="en-US" b="0" i="0" dirty="0">
                <a:solidFill>
                  <a:srgbClr val="2C2C36"/>
                </a:solidFill>
                <a:effectLst/>
                <a:latin typeface="-apple-system"/>
              </a:rPr>
              <a:t>划分边界线必须满足① 这个边界必须把两个数组划分为左右两个相等的部分，若总长度为奇数，则让左半部分多一个数。 ② 边界线左边的元素的值都比边界线右边的元素小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CF115E-2527-4307-85CF-9602B00435BE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717086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2C2C36"/>
                </a:solidFill>
                <a:effectLst/>
                <a:latin typeface="-apple-system"/>
              </a:rPr>
              <a:t>中位数在统计学中代表一个样本里面的一个值，其可将数值集合划分为相等的上下两部分。</a:t>
            </a:r>
          </a:p>
          <a:p>
            <a:pPr algn="l"/>
            <a:r>
              <a:rPr lang="zh-CN" altLang="en-US" b="0" i="0" dirty="0">
                <a:solidFill>
                  <a:srgbClr val="2C2C36"/>
                </a:solidFill>
                <a:effectLst/>
                <a:latin typeface="-apple-system"/>
              </a:rPr>
              <a:t>解题思路： ① 用一条边界把两个数组划分为左右两个相等的部分，若总长度为奇数，则让左半部分多一个数。 ② 通过边界值去求中位数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CF115E-2527-4307-85CF-9602B00435BE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986020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2C2C36"/>
                </a:solidFill>
                <a:effectLst/>
                <a:latin typeface="-apple-system"/>
              </a:rPr>
              <a:t>中位数在统计学中代表一个样本里面的一个值，其可将数值集合划分为相等的上下两部分。</a:t>
            </a:r>
          </a:p>
          <a:p>
            <a:pPr algn="l"/>
            <a:r>
              <a:rPr lang="zh-CN" altLang="en-US" b="0" i="0" dirty="0">
                <a:solidFill>
                  <a:srgbClr val="2C2C36"/>
                </a:solidFill>
                <a:effectLst/>
                <a:latin typeface="-apple-system"/>
              </a:rPr>
              <a:t>解题思路： ① 用一条边界把两个数组划分为左右两个相等的部分，若总长度为奇数，则让左半部分多一个数。 ② 通过边界值去求中位数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CF115E-2527-4307-85CF-9602B00435BE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851920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2C2C36"/>
                </a:solidFill>
                <a:effectLst/>
                <a:latin typeface="-apple-system"/>
              </a:rPr>
              <a:t>中位数在统计学中代表一个样本里面的一个值，其可将数值集合划分为相等的上下两部分。</a:t>
            </a:r>
          </a:p>
          <a:p>
            <a:pPr algn="l"/>
            <a:r>
              <a:rPr lang="zh-CN" altLang="en-US" b="0" i="0" dirty="0">
                <a:solidFill>
                  <a:srgbClr val="2C2C36"/>
                </a:solidFill>
                <a:effectLst/>
                <a:latin typeface="-apple-system"/>
              </a:rPr>
              <a:t>解题思路： ① 用一条边界把两个数组划分为左右两个相等的部分，若总长度为奇数，则让左半部分多一个数。 ② 通过边界值去求中位数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CF115E-2527-4307-85CF-9602B00435BE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037695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None/>
            </a:pPr>
            <a:r>
              <a:rPr lang="zh-CN" altLang="en-US" b="0" i="0" dirty="0">
                <a:solidFill>
                  <a:srgbClr val="2C2C36"/>
                </a:solidFill>
                <a:effectLst/>
                <a:latin typeface="-apple-system"/>
              </a:rPr>
              <a:t>划分边界线必须满足① 这个边界必须把两个数组划分为左右两个相等的部分，若总长度为奇数，则让左半部分多一个数。 ② 边界线左边的元素的值都比边界线右边的元素小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CF115E-2527-4307-85CF-9602B00435BE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229763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None/>
            </a:pPr>
            <a:r>
              <a:rPr lang="zh-CN" altLang="en-US" b="0" i="0" dirty="0">
                <a:solidFill>
                  <a:srgbClr val="2C2C36"/>
                </a:solidFill>
                <a:effectLst/>
                <a:latin typeface="-apple-system"/>
              </a:rPr>
              <a:t>划分边界线必须满足① 这个边界必须把两个数组划分为左右两个相等的部分，若总长度为奇数，则让左半部分多一个数。 ② 边界线左边的元素的值都比边界线右边的元素小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CF115E-2527-4307-85CF-9602B00435BE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557526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None/>
            </a:pPr>
            <a:r>
              <a:rPr lang="zh-CN" altLang="en-US" b="0" i="0" dirty="0">
                <a:solidFill>
                  <a:srgbClr val="2C2C36"/>
                </a:solidFill>
                <a:effectLst/>
                <a:latin typeface="-apple-system"/>
              </a:rPr>
              <a:t>划分边界线必须满足① 这个边界必须把两个数组划分为左右两个相等的部分，若总长度为奇数，则让左半部分多一个数。 ② 边界线左边的元素的值都比边界线右边的元素小</a:t>
            </a:r>
            <a:endParaRPr lang="en-US" altLang="zh-CN" b="0" i="0" dirty="0">
              <a:solidFill>
                <a:srgbClr val="2C2C36"/>
              </a:solidFill>
              <a:effectLst/>
              <a:latin typeface="-apple-system"/>
            </a:endParaRPr>
          </a:p>
          <a:p>
            <a:pPr algn="l">
              <a:buFont typeface="Arial" panose="020B0604020202020204" pitchFamily="34" charset="0"/>
              <a:buNone/>
            </a:pPr>
            <a:r>
              <a:rPr lang="zh-CN" altLang="en-US" b="0" i="0" dirty="0">
                <a:solidFill>
                  <a:srgbClr val="2C2C36"/>
                </a:solidFill>
                <a:effectLst/>
                <a:latin typeface="-apple-system"/>
              </a:rPr>
              <a:t>将上述思路转化成代码逻辑：</a:t>
            </a:r>
            <a:endParaRPr lang="en-US" altLang="zh-CN" b="0" i="0" dirty="0">
              <a:solidFill>
                <a:srgbClr val="2C2C36"/>
              </a:solidFill>
              <a:effectLst/>
              <a:latin typeface="-apple-system"/>
            </a:endParaRPr>
          </a:p>
          <a:p>
            <a:pPr algn="l">
              <a:buFont typeface="Arial" panose="020B0604020202020204" pitchFamily="34" charset="0"/>
              <a:buNone/>
            </a:pPr>
            <a:r>
              <a:rPr lang="zh-CN" altLang="en-US" b="0" i="0" dirty="0">
                <a:solidFill>
                  <a:srgbClr val="2C2C36"/>
                </a:solidFill>
                <a:effectLst/>
                <a:latin typeface="-apple-system"/>
              </a:rPr>
              <a:t>（</a:t>
            </a:r>
            <a:r>
              <a:rPr lang="en-US" altLang="zh-CN" b="0" i="0" dirty="0">
                <a:solidFill>
                  <a:srgbClr val="2C2C36"/>
                </a:solidFill>
                <a:effectLst/>
                <a:latin typeface="-apple-system"/>
              </a:rPr>
              <a:t>1</a:t>
            </a:r>
            <a:r>
              <a:rPr lang="zh-CN" altLang="en-US" b="0" i="0" dirty="0">
                <a:solidFill>
                  <a:srgbClr val="2C2C36"/>
                </a:solidFill>
                <a:effectLst/>
                <a:latin typeface="-apple-system"/>
              </a:rPr>
              <a:t>）确保第一个数组的长度小于第二个数组的长度。</a:t>
            </a:r>
            <a:endParaRPr lang="en-US" altLang="zh-CN" b="0" i="0" dirty="0">
              <a:solidFill>
                <a:srgbClr val="2C2C36"/>
              </a:solidFill>
              <a:effectLst/>
              <a:latin typeface="-apple-system"/>
            </a:endParaRPr>
          </a:p>
          <a:p>
            <a:pPr algn="l">
              <a:buFont typeface="Arial" panose="020B0604020202020204" pitchFamily="34" charset="0"/>
              <a:buNone/>
            </a:pPr>
            <a:r>
              <a:rPr lang="zh-CN" altLang="en-US" b="0" i="0" dirty="0">
                <a:solidFill>
                  <a:srgbClr val="2C2C36"/>
                </a:solidFill>
                <a:effectLst/>
                <a:latin typeface="-apple-system"/>
              </a:rPr>
              <a:t>（</a:t>
            </a:r>
            <a:r>
              <a:rPr lang="en-US" altLang="zh-CN" b="0" i="0" dirty="0">
                <a:solidFill>
                  <a:srgbClr val="2C2C36"/>
                </a:solidFill>
                <a:effectLst/>
                <a:latin typeface="-apple-system"/>
              </a:rPr>
              <a:t>2</a:t>
            </a:r>
            <a:r>
              <a:rPr lang="zh-CN" altLang="en-US" b="0" i="0" dirty="0">
                <a:solidFill>
                  <a:srgbClr val="2C2C36"/>
                </a:solidFill>
                <a:effectLst/>
                <a:latin typeface="-apple-system"/>
              </a:rPr>
              <a:t>）初始化</a:t>
            </a:r>
            <a:r>
              <a:rPr lang="en-US" altLang="zh-CN" b="0" i="0" dirty="0" err="1">
                <a:solidFill>
                  <a:srgbClr val="2C2C36"/>
                </a:solidFill>
                <a:effectLst/>
                <a:latin typeface="-apple-system"/>
              </a:rPr>
              <a:t>i</a:t>
            </a:r>
            <a:r>
              <a:rPr lang="zh-CN" altLang="en-US" b="0" i="0" dirty="0">
                <a:solidFill>
                  <a:srgbClr val="2C2C36"/>
                </a:solidFill>
                <a:effectLst/>
                <a:latin typeface="-apple-system"/>
              </a:rPr>
              <a:t>的范围。（</a:t>
            </a:r>
            <a:r>
              <a:rPr lang="en-US" altLang="zh-CN" b="0" i="0" dirty="0" err="1">
                <a:solidFill>
                  <a:srgbClr val="2C2C36"/>
                </a:solidFill>
                <a:effectLst/>
                <a:latin typeface="-apple-system"/>
              </a:rPr>
              <a:t>iMin</a:t>
            </a:r>
            <a:r>
              <a:rPr lang="en-US" altLang="zh-CN" b="0" i="0" dirty="0">
                <a:solidFill>
                  <a:srgbClr val="2C2C36"/>
                </a:solidFill>
                <a:effectLst/>
                <a:latin typeface="-apple-system"/>
              </a:rPr>
              <a:t> = 0, </a:t>
            </a:r>
            <a:r>
              <a:rPr lang="en-US" altLang="zh-CN" b="0" i="0" dirty="0" err="1">
                <a:solidFill>
                  <a:srgbClr val="2C2C36"/>
                </a:solidFill>
                <a:effectLst/>
                <a:latin typeface="-apple-system"/>
              </a:rPr>
              <a:t>iMax</a:t>
            </a:r>
            <a:r>
              <a:rPr lang="en-US" altLang="zh-CN" b="0" i="0" dirty="0">
                <a:solidFill>
                  <a:srgbClr val="2C2C36"/>
                </a:solidFill>
                <a:effectLst/>
                <a:latin typeface="-apple-system"/>
              </a:rPr>
              <a:t> = m</a:t>
            </a:r>
            <a:r>
              <a:rPr lang="zh-CN" altLang="en-US" b="0" i="0" dirty="0">
                <a:solidFill>
                  <a:srgbClr val="2C2C36"/>
                </a:solidFill>
                <a:effectLst/>
                <a:latin typeface="-apple-system"/>
              </a:rPr>
              <a:t>）</a:t>
            </a:r>
            <a:endParaRPr lang="en-US" altLang="zh-CN" b="0" i="0" dirty="0">
              <a:solidFill>
                <a:srgbClr val="2C2C36"/>
              </a:solidFill>
              <a:effectLst/>
              <a:latin typeface="-apple-system"/>
            </a:endParaRPr>
          </a:p>
          <a:p>
            <a:pPr algn="l">
              <a:buFont typeface="Arial" panose="020B0604020202020204" pitchFamily="34" charset="0"/>
              <a:buNone/>
            </a:pPr>
            <a:r>
              <a:rPr lang="zh-CN" altLang="en-US" b="0" i="0" dirty="0">
                <a:solidFill>
                  <a:srgbClr val="2C2C36"/>
                </a:solidFill>
                <a:effectLst/>
                <a:latin typeface="-apple-system"/>
              </a:rPr>
              <a:t>（</a:t>
            </a:r>
            <a:r>
              <a:rPr lang="en-US" altLang="zh-CN" b="0" i="0" dirty="0">
                <a:solidFill>
                  <a:srgbClr val="2C2C36"/>
                </a:solidFill>
                <a:effectLst/>
                <a:latin typeface="-apple-system"/>
              </a:rPr>
              <a:t>3</a:t>
            </a:r>
            <a:r>
              <a:rPr lang="zh-CN" altLang="en-US" b="0" i="0" dirty="0">
                <a:solidFill>
                  <a:srgbClr val="2C2C36"/>
                </a:solidFill>
                <a:effectLst/>
                <a:latin typeface="-apple-system"/>
              </a:rPr>
              <a:t>）循环遍历条件 （当</a:t>
            </a:r>
            <a:r>
              <a:rPr lang="en-US" altLang="zh-CN" b="0" i="0" dirty="0" err="1">
                <a:solidFill>
                  <a:srgbClr val="2C2C36"/>
                </a:solidFill>
                <a:effectLst/>
                <a:latin typeface="-apple-system"/>
              </a:rPr>
              <a:t>iMin</a:t>
            </a:r>
            <a:r>
              <a:rPr lang="en-US" altLang="zh-CN" b="0" i="0" dirty="0">
                <a:solidFill>
                  <a:srgbClr val="2C2C36"/>
                </a:solidFill>
                <a:effectLst/>
                <a:latin typeface="-apple-system"/>
              </a:rPr>
              <a:t> &lt;= </a:t>
            </a:r>
            <a:r>
              <a:rPr lang="en-US" altLang="zh-CN" b="0" i="0" dirty="0" err="1">
                <a:solidFill>
                  <a:srgbClr val="2C2C36"/>
                </a:solidFill>
                <a:effectLst/>
                <a:latin typeface="-apple-system"/>
              </a:rPr>
              <a:t>iMax</a:t>
            </a:r>
            <a:r>
              <a:rPr lang="zh-CN" altLang="en-US" b="0" i="0" dirty="0">
                <a:solidFill>
                  <a:srgbClr val="2C2C36"/>
                </a:solidFill>
                <a:effectLst/>
                <a:latin typeface="-apple-system"/>
              </a:rPr>
              <a:t>）</a:t>
            </a:r>
            <a:r>
              <a:rPr lang="en-US" altLang="zh-CN" b="0" i="0" dirty="0">
                <a:solidFill>
                  <a:srgbClr val="2C2C36"/>
                </a:solidFill>
                <a:effectLst/>
                <a:latin typeface="-apple-system"/>
              </a:rPr>
              <a:t>:</a:t>
            </a:r>
          </a:p>
          <a:p>
            <a:pPr algn="l">
              <a:buFont typeface="Arial" panose="020B0604020202020204" pitchFamily="34" charset="0"/>
              <a:buNone/>
            </a:pPr>
            <a:r>
              <a:rPr lang="en-US" altLang="zh-CN" b="0" i="0" dirty="0">
                <a:solidFill>
                  <a:srgbClr val="2C2C36"/>
                </a:solidFill>
                <a:effectLst/>
                <a:latin typeface="-apple-system"/>
              </a:rPr>
              <a:t>         </a:t>
            </a:r>
            <a:r>
              <a:rPr lang="en-US" altLang="zh-CN" b="0" i="0" dirty="0" err="1">
                <a:solidFill>
                  <a:srgbClr val="2C2C36"/>
                </a:solidFill>
                <a:effectLst/>
                <a:latin typeface="-apple-system"/>
              </a:rPr>
              <a:t>i</a:t>
            </a:r>
            <a:r>
              <a:rPr lang="en-US" altLang="zh-CN" b="0" i="0" dirty="0">
                <a:solidFill>
                  <a:srgbClr val="2C2C36"/>
                </a:solidFill>
                <a:effectLst/>
                <a:latin typeface="-apple-system"/>
              </a:rPr>
              <a:t>. </a:t>
            </a:r>
            <a:r>
              <a:rPr lang="zh-CN" altLang="en-US" b="0" i="0" dirty="0">
                <a:solidFill>
                  <a:srgbClr val="2C2C36"/>
                </a:solidFill>
                <a:effectLst/>
                <a:latin typeface="-apple-system"/>
              </a:rPr>
              <a:t>取</a:t>
            </a:r>
            <a:r>
              <a:rPr lang="en-US" altLang="zh-CN" b="0" i="0" dirty="0" err="1">
                <a:solidFill>
                  <a:srgbClr val="2C2C36"/>
                </a:solidFill>
                <a:effectLst/>
                <a:latin typeface="-apple-system"/>
              </a:rPr>
              <a:t>i</a:t>
            </a:r>
            <a:r>
              <a:rPr lang="zh-CN" altLang="en-US" b="0" i="0" dirty="0">
                <a:solidFill>
                  <a:srgbClr val="2C2C36"/>
                </a:solidFill>
                <a:effectLst/>
                <a:latin typeface="-apple-system"/>
              </a:rPr>
              <a:t>为中间值，判断</a:t>
            </a:r>
            <a:r>
              <a:rPr lang="en-US" altLang="zh-CN" b="0" i="0" dirty="0" err="1">
                <a:solidFill>
                  <a:srgbClr val="2C2C36"/>
                </a:solidFill>
                <a:effectLst/>
                <a:latin typeface="-apple-system"/>
              </a:rPr>
              <a:t>i</a:t>
            </a:r>
            <a:r>
              <a:rPr lang="zh-CN" altLang="en-US" b="0" i="0" dirty="0">
                <a:solidFill>
                  <a:srgbClr val="2C2C36"/>
                </a:solidFill>
                <a:effectLst/>
                <a:latin typeface="-apple-system"/>
              </a:rPr>
              <a:t>是否太大或者太小</a:t>
            </a:r>
            <a:r>
              <a:rPr lang="en-US" altLang="zh-CN" b="0" i="0" dirty="0">
                <a:solidFill>
                  <a:srgbClr val="2C2C36"/>
                </a:solidFill>
                <a:effectLst/>
                <a:latin typeface="-apple-system"/>
              </a:rPr>
              <a:t>;</a:t>
            </a:r>
          </a:p>
          <a:p>
            <a:pPr algn="l">
              <a:buFont typeface="Arial" panose="020B0604020202020204" pitchFamily="34" charset="0"/>
              <a:buNone/>
            </a:pPr>
            <a:r>
              <a:rPr lang="en-US" altLang="zh-CN" b="0" i="0" dirty="0">
                <a:solidFill>
                  <a:srgbClr val="2C2C36"/>
                </a:solidFill>
                <a:effectLst/>
                <a:latin typeface="-apple-system"/>
              </a:rPr>
              <a:t>         ii.</a:t>
            </a:r>
            <a:r>
              <a:rPr lang="zh-CN" altLang="en-US" b="0" i="0" dirty="0">
                <a:solidFill>
                  <a:srgbClr val="2C2C36"/>
                </a:solidFill>
                <a:effectLst/>
                <a:latin typeface="-apple-system"/>
              </a:rPr>
              <a:t> 如果</a:t>
            </a:r>
            <a:r>
              <a:rPr lang="en-US" altLang="zh-CN" b="0" i="0" dirty="0" err="1">
                <a:solidFill>
                  <a:srgbClr val="2C2C36"/>
                </a:solidFill>
                <a:effectLst/>
                <a:latin typeface="-apple-system"/>
              </a:rPr>
              <a:t>i</a:t>
            </a:r>
            <a:r>
              <a:rPr lang="zh-CN" altLang="en-US" b="0" i="0" dirty="0">
                <a:solidFill>
                  <a:srgbClr val="2C2C36"/>
                </a:solidFill>
                <a:effectLst/>
                <a:latin typeface="-apple-system"/>
              </a:rPr>
              <a:t>太小，则令</a:t>
            </a:r>
            <a:r>
              <a:rPr lang="en-US" altLang="zh-CN" b="0" i="0" dirty="0" err="1">
                <a:solidFill>
                  <a:srgbClr val="2C2C36"/>
                </a:solidFill>
                <a:effectLst/>
                <a:latin typeface="-apple-system"/>
              </a:rPr>
              <a:t>iMin</a:t>
            </a:r>
            <a:r>
              <a:rPr lang="en-US" altLang="zh-CN" b="0" i="0" dirty="0">
                <a:solidFill>
                  <a:srgbClr val="2C2C36"/>
                </a:solidFill>
                <a:effectLst/>
                <a:latin typeface="-apple-system"/>
              </a:rPr>
              <a:t> = </a:t>
            </a:r>
            <a:r>
              <a:rPr lang="en-US" altLang="zh-CN" b="0" i="0" dirty="0" err="1">
                <a:solidFill>
                  <a:srgbClr val="2C2C36"/>
                </a:solidFill>
                <a:effectLst/>
                <a:latin typeface="-apple-system"/>
              </a:rPr>
              <a:t>i</a:t>
            </a:r>
            <a:r>
              <a:rPr lang="en-US" altLang="zh-CN" b="0" i="0" dirty="0">
                <a:solidFill>
                  <a:srgbClr val="2C2C36"/>
                </a:solidFill>
                <a:effectLst/>
                <a:latin typeface="-apple-system"/>
              </a:rPr>
              <a:t> + 1;</a:t>
            </a:r>
          </a:p>
          <a:p>
            <a:pPr algn="l">
              <a:buFont typeface="Arial" panose="020B0604020202020204" pitchFamily="34" charset="0"/>
              <a:buNone/>
            </a:pPr>
            <a:r>
              <a:rPr lang="en-US" altLang="zh-CN" b="0" i="0" dirty="0">
                <a:solidFill>
                  <a:srgbClr val="2C2C36"/>
                </a:solidFill>
                <a:effectLst/>
                <a:latin typeface="-apple-system"/>
              </a:rPr>
              <a:t>         iii. </a:t>
            </a:r>
            <a:r>
              <a:rPr lang="zh-CN" altLang="en-US" b="0" i="0" dirty="0">
                <a:solidFill>
                  <a:srgbClr val="2C2C36"/>
                </a:solidFill>
                <a:effectLst/>
                <a:latin typeface="-apple-system"/>
              </a:rPr>
              <a:t>如果</a:t>
            </a:r>
            <a:r>
              <a:rPr lang="en-US" altLang="zh-CN" b="0" i="0" dirty="0" err="1">
                <a:solidFill>
                  <a:srgbClr val="2C2C36"/>
                </a:solidFill>
                <a:effectLst/>
                <a:latin typeface="-apple-system"/>
              </a:rPr>
              <a:t>i</a:t>
            </a:r>
            <a:r>
              <a:rPr lang="zh-CN" altLang="en-US" b="0" i="0" dirty="0">
                <a:solidFill>
                  <a:srgbClr val="2C2C36"/>
                </a:solidFill>
                <a:effectLst/>
                <a:latin typeface="-apple-system"/>
              </a:rPr>
              <a:t>太大，则令</a:t>
            </a:r>
            <a:r>
              <a:rPr lang="en-US" altLang="zh-CN" b="0" i="0" dirty="0" err="1">
                <a:solidFill>
                  <a:srgbClr val="2C2C36"/>
                </a:solidFill>
                <a:effectLst/>
                <a:latin typeface="-apple-system"/>
              </a:rPr>
              <a:t>iMax</a:t>
            </a:r>
            <a:r>
              <a:rPr lang="en-US" altLang="zh-CN" b="0" i="0" dirty="0">
                <a:solidFill>
                  <a:srgbClr val="2C2C36"/>
                </a:solidFill>
                <a:effectLst/>
                <a:latin typeface="-apple-system"/>
              </a:rPr>
              <a:t> = </a:t>
            </a:r>
            <a:r>
              <a:rPr lang="en-US" altLang="zh-CN" b="0" i="0" dirty="0" err="1">
                <a:solidFill>
                  <a:srgbClr val="2C2C36"/>
                </a:solidFill>
                <a:effectLst/>
                <a:latin typeface="-apple-system"/>
              </a:rPr>
              <a:t>i</a:t>
            </a:r>
            <a:r>
              <a:rPr lang="en-US" altLang="zh-CN" b="0" i="0" dirty="0">
                <a:solidFill>
                  <a:srgbClr val="2C2C36"/>
                </a:solidFill>
                <a:effectLst/>
                <a:latin typeface="-apple-system"/>
              </a:rPr>
              <a:t> – 1</a:t>
            </a:r>
            <a:r>
              <a:rPr lang="zh-CN" altLang="en-US" b="0" i="0" dirty="0">
                <a:solidFill>
                  <a:srgbClr val="2C2C36"/>
                </a:solidFill>
                <a:effectLst/>
                <a:latin typeface="-apple-system"/>
              </a:rPr>
              <a:t>；</a:t>
            </a:r>
            <a:endParaRPr lang="en-US" altLang="zh-CN" b="0" i="0" dirty="0">
              <a:solidFill>
                <a:srgbClr val="2C2C36"/>
              </a:solidFill>
              <a:effectLst/>
              <a:latin typeface="-apple-system"/>
            </a:endParaRPr>
          </a:p>
          <a:p>
            <a:pPr algn="l">
              <a:buFont typeface="Arial" panose="020B0604020202020204" pitchFamily="34" charset="0"/>
              <a:buNone/>
            </a:pPr>
            <a:r>
              <a:rPr lang="en-US" altLang="zh-CN" b="0" i="0" dirty="0">
                <a:solidFill>
                  <a:srgbClr val="2C2C36"/>
                </a:solidFill>
                <a:effectLst/>
                <a:latin typeface="-apple-system"/>
              </a:rPr>
              <a:t>         iv. </a:t>
            </a:r>
            <a:r>
              <a:rPr lang="zh-CN" altLang="en-US" b="0" i="0" dirty="0">
                <a:solidFill>
                  <a:srgbClr val="2C2C36"/>
                </a:solidFill>
                <a:effectLst/>
                <a:latin typeface="-apple-system"/>
              </a:rPr>
              <a:t>如果</a:t>
            </a:r>
            <a:r>
              <a:rPr lang="en-US" altLang="zh-CN" b="0" i="0" dirty="0" err="1">
                <a:solidFill>
                  <a:srgbClr val="2C2C36"/>
                </a:solidFill>
                <a:effectLst/>
                <a:latin typeface="-apple-system"/>
              </a:rPr>
              <a:t>i</a:t>
            </a:r>
            <a:r>
              <a:rPr lang="zh-CN" altLang="en-US" b="0" i="0" dirty="0">
                <a:solidFill>
                  <a:srgbClr val="2C2C36"/>
                </a:solidFill>
                <a:effectLst/>
                <a:latin typeface="-apple-system"/>
              </a:rPr>
              <a:t>的值正好合适，计算两边的最大值：</a:t>
            </a:r>
            <a:endParaRPr lang="en-US" altLang="zh-CN" b="0" i="0" dirty="0">
              <a:solidFill>
                <a:srgbClr val="2C2C36"/>
              </a:solidFill>
              <a:effectLst/>
              <a:latin typeface="-apple-system"/>
            </a:endParaRPr>
          </a:p>
          <a:p>
            <a:pPr algn="l">
              <a:buFont typeface="Arial" panose="020B0604020202020204" pitchFamily="34" charset="0"/>
              <a:buNone/>
            </a:pPr>
            <a:r>
              <a:rPr lang="en-US" altLang="zh-CN" b="0" i="0" dirty="0">
                <a:solidFill>
                  <a:srgbClr val="2C2C36"/>
                </a:solidFill>
                <a:effectLst/>
                <a:latin typeface="-apple-system"/>
              </a:rPr>
              <a:t>	a) </a:t>
            </a:r>
            <a:r>
              <a:rPr lang="zh-CN" altLang="en-US" b="0" i="0" dirty="0">
                <a:solidFill>
                  <a:srgbClr val="2C2C36"/>
                </a:solidFill>
                <a:effectLst/>
                <a:latin typeface="-apple-system"/>
              </a:rPr>
              <a:t>首先找到左侧的最大值，如果 </a:t>
            </a:r>
            <a:r>
              <a:rPr lang="en-US" altLang="zh-CN" b="0" i="0" dirty="0" err="1">
                <a:solidFill>
                  <a:srgbClr val="2C2C36"/>
                </a:solidFill>
                <a:effectLst/>
                <a:latin typeface="-apple-system"/>
              </a:rPr>
              <a:t>i</a:t>
            </a:r>
            <a:r>
              <a:rPr lang="en-US" altLang="zh-CN" b="0" i="0" dirty="0">
                <a:solidFill>
                  <a:srgbClr val="2C2C36"/>
                </a:solidFill>
                <a:effectLst/>
                <a:latin typeface="-apple-system"/>
              </a:rPr>
              <a:t> = 0, </a:t>
            </a:r>
            <a:r>
              <a:rPr lang="zh-CN" altLang="en-US" b="0" i="0" dirty="0">
                <a:solidFill>
                  <a:srgbClr val="2C2C36"/>
                </a:solidFill>
                <a:effectLst/>
                <a:latin typeface="-apple-system"/>
              </a:rPr>
              <a:t>则</a:t>
            </a:r>
            <a:r>
              <a:rPr lang="en-US" altLang="zh-CN" b="0" i="0" dirty="0" err="1">
                <a:solidFill>
                  <a:srgbClr val="2C2C36"/>
                </a:solidFill>
                <a:effectLst/>
                <a:latin typeface="-apple-system"/>
              </a:rPr>
              <a:t>maxLeft</a:t>
            </a:r>
            <a:r>
              <a:rPr lang="en-US" altLang="zh-CN" b="0" i="0" dirty="0">
                <a:solidFill>
                  <a:srgbClr val="2C2C36"/>
                </a:solidFill>
                <a:effectLst/>
                <a:latin typeface="-apple-system"/>
              </a:rPr>
              <a:t> = B[j - 1]; </a:t>
            </a:r>
            <a:r>
              <a:rPr lang="zh-CN" altLang="en-US" b="0" i="0" dirty="0">
                <a:solidFill>
                  <a:srgbClr val="2C2C36"/>
                </a:solidFill>
                <a:effectLst/>
                <a:latin typeface="-apple-system"/>
              </a:rPr>
              <a:t>如果 </a:t>
            </a:r>
            <a:r>
              <a:rPr lang="en-US" altLang="zh-CN" b="0" i="0" dirty="0">
                <a:solidFill>
                  <a:srgbClr val="2C2C36"/>
                </a:solidFill>
                <a:effectLst/>
                <a:latin typeface="-apple-system"/>
              </a:rPr>
              <a:t>j = 0, </a:t>
            </a:r>
            <a:r>
              <a:rPr lang="zh-CN" altLang="en-US" b="0" i="0" dirty="0">
                <a:solidFill>
                  <a:srgbClr val="2C2C36"/>
                </a:solidFill>
                <a:effectLst/>
                <a:latin typeface="-apple-system"/>
              </a:rPr>
              <a:t>则</a:t>
            </a:r>
            <a:r>
              <a:rPr lang="en-US" altLang="zh-CN" b="0" i="0" dirty="0" err="1">
                <a:solidFill>
                  <a:srgbClr val="2C2C36"/>
                </a:solidFill>
                <a:effectLst/>
                <a:latin typeface="-apple-system"/>
              </a:rPr>
              <a:t>maxLeft</a:t>
            </a:r>
            <a:r>
              <a:rPr lang="en-US" altLang="zh-CN" b="0" i="0" dirty="0">
                <a:solidFill>
                  <a:srgbClr val="2C2C36"/>
                </a:solidFill>
                <a:effectLst/>
                <a:latin typeface="-apple-system"/>
              </a:rPr>
              <a:t> = A[</a:t>
            </a:r>
            <a:r>
              <a:rPr lang="en-US" altLang="zh-CN" b="0" i="0" dirty="0" err="1">
                <a:solidFill>
                  <a:srgbClr val="2C2C36"/>
                </a:solidFill>
                <a:effectLst/>
                <a:latin typeface="-apple-system"/>
              </a:rPr>
              <a:t>i</a:t>
            </a:r>
            <a:r>
              <a:rPr lang="en-US" altLang="zh-CN" b="0" i="0" dirty="0">
                <a:solidFill>
                  <a:srgbClr val="2C2C36"/>
                </a:solidFill>
                <a:effectLst/>
                <a:latin typeface="-apple-system"/>
              </a:rPr>
              <a:t> – 1], </a:t>
            </a:r>
            <a:r>
              <a:rPr lang="zh-CN" altLang="en-US" b="0" i="0" dirty="0">
                <a:solidFill>
                  <a:srgbClr val="2C2C36"/>
                </a:solidFill>
                <a:effectLst/>
                <a:latin typeface="-apple-system"/>
              </a:rPr>
              <a:t>否则取 </a:t>
            </a:r>
            <a:r>
              <a:rPr lang="en-US" altLang="zh-CN" b="0" i="0" dirty="0" err="1">
                <a:solidFill>
                  <a:srgbClr val="2C2C36"/>
                </a:solidFill>
                <a:effectLst/>
                <a:latin typeface="-apple-system"/>
              </a:rPr>
              <a:t>maxLeft</a:t>
            </a:r>
            <a:r>
              <a:rPr lang="en-US" altLang="zh-CN" b="0" i="0" dirty="0">
                <a:solidFill>
                  <a:srgbClr val="2C2C36"/>
                </a:solidFill>
                <a:effectLst/>
                <a:latin typeface="-apple-system"/>
              </a:rPr>
              <a:t> = max(A[</a:t>
            </a:r>
            <a:r>
              <a:rPr lang="en-US" altLang="zh-CN" b="0" i="0" dirty="0" err="1">
                <a:solidFill>
                  <a:srgbClr val="2C2C36"/>
                </a:solidFill>
                <a:effectLst/>
                <a:latin typeface="-apple-system"/>
              </a:rPr>
              <a:t>i</a:t>
            </a:r>
            <a:r>
              <a:rPr lang="en-US" altLang="zh-CN" b="0" i="0" dirty="0">
                <a:solidFill>
                  <a:srgbClr val="2C2C36"/>
                </a:solidFill>
                <a:effectLst/>
                <a:latin typeface="-apple-system"/>
              </a:rPr>
              <a:t> - 1], B[j – 1])</a:t>
            </a:r>
            <a:r>
              <a:rPr lang="zh-CN" altLang="en-US" b="0" i="0" dirty="0">
                <a:solidFill>
                  <a:srgbClr val="2C2C36"/>
                </a:solidFill>
                <a:effectLst/>
                <a:latin typeface="-apple-system"/>
              </a:rPr>
              <a:t>。</a:t>
            </a:r>
            <a:endParaRPr lang="en-US" altLang="zh-CN" b="0" i="0" dirty="0">
              <a:solidFill>
                <a:srgbClr val="2C2C36"/>
              </a:solidFill>
              <a:effectLst/>
              <a:latin typeface="-apple-system"/>
            </a:endParaRPr>
          </a:p>
          <a:p>
            <a:pPr algn="l">
              <a:buFont typeface="Arial" panose="020B0604020202020204" pitchFamily="34" charset="0"/>
              <a:buNone/>
            </a:pPr>
            <a:r>
              <a:rPr lang="en-US" altLang="zh-CN" b="0" i="0" dirty="0">
                <a:solidFill>
                  <a:srgbClr val="2C2C36"/>
                </a:solidFill>
                <a:effectLst/>
                <a:latin typeface="-apple-system"/>
              </a:rPr>
              <a:t>	b) </a:t>
            </a:r>
            <a:r>
              <a:rPr lang="zh-CN" altLang="en-US" b="0" i="0" dirty="0">
                <a:solidFill>
                  <a:srgbClr val="2C2C36"/>
                </a:solidFill>
                <a:effectLst/>
                <a:latin typeface="-apple-system"/>
              </a:rPr>
              <a:t>判断两个数组的总长度</a:t>
            </a:r>
            <a:r>
              <a:rPr lang="en-US" altLang="zh-CN" b="0" i="0" dirty="0">
                <a:solidFill>
                  <a:srgbClr val="2C2C36"/>
                </a:solidFill>
                <a:effectLst/>
                <a:latin typeface="-apple-system"/>
              </a:rPr>
              <a:t>(</a:t>
            </a:r>
            <a:r>
              <a:rPr lang="en-US" altLang="zh-CN" b="0" i="0" dirty="0" err="1">
                <a:solidFill>
                  <a:srgbClr val="2C2C36"/>
                </a:solidFill>
                <a:effectLst/>
                <a:latin typeface="-apple-system"/>
              </a:rPr>
              <a:t>m+n</a:t>
            </a:r>
            <a:r>
              <a:rPr lang="en-US" altLang="zh-CN" b="0" i="0" dirty="0">
                <a:solidFill>
                  <a:srgbClr val="2C2C36"/>
                </a:solidFill>
                <a:effectLst/>
                <a:latin typeface="-apple-system"/>
              </a:rPr>
              <a:t>)</a:t>
            </a:r>
            <a:r>
              <a:rPr lang="zh-CN" altLang="en-US" b="0" i="0" dirty="0">
                <a:solidFill>
                  <a:srgbClr val="2C2C36"/>
                </a:solidFill>
                <a:effectLst/>
                <a:latin typeface="-apple-system"/>
              </a:rPr>
              <a:t>是否为奇数。如果是奇数，直接返回左侧最大值 </a:t>
            </a:r>
            <a:r>
              <a:rPr lang="en-US" altLang="zh-CN" b="0" i="0" dirty="0" err="1">
                <a:solidFill>
                  <a:srgbClr val="2C2C36"/>
                </a:solidFill>
                <a:effectLst/>
                <a:latin typeface="-apple-system"/>
              </a:rPr>
              <a:t>maxLeft</a:t>
            </a:r>
            <a:r>
              <a:rPr lang="zh-CN" altLang="en-US" b="0" i="0" dirty="0">
                <a:solidFill>
                  <a:srgbClr val="2C2C36"/>
                </a:solidFill>
                <a:effectLst/>
                <a:latin typeface="-apple-system"/>
              </a:rPr>
              <a:t>作为中位数。否则，考虑右侧的最小值。</a:t>
            </a:r>
            <a:endParaRPr lang="en-US" altLang="zh-CN" b="0" i="0" dirty="0">
              <a:solidFill>
                <a:srgbClr val="2C2C36"/>
              </a:solidFill>
              <a:effectLst/>
              <a:latin typeface="-apple-system"/>
            </a:endParaRPr>
          </a:p>
          <a:p>
            <a:pPr algn="l">
              <a:buFont typeface="Arial" panose="020B0604020202020204" pitchFamily="34" charset="0"/>
              <a:buNone/>
            </a:pPr>
            <a:r>
              <a:rPr lang="en-US" altLang="zh-CN" b="0" i="0" dirty="0">
                <a:solidFill>
                  <a:srgbClr val="2C2C36"/>
                </a:solidFill>
                <a:effectLst/>
                <a:latin typeface="-apple-system"/>
              </a:rPr>
              <a:t>	c) </a:t>
            </a:r>
            <a:r>
              <a:rPr lang="zh-CN" altLang="en-US" b="0" i="0" dirty="0">
                <a:solidFill>
                  <a:srgbClr val="2C2C36"/>
                </a:solidFill>
                <a:effectLst/>
                <a:latin typeface="-apple-system"/>
              </a:rPr>
              <a:t>然后找到右侧的最小值，如果 </a:t>
            </a:r>
            <a:r>
              <a:rPr lang="en-US" altLang="zh-CN" b="0" i="0" dirty="0" err="1">
                <a:solidFill>
                  <a:srgbClr val="2C2C36"/>
                </a:solidFill>
                <a:effectLst/>
                <a:latin typeface="-apple-system"/>
              </a:rPr>
              <a:t>i</a:t>
            </a:r>
            <a:r>
              <a:rPr lang="en-US" altLang="zh-CN" b="0" i="0" dirty="0">
                <a:solidFill>
                  <a:srgbClr val="2C2C36"/>
                </a:solidFill>
                <a:effectLst/>
                <a:latin typeface="-apple-system"/>
              </a:rPr>
              <a:t> = m, </a:t>
            </a:r>
            <a:r>
              <a:rPr lang="zh-CN" altLang="en-US" b="0" i="0" dirty="0">
                <a:solidFill>
                  <a:srgbClr val="2C2C36"/>
                </a:solidFill>
                <a:effectLst/>
                <a:latin typeface="-apple-system"/>
              </a:rPr>
              <a:t>则</a:t>
            </a:r>
            <a:r>
              <a:rPr lang="en-US" altLang="zh-CN" b="0" i="0" dirty="0">
                <a:solidFill>
                  <a:srgbClr val="2C2C36"/>
                </a:solidFill>
                <a:effectLst/>
                <a:latin typeface="-apple-system"/>
              </a:rPr>
              <a:t> </a:t>
            </a:r>
            <a:r>
              <a:rPr lang="en-US" altLang="zh-CN" b="0" i="0" dirty="0" err="1">
                <a:solidFill>
                  <a:srgbClr val="2C2C36"/>
                </a:solidFill>
                <a:effectLst/>
                <a:latin typeface="-apple-system"/>
              </a:rPr>
              <a:t>minRight</a:t>
            </a:r>
            <a:r>
              <a:rPr lang="en-US" altLang="zh-CN" b="0" i="0" dirty="0">
                <a:solidFill>
                  <a:srgbClr val="2C2C36"/>
                </a:solidFill>
                <a:effectLst/>
                <a:latin typeface="-apple-system"/>
              </a:rPr>
              <a:t> = B[j]; </a:t>
            </a:r>
            <a:r>
              <a:rPr lang="zh-CN" altLang="en-US" b="0" i="0" dirty="0">
                <a:solidFill>
                  <a:srgbClr val="2C2C36"/>
                </a:solidFill>
                <a:effectLst/>
                <a:latin typeface="-apple-system"/>
              </a:rPr>
              <a:t>如果 </a:t>
            </a:r>
            <a:r>
              <a:rPr lang="en-US" altLang="zh-CN" b="0" i="0" dirty="0">
                <a:solidFill>
                  <a:srgbClr val="2C2C36"/>
                </a:solidFill>
                <a:effectLst/>
                <a:latin typeface="-apple-system"/>
              </a:rPr>
              <a:t>j = n</a:t>
            </a:r>
            <a:r>
              <a:rPr lang="zh-CN" altLang="en-US" b="0" i="0" dirty="0">
                <a:solidFill>
                  <a:srgbClr val="2C2C36"/>
                </a:solidFill>
                <a:effectLst/>
                <a:latin typeface="-apple-system"/>
              </a:rPr>
              <a:t>， 则 </a:t>
            </a:r>
            <a:r>
              <a:rPr lang="en-US" altLang="zh-CN" b="0" i="0" dirty="0" err="1">
                <a:solidFill>
                  <a:srgbClr val="2C2C36"/>
                </a:solidFill>
                <a:effectLst/>
                <a:latin typeface="-apple-system"/>
              </a:rPr>
              <a:t>minRight</a:t>
            </a:r>
            <a:r>
              <a:rPr lang="en-US" altLang="zh-CN" b="0" i="0" dirty="0">
                <a:solidFill>
                  <a:srgbClr val="2C2C36"/>
                </a:solidFill>
                <a:effectLst/>
                <a:latin typeface="-apple-system"/>
              </a:rPr>
              <a:t> = A[</a:t>
            </a:r>
            <a:r>
              <a:rPr lang="en-US" altLang="zh-CN" b="0" i="0" dirty="0" err="1">
                <a:solidFill>
                  <a:srgbClr val="2C2C36"/>
                </a:solidFill>
                <a:effectLst/>
                <a:latin typeface="-apple-system"/>
              </a:rPr>
              <a:t>i</a:t>
            </a:r>
            <a:r>
              <a:rPr lang="en-US" altLang="zh-CN" b="0" i="0" dirty="0">
                <a:solidFill>
                  <a:srgbClr val="2C2C36"/>
                </a:solidFill>
                <a:effectLst/>
                <a:latin typeface="-apple-system"/>
              </a:rPr>
              <a:t>], </a:t>
            </a:r>
            <a:r>
              <a:rPr lang="zh-CN" altLang="en-US" b="0" i="0" dirty="0">
                <a:solidFill>
                  <a:srgbClr val="2C2C36"/>
                </a:solidFill>
                <a:effectLst/>
                <a:latin typeface="-apple-system"/>
              </a:rPr>
              <a:t>否则取 </a:t>
            </a:r>
            <a:r>
              <a:rPr lang="en-US" altLang="zh-CN" b="0" i="0" dirty="0" err="1">
                <a:solidFill>
                  <a:srgbClr val="2C2C36"/>
                </a:solidFill>
                <a:effectLst/>
                <a:latin typeface="-apple-system"/>
              </a:rPr>
              <a:t>minRight</a:t>
            </a:r>
            <a:r>
              <a:rPr lang="en-US" altLang="zh-CN" b="0" i="0" dirty="0">
                <a:solidFill>
                  <a:srgbClr val="2C2C36"/>
                </a:solidFill>
                <a:effectLst/>
                <a:latin typeface="-apple-system"/>
              </a:rPr>
              <a:t> = min(A[</a:t>
            </a:r>
            <a:r>
              <a:rPr lang="en-US" altLang="zh-CN" b="0" i="0" dirty="0" err="1">
                <a:solidFill>
                  <a:srgbClr val="2C2C36"/>
                </a:solidFill>
                <a:effectLst/>
                <a:latin typeface="-apple-system"/>
              </a:rPr>
              <a:t>i</a:t>
            </a:r>
            <a:r>
              <a:rPr lang="en-US" altLang="zh-CN" b="0" i="0" dirty="0">
                <a:solidFill>
                  <a:srgbClr val="2C2C36"/>
                </a:solidFill>
                <a:effectLst/>
                <a:latin typeface="-apple-system"/>
              </a:rPr>
              <a:t>], B[j])</a:t>
            </a:r>
            <a:r>
              <a:rPr lang="zh-CN" altLang="en-US" b="0" i="0" dirty="0">
                <a:solidFill>
                  <a:srgbClr val="2C2C36"/>
                </a:solidFill>
                <a:effectLst/>
                <a:latin typeface="-apple-system"/>
              </a:rPr>
              <a:t>。</a:t>
            </a:r>
            <a:endParaRPr lang="en-US" altLang="zh-CN" b="0" i="0" dirty="0">
              <a:solidFill>
                <a:srgbClr val="2C2C36"/>
              </a:solidFill>
              <a:effectLst/>
              <a:latin typeface="-apple-system"/>
            </a:endParaRPr>
          </a:p>
          <a:p>
            <a:pPr algn="l">
              <a:buFont typeface="Arial" panose="020B0604020202020204" pitchFamily="34" charset="0"/>
              <a:buNone/>
            </a:pPr>
            <a:r>
              <a:rPr lang="en-US" altLang="zh-CN" b="0" i="0" dirty="0">
                <a:solidFill>
                  <a:srgbClr val="2C2C36"/>
                </a:solidFill>
                <a:effectLst/>
                <a:latin typeface="-apple-system"/>
              </a:rPr>
              <a:t>	d) </a:t>
            </a:r>
            <a:r>
              <a:rPr lang="zh-CN" altLang="en-US" b="0" i="0" dirty="0">
                <a:solidFill>
                  <a:srgbClr val="2C2C36"/>
                </a:solidFill>
                <a:effectLst/>
                <a:latin typeface="-apple-system"/>
              </a:rPr>
              <a:t>返回 </a:t>
            </a:r>
            <a:r>
              <a:rPr lang="en-US" altLang="zh-CN" b="0" i="0" dirty="0">
                <a:solidFill>
                  <a:srgbClr val="2C2C36"/>
                </a:solidFill>
                <a:effectLst/>
                <a:latin typeface="-apple-system"/>
              </a:rPr>
              <a:t>(</a:t>
            </a:r>
            <a:r>
              <a:rPr lang="en-US" altLang="zh-CN" b="0" i="0" dirty="0" err="1">
                <a:solidFill>
                  <a:srgbClr val="2C2C36"/>
                </a:solidFill>
                <a:effectLst/>
                <a:latin typeface="-apple-system"/>
              </a:rPr>
              <a:t>maxLeft</a:t>
            </a:r>
            <a:r>
              <a:rPr lang="en-US" altLang="zh-CN" b="0" i="0" dirty="0">
                <a:solidFill>
                  <a:srgbClr val="2C2C36"/>
                </a:solidFill>
                <a:effectLst/>
                <a:latin typeface="-apple-system"/>
              </a:rPr>
              <a:t> + </a:t>
            </a:r>
            <a:r>
              <a:rPr lang="en-US" altLang="zh-CN" b="0" i="0" dirty="0" err="1">
                <a:solidFill>
                  <a:srgbClr val="2C2C36"/>
                </a:solidFill>
                <a:effectLst/>
                <a:latin typeface="-apple-system"/>
              </a:rPr>
              <a:t>minRight</a:t>
            </a:r>
            <a:r>
              <a:rPr lang="en-US" altLang="zh-CN" b="0" i="0" dirty="0">
                <a:solidFill>
                  <a:srgbClr val="2C2C36"/>
                </a:solidFill>
                <a:effectLst/>
                <a:latin typeface="-apple-system"/>
              </a:rPr>
              <a:t>) / 2.0 </a:t>
            </a:r>
            <a:r>
              <a:rPr lang="zh-CN" altLang="en-US" b="0" i="0" dirty="0">
                <a:solidFill>
                  <a:srgbClr val="2C2C36"/>
                </a:solidFill>
                <a:effectLst/>
                <a:latin typeface="-apple-system"/>
              </a:rPr>
              <a:t>得到中位数。</a:t>
            </a:r>
            <a:endParaRPr lang="en-US" altLang="zh-CN" b="0" i="0" dirty="0">
              <a:solidFill>
                <a:srgbClr val="2C2C36"/>
              </a:solidFill>
              <a:effectLst/>
              <a:latin typeface="-apple-system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CF115E-2527-4307-85CF-9602B00435BE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986501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None/>
            </a:pPr>
            <a:r>
              <a:rPr lang="zh-CN" altLang="en-US" b="0" i="0" dirty="0">
                <a:solidFill>
                  <a:srgbClr val="2C2C36"/>
                </a:solidFill>
                <a:effectLst/>
                <a:latin typeface="-apple-system"/>
              </a:rPr>
              <a:t>划分边界线必须满足① 这个边界必须把两个数组划分为左右两个相等的部分，若总长度为奇数，则让左半部分多一个数。 ② 边界线左边的元素的值都比边界线右边的元素小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CF115E-2527-4307-85CF-9602B00435BE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74523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B67206-308B-4FB3-A1D0-FBD29EC9CB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007C3FC-3199-4D4A-84B7-6AE0257A35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17DF05-253A-46C8-9789-AAEB36B12F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98132-D2CD-4BA6-871D-D20197CD8420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C4996E-5A3A-4C98-B525-54567BAF2F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4E796C-4A60-4EF1-AADC-D3637DD839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A67FF1-19FA-4668-92E8-70E147C9C1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03500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1817EB-BC1A-4BAA-B89A-7B2129EBC0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5536D1-2802-440C-A3A9-C26889E20E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31CA85-53C7-40FB-A65A-BBBA3A110F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98132-D2CD-4BA6-871D-D20197CD8420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1CF7F0-6247-4599-BB37-EDEEC87A9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A5B64E-B175-4EB1-8C8F-E0922D4C7E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A67FF1-19FA-4668-92E8-70E147C9C1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58515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35304B-411F-4558-833A-E270BEA403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C565CB-4DE0-44CE-A1F8-65EBCEA0EE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74715C-2D2D-4629-8416-FB6AA2B207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98132-D2CD-4BA6-871D-D20197CD8420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4757F8-990F-40D4-842C-69F5842376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FE2DA9-8D2A-49A3-9404-460C2C0E0D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A67FF1-19FA-4668-92E8-70E147C9C1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7525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108C0-B3B6-429F-9DBC-50FE9F4B7A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2D4BF5-98B9-4465-A9A1-21DB559CBE2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FCAB9D-066B-4296-96D9-64B597F493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98AA0C-07C6-478F-8098-23DDFED90B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98132-D2CD-4BA6-871D-D20197CD8420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8F995E-BA3E-46BB-8FD9-EE83F50993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EA2CE8-3CD6-498D-8D21-47317B4F4A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A67FF1-19FA-4668-92E8-70E147C9C1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56196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B64C0F-8669-473A-89C7-2614FCADBF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128BBA-02B9-4FC3-812E-F6ADF0A6FA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413ECA-02AC-481A-AAE5-02C239857D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7F483DD-9F64-428D-BB30-454FCD5F038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582D07D-2D12-4CD8-8C04-DA8EA7E38D1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70E3D03-048D-43E4-A2F5-2DEAABA842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98132-D2CD-4BA6-871D-D20197CD8420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F7D59A2-7AA0-4A38-A6A9-EA45775484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2951E07-E65F-4E37-85B8-7103A61011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A67FF1-19FA-4668-92E8-70E147C9C1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06682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D1A1AA-D98B-4E8E-A464-0F942BCF80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3B1E9D8-F00C-4EC8-804F-B5B3404E39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98132-D2CD-4BA6-871D-D20197CD8420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625153-6B87-41FB-B94F-FE0C60C81A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4BD4866-3800-421C-ADAD-171343F665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A67FF1-19FA-4668-92E8-70E147C9C1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68616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69696F8-7312-4933-B38C-EEAD1FB45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98132-D2CD-4BA6-871D-D20197CD8420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95E8FC7-D186-4629-BC3C-9DBDF76C22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846F42-3DE7-414C-97DF-E48CED357B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A67FF1-19FA-4668-92E8-70E147C9C1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84701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10E151-4139-4877-893E-EB18B5F13A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DDC383-1FC6-4855-878F-818C7CEAC6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822B86-0154-4CDA-8D22-4A912F7308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67D046-AA3F-4B50-A591-F04F367894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98132-D2CD-4BA6-871D-D20197CD8420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BD6D77-AAD2-4A2A-99B4-0FDCFE5D01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B798F3-7762-4D2D-9100-6DBE7B96A7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A67FF1-19FA-4668-92E8-70E147C9C1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08025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48B6A6-6F4F-49B7-89A6-ADA237ED11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5806362-D90A-49D3-A19D-5607A4F04A9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BDF578-2A6E-41E6-8DA0-A2FEE907F0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C8A2-7750-4B3F-B651-1553EABCF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98132-D2CD-4BA6-871D-D20197CD8420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CD4520-3764-4AB1-83E7-B37B7620A7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B0DCCE-E77B-481E-966A-CACD93DD0E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A67FF1-19FA-4668-92E8-70E147C9C1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17514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15D384-D3FA-464A-90B7-826D9B97B6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91F259E-C191-402E-BF78-4F5BA7A3E1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FAF980-2A0D-4FEC-A228-D06C8F7D6C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98132-D2CD-4BA6-871D-D20197CD8420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62FF4B-84E8-42E6-8A00-FE0C036BFA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840B52-8E4B-4A4B-A419-51CF9E7752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A67FF1-19FA-4668-92E8-70E147C9C1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70921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E08C424-1978-4AB5-8D66-2E43DF5A42C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9CF190F-8476-477A-96AA-4EF37C28F2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1F9D3A-6AD6-45BF-AEB9-452E7B7D28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98132-D2CD-4BA6-871D-D20197CD8420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412050-A0A6-48D1-9AE3-C496B0F18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F92F2E-354A-4B14-9FB0-E56DA5E6EB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A67FF1-19FA-4668-92E8-70E147C9C1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25440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BDC324C-E0A5-434F-9539-73E1074D6F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6FA5A7-EC82-44F4-94CA-070338EA1F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12BAFF-9E09-4BBF-BBD9-1CD3D0A12D6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098132-D2CD-4BA6-871D-D20197CD8420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AC9FB8-5CBA-4B7E-96D0-A1E1F5D06CA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35C33F-0E5A-428E-B6A4-92F5E33E50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A67FF1-19FA-4668-92E8-70E147C9C1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47472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6.png"/><Relationship Id="rId18" Type="http://schemas.openxmlformats.org/officeDocument/2006/relationships/image" Target="../media/image2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12" Type="http://schemas.openxmlformats.org/officeDocument/2006/relationships/image" Target="../media/image15.png"/><Relationship Id="rId17" Type="http://schemas.openxmlformats.org/officeDocument/2006/relationships/image" Target="../media/image20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5" Type="http://schemas.openxmlformats.org/officeDocument/2006/relationships/image" Target="../media/image18.png"/><Relationship Id="rId10" Type="http://schemas.openxmlformats.org/officeDocument/2006/relationships/image" Target="../media/image13.png"/><Relationship Id="rId19" Type="http://schemas.openxmlformats.org/officeDocument/2006/relationships/image" Target="../media/image22.png"/><Relationship Id="rId4" Type="http://schemas.openxmlformats.org/officeDocument/2006/relationships/image" Target="../media/image7.png"/><Relationship Id="rId9" Type="http://schemas.openxmlformats.org/officeDocument/2006/relationships/image" Target="../media/image12.png"/><Relationship Id="rId1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3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11" Type="http://schemas.openxmlformats.org/officeDocument/2006/relationships/image" Target="../media/image30.png"/><Relationship Id="rId5" Type="http://schemas.openxmlformats.org/officeDocument/2006/relationships/image" Target="../media/image24.png"/><Relationship Id="rId10" Type="http://schemas.openxmlformats.org/officeDocument/2006/relationships/image" Target="../media/image29.png"/><Relationship Id="rId4" Type="http://schemas.openxmlformats.org/officeDocument/2006/relationships/image" Target="../media/image7.png"/><Relationship Id="rId9" Type="http://schemas.openxmlformats.org/officeDocument/2006/relationships/image" Target="../media/image28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12" Type="http://schemas.openxmlformats.org/officeDocument/2006/relationships/image" Target="../media/image3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11" Type="http://schemas.openxmlformats.org/officeDocument/2006/relationships/image" Target="../media/image22.png"/><Relationship Id="rId5" Type="http://schemas.openxmlformats.org/officeDocument/2006/relationships/image" Target="../media/image33.png"/><Relationship Id="rId10" Type="http://schemas.openxmlformats.org/officeDocument/2006/relationships/image" Target="../media/image38.png"/><Relationship Id="rId4" Type="http://schemas.openxmlformats.org/officeDocument/2006/relationships/image" Target="../media/image32.png"/><Relationship Id="rId9" Type="http://schemas.openxmlformats.org/officeDocument/2006/relationships/image" Target="../media/image37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13" Type="http://schemas.openxmlformats.org/officeDocument/2006/relationships/image" Target="../media/image50.png"/><Relationship Id="rId18" Type="http://schemas.openxmlformats.org/officeDocument/2006/relationships/image" Target="../media/image55.png"/><Relationship Id="rId3" Type="http://schemas.openxmlformats.org/officeDocument/2006/relationships/image" Target="../media/image40.png"/><Relationship Id="rId7" Type="http://schemas.openxmlformats.org/officeDocument/2006/relationships/image" Target="../media/image44.png"/><Relationship Id="rId12" Type="http://schemas.openxmlformats.org/officeDocument/2006/relationships/image" Target="../media/image49.png"/><Relationship Id="rId17" Type="http://schemas.openxmlformats.org/officeDocument/2006/relationships/image" Target="../media/image54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5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png"/><Relationship Id="rId11" Type="http://schemas.openxmlformats.org/officeDocument/2006/relationships/image" Target="../media/image48.png"/><Relationship Id="rId5" Type="http://schemas.openxmlformats.org/officeDocument/2006/relationships/image" Target="../media/image42.png"/><Relationship Id="rId15" Type="http://schemas.openxmlformats.org/officeDocument/2006/relationships/image" Target="../media/image52.png"/><Relationship Id="rId10" Type="http://schemas.openxmlformats.org/officeDocument/2006/relationships/image" Target="../media/image47.png"/><Relationship Id="rId4" Type="http://schemas.openxmlformats.org/officeDocument/2006/relationships/image" Target="../media/image41.png"/><Relationship Id="rId9" Type="http://schemas.openxmlformats.org/officeDocument/2006/relationships/image" Target="../media/image46.png"/><Relationship Id="rId14" Type="http://schemas.openxmlformats.org/officeDocument/2006/relationships/image" Target="../media/image51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png"/><Relationship Id="rId13" Type="http://schemas.openxmlformats.org/officeDocument/2006/relationships/image" Target="../media/image65.png"/><Relationship Id="rId18" Type="http://schemas.openxmlformats.org/officeDocument/2006/relationships/image" Target="../media/image69.png"/><Relationship Id="rId3" Type="http://schemas.openxmlformats.org/officeDocument/2006/relationships/image" Target="../media/image56.png"/><Relationship Id="rId7" Type="http://schemas.openxmlformats.org/officeDocument/2006/relationships/image" Target="../media/image59.png"/><Relationship Id="rId12" Type="http://schemas.openxmlformats.org/officeDocument/2006/relationships/image" Target="../media/image64.png"/><Relationship Id="rId17" Type="http://schemas.openxmlformats.org/officeDocument/2006/relationships/image" Target="../media/image22.pn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68.png"/><Relationship Id="rId20" Type="http://schemas.openxmlformats.org/officeDocument/2006/relationships/image" Target="../media/image7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8.png"/><Relationship Id="rId11" Type="http://schemas.openxmlformats.org/officeDocument/2006/relationships/image" Target="../media/image63.png"/><Relationship Id="rId5" Type="http://schemas.openxmlformats.org/officeDocument/2006/relationships/image" Target="../media/image57.png"/><Relationship Id="rId15" Type="http://schemas.openxmlformats.org/officeDocument/2006/relationships/image" Target="../media/image67.png"/><Relationship Id="rId10" Type="http://schemas.openxmlformats.org/officeDocument/2006/relationships/image" Target="../media/image62.png"/><Relationship Id="rId19" Type="http://schemas.openxmlformats.org/officeDocument/2006/relationships/image" Target="../media/image70.png"/><Relationship Id="rId4" Type="http://schemas.openxmlformats.org/officeDocument/2006/relationships/image" Target="../media/image7.png"/><Relationship Id="rId9" Type="http://schemas.openxmlformats.org/officeDocument/2006/relationships/image" Target="../media/image61.png"/><Relationship Id="rId14" Type="http://schemas.openxmlformats.org/officeDocument/2006/relationships/image" Target="../media/image66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customXml" Target="../ink/ink1.xml"/><Relationship Id="rId3" Type="http://schemas.openxmlformats.org/officeDocument/2006/relationships/image" Target="../media/image72.png"/><Relationship Id="rId7" Type="http://schemas.openxmlformats.org/officeDocument/2006/relationships/image" Target="../media/image76.png"/><Relationship Id="rId12" Type="http://schemas.openxmlformats.org/officeDocument/2006/relationships/customXml" Target="../ink/ink2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5.png"/><Relationship Id="rId11" Type="http://schemas.openxmlformats.org/officeDocument/2006/relationships/image" Target="../media/image79.png"/><Relationship Id="rId5" Type="http://schemas.openxmlformats.org/officeDocument/2006/relationships/image" Target="../media/image74.png"/><Relationship Id="rId10" Type="http://schemas.openxmlformats.org/officeDocument/2006/relationships/image" Target="../media/image78.png"/><Relationship Id="rId4" Type="http://schemas.openxmlformats.org/officeDocument/2006/relationships/image" Target="../media/image73.png"/><Relationship Id="rId9" Type="http://schemas.openxmlformats.org/officeDocument/2006/relationships/image" Target="../media/image7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1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7.png"/><Relationship Id="rId4" Type="http://schemas.openxmlformats.org/officeDocument/2006/relationships/image" Target="../media/image8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png"/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bilibili.com/video/BV1H5411c7oC/?spm_id_from=333.1387.homepage.video_card.click&amp;vd_source=128284a9ac94ff01a81d86361b5d708c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6592CC-1E75-4167-8EFB-620C12B153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45827" y="1608924"/>
            <a:ext cx="9144000" cy="2387600"/>
          </a:xfrm>
        </p:spPr>
        <p:txBody>
          <a:bodyPr/>
          <a:lstStyle/>
          <a:p>
            <a:r>
              <a:rPr lang="en-US" altLang="zh-CN" dirty="0"/>
              <a:t>Tutorial 4 + Notes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61703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0E848D-B205-4CDA-80CC-19207E83E6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Q1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E6306F5-9754-41FE-BC98-0CA56E4DEFF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98454"/>
                <a:ext cx="10515600" cy="4351338"/>
              </a:xfrm>
            </p:spPr>
            <p:txBody>
              <a:bodyPr/>
              <a:lstStyle/>
              <a:p>
                <a:pPr marL="0" lvl="0" indent="0" algn="just">
                  <a:buNone/>
                </a:pPr>
                <a:r>
                  <a:rPr lang="en-US" sz="1800" kern="100" dirty="0">
                    <a:effectLst/>
                    <a:latin typeface="Times New Roman" panose="020206030504050203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Design a divide-and-conquer algorithm for the following problem. Analyze the times complexity for your algorithm.</a:t>
                </a:r>
                <a:endParaRPr lang="en-US" sz="1800" kern="1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marL="457200" indent="266700" algn="just"/>
                <a:r>
                  <a:rPr lang="en-US" sz="1800" b="1" kern="100" dirty="0">
                    <a:effectLst/>
                    <a:latin typeface="Times New Roman" panose="020206030504050203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Input</a:t>
                </a:r>
                <a:r>
                  <a:rPr lang="en-US" sz="1800" kern="100" dirty="0">
                    <a:effectLst/>
                    <a:latin typeface="Times New Roman" panose="020206030504050203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: Two sorted integer arrays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1800" kern="100" dirty="0">
                    <a:effectLst/>
                    <a:latin typeface="Times New Roman" panose="020206030504050203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1800" kern="100" dirty="0">
                    <a:effectLst/>
                    <a:latin typeface="Times New Roman" panose="020206030504050203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 of length </a:t>
                </a:r>
                <a14:m>
                  <m:oMath xmlns:m="http://schemas.openxmlformats.org/officeDocument/2006/math">
                    <m:r>
                      <a:rPr lang="en-US" sz="1800" i="1" kern="100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𝑚</m:t>
                    </m:r>
                  </m:oMath>
                </a14:m>
                <a:r>
                  <a:rPr lang="en-US" sz="1800" kern="100" dirty="0">
                    <a:effectLst/>
                    <a:latin typeface="Times New Roman" panose="020206030504050203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1800" i="1" kern="100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𝑛</m:t>
                    </m:r>
                  </m:oMath>
                </a14:m>
                <a:r>
                  <a:rPr lang="en-US" sz="1800" kern="100" dirty="0">
                    <a:effectLst/>
                    <a:latin typeface="Times New Roman" panose="020206030504050203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 respectively.</a:t>
                </a:r>
                <a:endParaRPr lang="en-US" sz="1800" kern="1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marL="457200" indent="266700" algn="just"/>
                <a:r>
                  <a:rPr lang="en-US" sz="1800" b="1" kern="100" dirty="0">
                    <a:effectLst/>
                    <a:latin typeface="Times New Roman" panose="020206030504050203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Output</a:t>
                </a:r>
                <a:r>
                  <a:rPr lang="en-US" sz="1800" kern="100" dirty="0">
                    <a:effectLst/>
                    <a:latin typeface="Times New Roman" panose="020206030504050203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: The median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1800" kern="100" dirty="0">
                    <a:effectLst/>
                    <a:latin typeface="Times New Roman" panose="020206030504050203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 combined 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sz="1800" kern="1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marL="457200" indent="266700" algn="just"/>
                <a:r>
                  <a:rPr lang="en-US" sz="1800" kern="100" dirty="0">
                    <a:effectLst/>
                    <a:latin typeface="Times New Roman" panose="020206030504050203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Example: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US" sz="1800" i="1" kern="100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=[1,2,3]</m:t>
                    </m:r>
                  </m:oMath>
                </a14:m>
                <a:r>
                  <a:rPr lang="en-US" sz="1800" kern="100" dirty="0">
                    <a:effectLst/>
                    <a:latin typeface="Times New Roman" panose="020206030504050203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en-US" sz="1800" i="1" kern="100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=[4,5]</m:t>
                    </m:r>
                  </m:oMath>
                </a14:m>
                <a:r>
                  <a:rPr lang="en-US" sz="1800" kern="100" dirty="0">
                    <a:effectLst/>
                    <a:latin typeface="Times New Roman" panose="020206030504050203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, and the median is </a:t>
                </a:r>
                <a14:m>
                  <m:oMath xmlns:m="http://schemas.openxmlformats.org/officeDocument/2006/math">
                    <m:r>
                      <a:rPr lang="en-US" sz="1800" i="1" kern="100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3</m:t>
                    </m:r>
                  </m:oMath>
                </a14:m>
                <a:r>
                  <a:rPr lang="en-US" sz="1800" kern="100" dirty="0">
                    <a:effectLst/>
                    <a:latin typeface="Times New Roman" panose="020206030504050203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.</a:t>
                </a:r>
                <a:endParaRPr lang="en-US" sz="1800" kern="1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E6306F5-9754-41FE-BC98-0CA56E4DEFF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98454"/>
                <a:ext cx="10515600" cy="4351338"/>
              </a:xfrm>
              <a:blipFill>
                <a:blip r:embed="rId2"/>
                <a:stretch>
                  <a:fillRect l="-522" t="-1401" r="-4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048106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0E848D-B205-4CDA-80CC-19207E83E6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</a:t>
            </a:r>
            <a:r>
              <a:rPr lang="en-US" baseline="30000" dirty="0"/>
              <a:t>st</a:t>
            </a:r>
            <a:r>
              <a:rPr lang="en-US" dirty="0"/>
              <a:t> solution: Brute force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E6306F5-9754-41FE-BC98-0CA56E4DEFF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98454"/>
                <a:ext cx="10515600" cy="4351338"/>
              </a:xfrm>
            </p:spPr>
            <p:txBody>
              <a:bodyPr/>
              <a:lstStyle/>
              <a:p>
                <a:pPr algn="just"/>
                <a:r>
                  <a:rPr lang="en-US" sz="1800" kern="100" dirty="0">
                    <a:effectLst/>
                    <a:latin typeface="Times New Roman" panose="020206030504050203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Thought process</a:t>
                </a:r>
                <a:endParaRPr lang="en-US" sz="1800" kern="1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marL="800100" indent="-342900" algn="just">
                  <a:buFont typeface="+mj-lt"/>
                  <a:buAutoNum type="arabicParenR"/>
                </a:pPr>
                <a:r>
                  <a:rPr lang="en-US" sz="1800" kern="1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Combine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800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1800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1800" kern="1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800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1800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1800" kern="1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 together using </a:t>
                </a:r>
                <a:r>
                  <a:rPr lang="en-US" sz="1800" i="1" kern="1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Q</a:t>
                </a:r>
                <a14:m>
                  <m:oMath xmlns:m="http://schemas.openxmlformats.org/officeDocument/2006/math">
                    <m:r>
                      <a:rPr lang="en-US" sz="1800" b="0" i="1" kern="10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𝑢𝑖𝑐𝑘</m:t>
                    </m:r>
                    <m:r>
                      <a:rPr lang="en-US" sz="1800" i="1" kern="1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𝑆𝑜𝑟𝑡</m:t>
                    </m:r>
                  </m:oMath>
                </a14:m>
                <a:r>
                  <a:rPr lang="en-US" sz="1800" kern="1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.</a:t>
                </a:r>
                <a:endParaRPr lang="en-US" sz="1800" dirty="0"/>
              </a:p>
              <a:p>
                <a:pPr marL="800100" indent="-342900" algn="just">
                  <a:buFont typeface="+mj-lt"/>
                  <a:buAutoNum type="arabicParenR"/>
                </a:pPr>
                <a:r>
                  <a:rPr lang="en-US" sz="1800" kern="1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Find the median.</a:t>
                </a:r>
                <a:endParaRPr lang="en-US" sz="1800" dirty="0"/>
              </a:p>
              <a:p>
                <a:r>
                  <a:rPr lang="en-US" sz="1800" kern="100" dirty="0">
                    <a:latin typeface="Times New Roman" panose="020206030504050203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Time Efficiency: </a:t>
                </a:r>
                <a14:m>
                  <m:oMath xmlns:m="http://schemas.openxmlformats.org/officeDocument/2006/math">
                    <m:r>
                      <a:rPr lang="en-US" sz="1800" b="0" i="1" kern="100" smtClean="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𝑂</m:t>
                    </m:r>
                    <m:r>
                      <a:rPr lang="en-US" sz="1800" b="0" i="1" kern="100" smtClean="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(</m:t>
                    </m:r>
                    <m:d>
                      <m:dPr>
                        <m:ctrlPr>
                          <a:rPr lang="en-US" sz="1800" b="0" i="1" kern="100" smtClean="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1800" b="0" i="1" kern="100" smtClean="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𝑚</m:t>
                        </m:r>
                        <m:r>
                          <a:rPr lang="en-US" sz="1800" b="0" i="1" kern="100" smtClean="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+</m:t>
                        </m:r>
                        <m:r>
                          <a:rPr lang="en-US" sz="1800" b="0" i="1" kern="100" smtClean="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𝑛</m:t>
                        </m:r>
                      </m:e>
                    </m:d>
                    <m:r>
                      <m:rPr>
                        <m:sty m:val="p"/>
                      </m:rPr>
                      <a:rPr lang="en-US" sz="1800" b="0" i="0" kern="100" smtClean="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log</m:t>
                    </m:r>
                    <m:r>
                      <a:rPr lang="en-US" sz="1800" b="0" i="1" kern="100" smtClean="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⁡(</m:t>
                    </m:r>
                    <m:r>
                      <a:rPr lang="en-US" sz="1800" b="0" i="1" kern="100" smtClean="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𝑚</m:t>
                    </m:r>
                    <m:r>
                      <a:rPr lang="en-US" sz="1800" b="0" i="1" kern="100" smtClean="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+</m:t>
                    </m:r>
                    <m:r>
                      <a:rPr lang="en-US" sz="1800" b="0" i="1" kern="100" smtClean="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𝑛</m:t>
                    </m:r>
                    <m:r>
                      <a:rPr lang="en-US" sz="1800" b="0" i="1" kern="100" smtClean="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))</m:t>
                    </m:r>
                  </m:oMath>
                </a14:m>
                <a:endParaRPr lang="en-US" sz="1800" kern="100" dirty="0">
                  <a:latin typeface="Times New Roman" panose="02020603050405020304" pitchFamily="18" charset="0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r>
                  <a:rPr lang="en-US" sz="1800" kern="100" dirty="0">
                    <a:latin typeface="Times New Roman" panose="020206030504050203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Space Complexity: </a:t>
                </a:r>
                <a14:m>
                  <m:oMath xmlns:m="http://schemas.openxmlformats.org/officeDocument/2006/math">
                    <m:r>
                      <a:rPr lang="en-US" sz="1800" b="0" i="1" kern="100" smtClean="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𝑂</m:t>
                    </m:r>
                    <m:r>
                      <a:rPr lang="en-US" sz="1800" b="0" i="1" kern="100" smtClean="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sz="1800" b="0" i="1" kern="100" smtClean="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𝑚</m:t>
                    </m:r>
                    <m:r>
                      <a:rPr lang="en-US" sz="1800" b="0" i="1" kern="100" smtClean="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+</m:t>
                    </m:r>
                    <m:r>
                      <a:rPr lang="en-US" sz="1800" b="0" i="1" kern="100" smtClean="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𝑛</m:t>
                    </m:r>
                    <m:r>
                      <a:rPr lang="en-US" sz="1800" b="0" i="1" kern="100" smtClean="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endParaRPr lang="en-US" sz="1800" kern="100" dirty="0">
                  <a:latin typeface="Times New Roman" panose="02020603050405020304" pitchFamily="18" charset="0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E6306F5-9754-41FE-BC98-0CA56E4DEFF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98454"/>
                <a:ext cx="10515600" cy="4351338"/>
              </a:xfrm>
              <a:blipFill>
                <a:blip r:embed="rId2"/>
                <a:stretch>
                  <a:fillRect l="-406" t="-15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208111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E60E848D-B205-4CDA-80CC-19207E83E62E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2</a:t>
                </a:r>
                <a:r>
                  <a:rPr lang="en-US" baseline="30000" dirty="0"/>
                  <a:t>nd</a:t>
                </a:r>
                <a:r>
                  <a:rPr lang="en-US" dirty="0"/>
                  <a:t> solution: Merging process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𝑀𝑒𝑟𝑔𝑒𝑆𝑜𝑟𝑡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E60E848D-B205-4CDA-80CC-19207E83E62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E6306F5-9754-41FE-BC98-0CA56E4DEFF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98454"/>
                <a:ext cx="10515600" cy="4351338"/>
              </a:xfrm>
            </p:spPr>
            <p:txBody>
              <a:bodyPr/>
              <a:lstStyle/>
              <a:p>
                <a:pPr algn="just"/>
                <a:r>
                  <a:rPr lang="en-US" sz="1800" kern="100" dirty="0">
                    <a:effectLst/>
                    <a:latin typeface="Times New Roman" panose="020206030504050203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Thought process</a:t>
                </a:r>
                <a:endParaRPr lang="en-US" sz="1800" kern="1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marL="800100" indent="-342900" algn="just">
                  <a:buFont typeface="+mj-lt"/>
                  <a:buAutoNum type="arabicParenR"/>
                </a:pPr>
                <a:r>
                  <a:rPr lang="en-US" sz="1800" kern="100" dirty="0">
                    <a:effectLst/>
                    <a:latin typeface="Times New Roman" panose="020206030504050203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Combine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1800" kern="100" dirty="0">
                    <a:effectLst/>
                    <a:latin typeface="Times New Roman" panose="020206030504050203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1800" kern="100" dirty="0">
                    <a:effectLst/>
                    <a:latin typeface="Times New Roman" panose="020206030504050203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 together using merging of </a:t>
                </a:r>
                <a14:m>
                  <m:oMath xmlns:m="http://schemas.openxmlformats.org/officeDocument/2006/math">
                    <m:r>
                      <a:rPr lang="en-US" sz="1800" i="1" kern="100" dirty="0" smtClean="0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𝑀𝑒𝑟𝑔𝑒𝑆𝑜𝑟𝑡</m:t>
                    </m:r>
                  </m:oMath>
                </a14:m>
                <a:r>
                  <a:rPr lang="en-US" sz="1800" kern="100" dirty="0">
                    <a:effectLst/>
                    <a:latin typeface="Times New Roman" panose="020206030504050203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.</a:t>
                </a:r>
                <a:endParaRPr lang="en-US" sz="1800" kern="1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marL="800100" indent="-342900" algn="just">
                  <a:buFont typeface="+mj-lt"/>
                  <a:buAutoNum type="arabicParenR"/>
                </a:pPr>
                <a:r>
                  <a:rPr lang="en-US" sz="1800" kern="100" dirty="0">
                    <a:effectLst/>
                    <a:latin typeface="Times New Roman" panose="020206030504050203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Find the median.</a:t>
                </a:r>
                <a:endParaRPr lang="en-US" sz="1800" kern="1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r>
                  <a:rPr lang="en-US" sz="1800" kern="100" dirty="0">
                    <a:latin typeface="Times New Roman" panose="020206030504050203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Time Efficiency: </a:t>
                </a:r>
                <a14:m>
                  <m:oMath xmlns:m="http://schemas.openxmlformats.org/officeDocument/2006/math">
                    <m:r>
                      <a:rPr lang="en-US" sz="1800" i="1" kern="1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𝑂</m:t>
                    </m:r>
                    <m:r>
                      <a:rPr lang="en-US" sz="1800" i="1" kern="1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sz="1800" i="1" kern="1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𝑚</m:t>
                    </m:r>
                    <m:r>
                      <a:rPr lang="en-US" sz="1800" i="1" kern="1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+</m:t>
                    </m:r>
                    <m:r>
                      <a:rPr lang="en-US" sz="1800" i="1" kern="1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𝑛</m:t>
                    </m:r>
                    <m:r>
                      <a:rPr lang="en-US" sz="1800" i="1" kern="1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endParaRPr lang="en-US" sz="1800" kern="100" dirty="0">
                  <a:latin typeface="Times New Roman" panose="02020603050405020304" pitchFamily="18" charset="0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r>
                  <a:rPr lang="en-US" sz="1800" kern="100" dirty="0">
                    <a:latin typeface="Times New Roman" panose="020206030504050203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Space Complexity: </a:t>
                </a:r>
                <a14:m>
                  <m:oMath xmlns:m="http://schemas.openxmlformats.org/officeDocument/2006/math">
                    <m:r>
                      <a:rPr lang="en-US" sz="1800" b="0" i="1" kern="100" smtClean="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𝑂</m:t>
                    </m:r>
                    <m:r>
                      <a:rPr lang="en-US" sz="1800" b="0" i="1" kern="100" smtClean="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sz="1800" b="0" i="1" kern="100" smtClean="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𝑚</m:t>
                    </m:r>
                    <m:r>
                      <a:rPr lang="en-US" sz="1800" b="0" i="1" kern="100" smtClean="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+</m:t>
                    </m:r>
                    <m:r>
                      <a:rPr lang="en-US" sz="1800" b="0" i="1" kern="100" smtClean="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𝑛</m:t>
                    </m:r>
                    <m:r>
                      <a:rPr lang="en-US" sz="1800" b="0" i="1" kern="100" smtClean="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endParaRPr lang="en-US" sz="1800" kern="100" dirty="0">
                  <a:latin typeface="Times New Roman" panose="02020603050405020304" pitchFamily="18" charset="0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E6306F5-9754-41FE-BC98-0CA56E4DEFF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98454"/>
                <a:ext cx="10515600" cy="4351338"/>
              </a:xfrm>
              <a:blipFill>
                <a:blip r:embed="rId3"/>
                <a:stretch>
                  <a:fillRect l="-406" t="-15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429048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0E848D-B205-4CDA-80CC-19207E83E6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</a:t>
            </a:r>
            <a:r>
              <a:rPr lang="en-US" baseline="30000" dirty="0"/>
              <a:t>rd</a:t>
            </a:r>
            <a:r>
              <a:rPr lang="en-US" dirty="0"/>
              <a:t> solution: Array partitioning method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E6306F5-9754-41FE-BC98-0CA56E4DEFF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98454"/>
                <a:ext cx="10515600" cy="4351338"/>
              </a:xfrm>
            </p:spPr>
            <p:txBody>
              <a:bodyPr/>
              <a:lstStyle/>
              <a:p>
                <a:pPr algn="just"/>
                <a:r>
                  <a:rPr lang="en-US" sz="1800" kern="100" dirty="0">
                    <a:effectLst/>
                    <a:latin typeface="Times New Roman" panose="020206030504050203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Thought process</a:t>
                </a:r>
                <a:endParaRPr lang="en-US" sz="1800" kern="1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marL="457200" indent="0" algn="just">
                  <a:buNone/>
                </a:pPr>
                <a:r>
                  <a:rPr lang="en-US" sz="1800" kern="100" dirty="0">
                    <a:effectLst/>
                    <a:latin typeface="Times New Roman" panose="020206030504050203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If </a:t>
                </a:r>
                <a14:m>
                  <m:oMath xmlns:m="http://schemas.openxmlformats.org/officeDocument/2006/math">
                    <m:r>
                      <a:rPr lang="en-US" sz="1800" i="1" kern="100" dirty="0" smtClean="0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𝑚</m:t>
                    </m:r>
                    <m:r>
                      <a:rPr lang="en-US" sz="1800" b="0" i="1" kern="100" dirty="0" smtClean="0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≤</m:t>
                    </m:r>
                    <m:r>
                      <a:rPr lang="en-US" sz="1800" b="0" i="1" kern="100" dirty="0" smtClean="0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𝑛</m:t>
                    </m:r>
                  </m:oMath>
                </a14:m>
                <a:r>
                  <a:rPr lang="en-US" sz="1800" kern="100" dirty="0">
                    <a:effectLst/>
                    <a:latin typeface="Times New Roman" panose="020206030504050203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 (</a:t>
                </a:r>
                <a14:m>
                  <m:oMath xmlns:m="http://schemas.openxmlformats.org/officeDocument/2006/math">
                    <m:r>
                      <a:rPr lang="en-US" sz="1800" i="1" kern="100" dirty="0" smtClean="0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𝑚</m:t>
                    </m:r>
                  </m:oMath>
                </a14:m>
                <a:r>
                  <a:rPr lang="en-US" sz="1800" kern="100" dirty="0">
                    <a:effectLst/>
                    <a:latin typeface="Times New Roman" panose="020206030504050203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 represents the length of the shorter array), then the search interval is </a:t>
                </a:r>
                <a14:m>
                  <m:oMath xmlns:m="http://schemas.openxmlformats.org/officeDocument/2006/math">
                    <m:r>
                      <a:rPr lang="en-US" sz="1800" b="0" i="1" kern="100" smtClean="0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[0,</m:t>
                    </m:r>
                    <m:r>
                      <a:rPr lang="en-US" sz="1800" b="0" i="1" kern="100" smtClean="0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𝑚</m:t>
                    </m:r>
                    <m:r>
                      <a:rPr lang="en-US" sz="1800" b="0" i="1" kern="100" smtClean="0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]</m:t>
                    </m:r>
                  </m:oMath>
                </a14:m>
                <a:r>
                  <a:rPr lang="en-US" sz="1800" kern="100" dirty="0">
                    <a:effectLst/>
                    <a:latin typeface="Times New Roman" panose="020206030504050203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, and the length of the interval will be halved after each iteration. Therefore, only </a:t>
                </a:r>
                <a14:m>
                  <m:oMath xmlns:m="http://schemas.openxmlformats.org/officeDocument/2006/math">
                    <m:r>
                      <a:rPr lang="en-US" sz="1800" b="0" i="1" kern="100" smtClean="0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𝑙𝑜𝑔𝑚</m:t>
                    </m:r>
                  </m:oMath>
                </a14:m>
                <a:r>
                  <a:rPr lang="en-US" sz="1800" kern="100" dirty="0">
                    <a:effectLst/>
                    <a:latin typeface="Times New Roman" panose="020206030504050203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 iterations are needed, so the time complexity is </a:t>
                </a:r>
                <a14:m>
                  <m:oMath xmlns:m="http://schemas.openxmlformats.org/officeDocument/2006/math">
                    <m:r>
                      <a:rPr lang="en-US" sz="1800" i="1" kern="1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𝑂</m:t>
                    </m:r>
                    <m:r>
                      <a:rPr lang="en-US" sz="1800" i="1" kern="1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sz="1800" b="0" i="0" kern="10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log</m:t>
                    </m:r>
                    <m:r>
                      <a:rPr lang="en-US" sz="1800" b="0" i="1" kern="10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𝑚</m:t>
                    </m:r>
                    <m:r>
                      <a:rPr lang="en-US" sz="1800" i="1" kern="1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sz="1800" kern="1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.</a:t>
                </a:r>
              </a:p>
              <a:p>
                <a:r>
                  <a:rPr lang="en-US" sz="1800" kern="100" dirty="0">
                    <a:latin typeface="Times New Roman" panose="020206030504050203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Time Complexity: </a:t>
                </a:r>
                <a14:m>
                  <m:oMath xmlns:m="http://schemas.openxmlformats.org/officeDocument/2006/math">
                    <m:r>
                      <a:rPr lang="en-US" sz="1800" i="1" kern="1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𝑂</m:t>
                    </m:r>
                    <m:r>
                      <a:rPr lang="en-US" sz="1800" i="1" kern="1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sz="1800" b="0" i="0" kern="10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log</m:t>
                    </m:r>
                    <m:r>
                      <a:rPr lang="en-US" sz="1800" b="0" i="1" kern="10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⁡(</m:t>
                    </m:r>
                    <m:r>
                      <m:rPr>
                        <m:sty m:val="p"/>
                      </m:rPr>
                      <a:rPr lang="en-US" sz="1800" b="0" i="0" kern="10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min</m:t>
                    </m:r>
                    <m:r>
                      <a:rPr lang="en-US" sz="1800" b="0" i="1" kern="10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⁡(</m:t>
                    </m:r>
                    <m:r>
                      <a:rPr lang="en-US" sz="1800" b="0" i="1" kern="10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𝑚</m:t>
                    </m:r>
                    <m:r>
                      <a:rPr lang="en-US" sz="1800" b="0" i="1" kern="10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sz="1800" b="0" i="1" kern="10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𝑛</m:t>
                    </m:r>
                    <m:r>
                      <a:rPr lang="en-US" sz="1800" b="0" i="1" kern="10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)))</m:t>
                    </m:r>
                  </m:oMath>
                </a14:m>
                <a:endParaRPr lang="en-US" sz="1800" kern="100" dirty="0">
                  <a:latin typeface="Times New Roman" panose="02020603050405020304" pitchFamily="18" charset="0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r>
                  <a:rPr lang="en-US" sz="1800" kern="100" dirty="0">
                    <a:latin typeface="Times New Roman" panose="020206030504050203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Space Complexity: </a:t>
                </a:r>
                <a14:m>
                  <m:oMath xmlns:m="http://schemas.openxmlformats.org/officeDocument/2006/math">
                    <m:r>
                      <a:rPr lang="en-US" sz="1800" b="0" i="1" kern="100" smtClean="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𝑂</m:t>
                    </m:r>
                    <m:r>
                      <a:rPr lang="en-US" sz="1800" b="0" i="1" kern="100" smtClean="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(1)</m:t>
                    </m:r>
                  </m:oMath>
                </a14:m>
                <a:endParaRPr lang="en-US" sz="1800" kern="100" dirty="0">
                  <a:latin typeface="Times New Roman" panose="02020603050405020304" pitchFamily="18" charset="0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E6306F5-9754-41FE-BC98-0CA56E4DEFF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98454"/>
                <a:ext cx="10515600" cy="4351338"/>
              </a:xfrm>
              <a:blipFill>
                <a:blip r:embed="rId2"/>
                <a:stretch>
                  <a:fillRect l="-406" t="-1541" r="-4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073395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0E848D-B205-4CDA-80CC-19207E83E6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</a:t>
            </a:r>
            <a:r>
              <a:rPr lang="en-US" baseline="30000" dirty="0"/>
              <a:t>rd</a:t>
            </a:r>
            <a:r>
              <a:rPr lang="en-US" dirty="0"/>
              <a:t> solution: Array partitioning method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6306F5-9754-41FE-BC98-0CA56E4DEF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98454"/>
            <a:ext cx="10515600" cy="4351338"/>
          </a:xfrm>
        </p:spPr>
        <p:txBody>
          <a:bodyPr/>
          <a:lstStyle/>
          <a:p>
            <a:pPr algn="just"/>
            <a:r>
              <a:rPr lang="en-US" sz="1800" kern="100" dirty="0"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Median</a:t>
            </a:r>
            <a:endParaRPr lang="en-US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800" kern="1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   In statistics, the median represents a value in a sample that divides the set of numbers into two equal parts.</a:t>
            </a:r>
          </a:p>
          <a:p>
            <a:pPr marL="457200" indent="0" algn="just">
              <a:buNone/>
            </a:pPr>
            <a:endParaRPr lang="en-US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sz="1800" kern="1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Detailed method:</a:t>
            </a:r>
          </a:p>
          <a:p>
            <a:pPr marL="804672" indent="-347472" algn="just">
              <a:buSzPts val="1800"/>
              <a:buFont typeface="+mj-lt"/>
              <a:buAutoNum type="arabicParenR"/>
            </a:pPr>
            <a:r>
              <a:rPr lang="en-US" sz="1800" kern="100" dirty="0">
                <a:solidFill>
                  <a:srgbClr val="000000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Use a boundary to divided the two arrays into two equal parts. If the total length is odd, make the left part have one more element.</a:t>
            </a:r>
          </a:p>
          <a:p>
            <a:pPr marL="804672" indent="-347472" algn="just">
              <a:buSzPts val="1800"/>
              <a:buFont typeface="+mj-lt"/>
              <a:buAutoNum type="arabicParenR"/>
            </a:pPr>
            <a:r>
              <a:rPr lang="en-US" sz="1800" kern="100" dirty="0">
                <a:solidFill>
                  <a:srgbClr val="000000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Find the median using the boundary values.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0458270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0E848D-B205-4CDA-80CC-19207E83E6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224"/>
            <a:ext cx="10515600" cy="1325563"/>
          </a:xfrm>
        </p:spPr>
        <p:txBody>
          <a:bodyPr/>
          <a:lstStyle/>
          <a:p>
            <a:r>
              <a:rPr lang="en-US" dirty="0"/>
              <a:t>3</a:t>
            </a:r>
            <a:r>
              <a:rPr lang="en-US" baseline="30000" dirty="0"/>
              <a:t>rd</a:t>
            </a:r>
            <a:r>
              <a:rPr lang="en-US" dirty="0"/>
              <a:t> solution: Array partitioning method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E6306F5-9754-41FE-BC98-0CA56E4DEFF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98454"/>
                <a:ext cx="10515600" cy="384667"/>
              </a:xfrm>
            </p:spPr>
            <p:txBody>
              <a:bodyPr/>
              <a:lstStyle/>
              <a:p>
                <a:pPr algn="just"/>
                <a:r>
                  <a:rPr lang="en-US" sz="1800" kern="1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Determin</a:t>
                </a:r>
                <a:r>
                  <a:rPr lang="en-US" sz="1800" kern="1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e the boundary, the upper bound </a:t>
                </a:r>
                <a14:m>
                  <m:oMath xmlns:m="http://schemas.openxmlformats.org/officeDocument/2006/math">
                    <m:r>
                      <a:rPr lang="en-US" sz="1800" i="1" kern="100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𝑖</m:t>
                    </m:r>
                  </m:oMath>
                </a14:m>
                <a:r>
                  <a:rPr lang="en-US" sz="1800" kern="1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 and lower bound </a:t>
                </a:r>
                <a14:m>
                  <m:oMath xmlns:m="http://schemas.openxmlformats.org/officeDocument/2006/math">
                    <m:r>
                      <a:rPr lang="en-US" sz="1800" i="1" kern="100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𝑗</m:t>
                    </m:r>
                  </m:oMath>
                </a14:m>
                <a:r>
                  <a:rPr lang="en-US" sz="1800" kern="1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. (The total length </a:t>
                </a:r>
                <a14:m>
                  <m:oMath xmlns:m="http://schemas.openxmlformats.org/officeDocument/2006/math">
                    <m:r>
                      <a:rPr lang="en-US" sz="1800" b="0" i="1" kern="100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𝑙𝑒𝑛</m:t>
                    </m:r>
                    <m:r>
                      <a:rPr lang="en-US" sz="1800" b="0" i="1" kern="100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1800" b="0" i="1" kern="100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𝑚</m:t>
                    </m:r>
                    <m:r>
                      <a:rPr lang="en-US" sz="1800" b="0" i="1" kern="100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+</m:t>
                    </m:r>
                    <m:r>
                      <a:rPr lang="en-US" sz="1800" b="0" i="1" kern="100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𝑛</m:t>
                    </m:r>
                  </m:oMath>
                </a14:m>
                <a:r>
                  <a:rPr lang="en-US" sz="1800" kern="1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E6306F5-9754-41FE-BC98-0CA56E4DEFF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98454"/>
                <a:ext cx="10515600" cy="384667"/>
              </a:xfrm>
              <a:blipFill>
                <a:blip r:embed="rId3"/>
                <a:stretch>
                  <a:fillRect l="-406" t="-15873" b="-1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98318DFF-6B6B-4BDC-9000-B8E6709765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94" y="2200275"/>
            <a:ext cx="4295775" cy="122872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A4A72CD-48FC-46A0-83AB-0CD37CCC18E1}"/>
                  </a:ext>
                </a:extLst>
              </p:cNvPr>
              <p:cNvSpPr txBox="1"/>
              <p:nvPr/>
            </p:nvSpPr>
            <p:spPr>
              <a:xfrm>
                <a:off x="1104523" y="2391918"/>
                <a:ext cx="214567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𝑙𝑒𝑛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%2==0:</m:t>
                    </m:r>
                  </m:oMath>
                </a14:m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A4A72CD-48FC-46A0-83AB-0CD37CCC18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4523" y="2391918"/>
                <a:ext cx="2145671" cy="369332"/>
              </a:xfrm>
              <a:prstGeom prst="rect">
                <a:avLst/>
              </a:prstGeom>
              <a:blipFill>
                <a:blip r:embed="rId5"/>
                <a:stretch>
                  <a:fillRect l="-2273" t="-819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B8A5FE9-1C59-4DF0-A305-DE52BFCE88D4}"/>
                  </a:ext>
                </a:extLst>
              </p:cNvPr>
              <p:cNvSpPr txBox="1"/>
              <p:nvPr/>
            </p:nvSpPr>
            <p:spPr>
              <a:xfrm>
                <a:off x="6385711" y="1774696"/>
                <a:ext cx="341014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𝒊</m:t>
                      </m:r>
                    </m:oMath>
                  </m:oMathPara>
                </a14:m>
                <a:endParaRPr lang="en-US" sz="32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B8A5FE9-1C59-4DF0-A305-DE52BFCE8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85711" y="1774696"/>
                <a:ext cx="341014" cy="58477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C1DAD4D-7DA5-4F4B-A5F1-FD3F3EEF2E2D}"/>
                  </a:ext>
                </a:extLst>
              </p:cNvPr>
              <p:cNvSpPr txBox="1"/>
              <p:nvPr/>
            </p:nvSpPr>
            <p:spPr>
              <a:xfrm>
                <a:off x="3223033" y="2324971"/>
                <a:ext cx="450269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  <m:sub>
                        <m:r>
                          <a:rPr lang="en-US" sz="2000" b="1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sz="2000" b="1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US" sz="2000" b="1" dirty="0">
                    <a:solidFill>
                      <a:schemeClr val="accent1">
                        <a:lumMod val="75000"/>
                      </a:schemeClr>
                    </a:solidFill>
                  </a:rPr>
                  <a:t>          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C1DAD4D-7DA5-4F4B-A5F1-FD3F3EEF2E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23033" y="2324971"/>
                <a:ext cx="450269" cy="400110"/>
              </a:xfrm>
              <a:prstGeom prst="rect">
                <a:avLst/>
              </a:prstGeom>
              <a:blipFill>
                <a:blip r:embed="rId7"/>
                <a:stretch>
                  <a:fillRect r="-14865" b="-15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59D4F56-2E92-4ED5-9DF2-46CC4CA993BA}"/>
                  </a:ext>
                </a:extLst>
              </p:cNvPr>
              <p:cNvSpPr txBox="1"/>
              <p:nvPr/>
            </p:nvSpPr>
            <p:spPr>
              <a:xfrm>
                <a:off x="3223033" y="2896251"/>
                <a:ext cx="450269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  <m:sub>
                        <m:r>
                          <a:rPr lang="en-US" sz="2000" b="1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sz="2000" b="1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US" sz="2000" b="1" dirty="0">
                    <a:solidFill>
                      <a:schemeClr val="accent1">
                        <a:lumMod val="75000"/>
                      </a:schemeClr>
                    </a:solidFill>
                  </a:rPr>
                  <a:t>          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59D4F56-2E92-4ED5-9DF2-46CC4CA993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23033" y="2896251"/>
                <a:ext cx="450269" cy="400110"/>
              </a:xfrm>
              <a:prstGeom prst="rect">
                <a:avLst/>
              </a:prstGeom>
              <a:blipFill>
                <a:blip r:embed="rId8"/>
                <a:stretch>
                  <a:fillRect r="-14865" b="-15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46DF4C8-5A2C-45D1-8C76-2C23F8B4D7DB}"/>
                  </a:ext>
                </a:extLst>
              </p:cNvPr>
              <p:cNvSpPr txBox="1"/>
              <p:nvPr/>
            </p:nvSpPr>
            <p:spPr>
              <a:xfrm>
                <a:off x="5207252" y="3212688"/>
                <a:ext cx="341014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𝒋</m:t>
                      </m:r>
                    </m:oMath>
                  </m:oMathPara>
                </a14:m>
                <a:endParaRPr lang="en-US" sz="32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46DF4C8-5A2C-45D1-8C76-2C23F8B4D7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07252" y="3212688"/>
                <a:ext cx="341014" cy="58477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B942EB5-2697-41F5-B3D9-29447FB354E7}"/>
                  </a:ext>
                </a:extLst>
              </p:cNvPr>
              <p:cNvSpPr txBox="1"/>
              <p:nvPr/>
            </p:nvSpPr>
            <p:spPr>
              <a:xfrm>
                <a:off x="8105869" y="2221728"/>
                <a:ext cx="338297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upper bound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here is 4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𝐴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B942EB5-2697-41F5-B3D9-29447FB354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05869" y="2221728"/>
                <a:ext cx="3382979" cy="369332"/>
              </a:xfrm>
              <a:prstGeom prst="rect">
                <a:avLst/>
              </a:prstGeom>
              <a:blipFill>
                <a:blip r:embed="rId10"/>
                <a:stretch>
                  <a:fillRect l="-1622" t="-819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6042E54-EB90-4158-8740-44A10338C86D}"/>
                  </a:ext>
                </a:extLst>
              </p:cNvPr>
              <p:cNvSpPr txBox="1"/>
              <p:nvPr/>
            </p:nvSpPr>
            <p:spPr>
              <a:xfrm>
                <a:off x="8120957" y="2856554"/>
                <a:ext cx="338297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lower bound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here is 2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𝐴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6042E54-EB90-4158-8740-44A10338C8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20957" y="2856554"/>
                <a:ext cx="3382979" cy="369332"/>
              </a:xfrm>
              <a:prstGeom prst="rect">
                <a:avLst/>
              </a:prstGeom>
              <a:blipFill>
                <a:blip r:embed="rId11"/>
                <a:stretch>
                  <a:fillRect l="-1441" t="-10000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D6F8561C-61FE-4EA9-A12F-A5C8B864DCD7}"/>
                  </a:ext>
                </a:extLst>
              </p:cNvPr>
              <p:cNvSpPr txBox="1"/>
              <p:nvPr/>
            </p:nvSpPr>
            <p:spPr>
              <a:xfrm>
                <a:off x="1089435" y="4458584"/>
                <a:ext cx="214567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𝑙𝑒𝑛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%2≠0:</m:t>
                    </m:r>
                  </m:oMath>
                </a14:m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D6F8561C-61FE-4EA9-A12F-A5C8B864DC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9435" y="4458584"/>
                <a:ext cx="2145671" cy="369332"/>
              </a:xfrm>
              <a:prstGeom prst="rect">
                <a:avLst/>
              </a:prstGeom>
              <a:blipFill>
                <a:blip r:embed="rId12"/>
                <a:stretch>
                  <a:fillRect l="-2557" t="-819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D7746AD7-FEEB-47C6-A755-452AA6FA1A5D}"/>
                  </a:ext>
                </a:extLst>
              </p:cNvPr>
              <p:cNvSpPr txBox="1"/>
              <p:nvPr/>
            </p:nvSpPr>
            <p:spPr>
              <a:xfrm>
                <a:off x="6968151" y="3814202"/>
                <a:ext cx="341014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𝒊</m:t>
                      </m:r>
                    </m:oMath>
                  </m:oMathPara>
                </a14:m>
                <a:endParaRPr lang="en-US" sz="32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D7746AD7-FEEB-47C6-A755-452AA6FA1A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68151" y="3814202"/>
                <a:ext cx="341014" cy="584775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07C18078-947B-48E2-A780-8E665E68A09A}"/>
                  </a:ext>
                </a:extLst>
              </p:cNvPr>
              <p:cNvSpPr txBox="1"/>
              <p:nvPr/>
            </p:nvSpPr>
            <p:spPr>
              <a:xfrm>
                <a:off x="3207945" y="4391637"/>
                <a:ext cx="450269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  <m:sub>
                        <m:r>
                          <a:rPr lang="en-US" sz="2000" b="1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sz="2000" b="1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US" sz="2000" b="1" dirty="0">
                    <a:solidFill>
                      <a:schemeClr val="accent1">
                        <a:lumMod val="75000"/>
                      </a:schemeClr>
                    </a:solidFill>
                  </a:rPr>
                  <a:t>          </a:t>
                </a: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07C18078-947B-48E2-A780-8E665E68A0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7945" y="4391637"/>
                <a:ext cx="450269" cy="400110"/>
              </a:xfrm>
              <a:prstGeom prst="rect">
                <a:avLst/>
              </a:prstGeom>
              <a:blipFill>
                <a:blip r:embed="rId14"/>
                <a:stretch>
                  <a:fillRect r="-14865" b="-15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C18E4DD2-3097-4232-9052-2B69A0D87525}"/>
                  </a:ext>
                </a:extLst>
              </p:cNvPr>
              <p:cNvSpPr txBox="1"/>
              <p:nvPr/>
            </p:nvSpPr>
            <p:spPr>
              <a:xfrm>
                <a:off x="3207945" y="4962917"/>
                <a:ext cx="450269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  <m:sub>
                        <m:r>
                          <a:rPr lang="en-US" sz="2000" b="1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sz="2000" b="1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US" sz="2000" b="1" dirty="0">
                    <a:solidFill>
                      <a:schemeClr val="accent1">
                        <a:lumMod val="75000"/>
                      </a:schemeClr>
                    </a:solidFill>
                  </a:rPr>
                  <a:t>          </a:t>
                </a: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C18E4DD2-3097-4232-9052-2B69A0D875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7945" y="4962917"/>
                <a:ext cx="450269" cy="400110"/>
              </a:xfrm>
              <a:prstGeom prst="rect">
                <a:avLst/>
              </a:prstGeom>
              <a:blipFill>
                <a:blip r:embed="rId15"/>
                <a:stretch>
                  <a:fillRect r="-14865" b="-15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61D3FD96-8A25-4164-A901-87208B00F6DF}"/>
                  </a:ext>
                </a:extLst>
              </p:cNvPr>
              <p:cNvSpPr txBox="1"/>
              <p:nvPr/>
            </p:nvSpPr>
            <p:spPr>
              <a:xfrm>
                <a:off x="5192164" y="5279354"/>
                <a:ext cx="341014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𝒋</m:t>
                      </m:r>
                    </m:oMath>
                  </m:oMathPara>
                </a14:m>
                <a:endParaRPr lang="en-US" sz="32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61D3FD96-8A25-4164-A901-87208B00F6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92164" y="5279354"/>
                <a:ext cx="341014" cy="584775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0F500FB1-B241-4771-95AD-46B7E9ED2891}"/>
                  </a:ext>
                </a:extLst>
              </p:cNvPr>
              <p:cNvSpPr txBox="1"/>
              <p:nvPr/>
            </p:nvSpPr>
            <p:spPr>
              <a:xfrm>
                <a:off x="8090781" y="4288394"/>
                <a:ext cx="338297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upper bound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here is 5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𝐴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0F500FB1-B241-4771-95AD-46B7E9ED28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90781" y="4288394"/>
                <a:ext cx="3382979" cy="369332"/>
              </a:xfrm>
              <a:prstGeom prst="rect">
                <a:avLst/>
              </a:prstGeom>
              <a:blipFill>
                <a:blip r:embed="rId17"/>
                <a:stretch>
                  <a:fillRect l="-1441" t="-819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CEB6CF9A-1E17-4E91-A966-3476364F6356}"/>
                  </a:ext>
                </a:extLst>
              </p:cNvPr>
              <p:cNvSpPr txBox="1"/>
              <p:nvPr/>
            </p:nvSpPr>
            <p:spPr>
              <a:xfrm>
                <a:off x="8105869" y="4923220"/>
                <a:ext cx="338297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lower bound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here is 2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𝐴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</a:t>
                </a: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CEB6CF9A-1E17-4E91-A966-3476364F63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05869" y="4923220"/>
                <a:ext cx="3382979" cy="369332"/>
              </a:xfrm>
              <a:prstGeom prst="rect">
                <a:avLst/>
              </a:prstGeom>
              <a:blipFill>
                <a:blip r:embed="rId18"/>
                <a:stretch>
                  <a:fillRect l="-1622" t="-10000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2" name="Picture 21">
            <a:extLst>
              <a:ext uri="{FF2B5EF4-FFF2-40B4-BE49-F238E27FC236}">
                <a16:creationId xmlns:a16="http://schemas.microsoft.com/office/drawing/2014/main" id="{D125CC99-AB6A-4330-83C8-63877FE7F4E3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3847064" y="4305099"/>
            <a:ext cx="4219575" cy="1066800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17AD76F8-0AFD-4C25-8F3D-9D5FCA0BE7ED}"/>
              </a:ext>
            </a:extLst>
          </p:cNvPr>
          <p:cNvSpPr txBox="1"/>
          <p:nvPr/>
        </p:nvSpPr>
        <p:spPr>
          <a:xfrm>
            <a:off x="1013988" y="5617432"/>
            <a:ext cx="1090037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boundary should guarantee that:</a:t>
            </a:r>
          </a:p>
          <a:p>
            <a:pPr marL="342900" indent="-342900">
              <a:buAutoNum type="arabicParenBoth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boundary should divide the two arrays into two equal parts. If the total length is odd, let the left part </a:t>
            </a:r>
            <a:r>
              <a:rPr lang="en-US" sz="1800" kern="100" dirty="0">
                <a:solidFill>
                  <a:srgbClr val="000000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have one more element.</a:t>
            </a:r>
          </a:p>
          <a:p>
            <a:pPr marL="342900" indent="-342900">
              <a:buAutoNum type="arabicParenBoth"/>
            </a:pPr>
            <a:r>
              <a:rPr lang="en-US" kern="100" dirty="0">
                <a:solidFill>
                  <a:srgbClr val="000000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All </a:t>
            </a:r>
            <a:r>
              <a:rPr lang="en-US" altLang="zh-CN" kern="100" dirty="0">
                <a:solidFill>
                  <a:srgbClr val="000000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the values of</a:t>
            </a:r>
            <a:r>
              <a:rPr lang="en-US" kern="100" dirty="0">
                <a:solidFill>
                  <a:srgbClr val="000000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the elements in the left part of boundary should be smaller than those in the right part.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26869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0E848D-B205-4CDA-80CC-19207E83E6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224"/>
            <a:ext cx="10515600" cy="1325563"/>
          </a:xfrm>
        </p:spPr>
        <p:txBody>
          <a:bodyPr/>
          <a:lstStyle/>
          <a:p>
            <a:r>
              <a:rPr lang="en-US" dirty="0"/>
              <a:t>3</a:t>
            </a:r>
            <a:r>
              <a:rPr lang="en-US" baseline="30000" dirty="0"/>
              <a:t>rd</a:t>
            </a:r>
            <a:r>
              <a:rPr lang="en-US" dirty="0"/>
              <a:t> solution: Array partitioning method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E6306F5-9754-41FE-BC98-0CA56E4DEFF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98454"/>
                <a:ext cx="10515600" cy="384667"/>
              </a:xfrm>
            </p:spPr>
            <p:txBody>
              <a:bodyPr>
                <a:normAutofit/>
              </a:bodyPr>
              <a:lstStyle/>
              <a:p>
                <a:pPr marL="0" indent="0" algn="just">
                  <a:buNone/>
                </a:pPr>
                <a:r>
                  <a:rPr lang="en-US" altLang="zh-CN" sz="1800" kern="1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Case 1: if the length of the combined array </a:t>
                </a:r>
                <a14:m>
                  <m:oMath xmlns:m="http://schemas.openxmlformats.org/officeDocument/2006/math">
                    <m:r>
                      <a:rPr lang="en-US" altLang="zh-CN" sz="1800" i="1" kern="100" dirty="0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𝑙𝑒𝑛</m:t>
                    </m:r>
                  </m:oMath>
                </a14:m>
                <a:r>
                  <a:rPr lang="en-US" sz="1800" kern="1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 is even, then the median should be determined like following: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E6306F5-9754-41FE-BC98-0CA56E4DEFF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98454"/>
                <a:ext cx="10515600" cy="384667"/>
              </a:xfrm>
              <a:blipFill>
                <a:blip r:embed="rId3"/>
                <a:stretch>
                  <a:fillRect l="-522" t="-15873" b="-1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98318DFF-6B6B-4BDC-9000-B8E6709765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64422" y="2110717"/>
            <a:ext cx="4295775" cy="122872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A4A72CD-48FC-46A0-83AB-0CD37CCC18E1}"/>
                  </a:ext>
                </a:extLst>
              </p:cNvPr>
              <p:cNvSpPr txBox="1"/>
              <p:nvPr/>
            </p:nvSpPr>
            <p:spPr>
              <a:xfrm>
                <a:off x="806607" y="3912403"/>
                <a:ext cx="11284390" cy="7804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𝑙𝑒𝑛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%2==0</m:t>
                    </m:r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then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𝑚𝑒𝑑𝑖𝑎𝑛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𝑙𝑒𝑓𝑡𝑀𝑎𝑥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𝑟𝑖𝑔h𝑡𝑀𝑖𝑛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func>
                          <m:funcPr>
                            <m:ctrlPr>
                              <a:rPr lang="en-US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max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[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],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[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d>
                          </m:e>
                        </m:func>
                        <m:r>
                          <a:rPr lang="en-US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+</m:t>
                        </m:r>
                        <m:func>
                          <m:funcPr>
                            <m:ctrlPr>
                              <a:rPr lang="en-US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min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[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],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[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𝑗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]</m:t>
                                </m:r>
                              </m:e>
                            </m:d>
                          </m:e>
                        </m:func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中位数即为左边最大值和右边最小值的平均值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A4A72CD-48FC-46A0-83AB-0CD37CCC18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6607" y="3912403"/>
                <a:ext cx="11284390" cy="780470"/>
              </a:xfrm>
              <a:prstGeom prst="rect">
                <a:avLst/>
              </a:prstGeom>
              <a:blipFill>
                <a:blip r:embed="rId5"/>
                <a:stretch>
                  <a:fillRect l="-432" b="-117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B8A5FE9-1C59-4DF0-A305-DE52BFCE88D4}"/>
                  </a:ext>
                </a:extLst>
              </p:cNvPr>
              <p:cNvSpPr txBox="1"/>
              <p:nvPr/>
            </p:nvSpPr>
            <p:spPr>
              <a:xfrm>
                <a:off x="4240038" y="1685138"/>
                <a:ext cx="1210147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𝒊</m:t>
                      </m:r>
                      <m:r>
                        <a:rPr lang="en-US" sz="32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32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𝟒</m:t>
                      </m:r>
                    </m:oMath>
                  </m:oMathPara>
                </a14:m>
                <a:endParaRPr lang="en-US" sz="32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B8A5FE9-1C59-4DF0-A305-DE52BFCE8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40038" y="1685138"/>
                <a:ext cx="1210147" cy="58477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C1DAD4D-7DA5-4F4B-A5F1-FD3F3EEF2E2D}"/>
                  </a:ext>
                </a:extLst>
              </p:cNvPr>
              <p:cNvSpPr txBox="1"/>
              <p:nvPr/>
            </p:nvSpPr>
            <p:spPr>
              <a:xfrm>
                <a:off x="1077361" y="2235413"/>
                <a:ext cx="450269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  <m:sub>
                        <m:r>
                          <a:rPr lang="en-US" sz="2000" b="1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sz="2000" b="1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US" sz="2000" b="1" dirty="0">
                    <a:solidFill>
                      <a:schemeClr val="accent1">
                        <a:lumMod val="75000"/>
                      </a:schemeClr>
                    </a:solidFill>
                  </a:rPr>
                  <a:t>          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C1DAD4D-7DA5-4F4B-A5F1-FD3F3EEF2E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7361" y="2235413"/>
                <a:ext cx="450269" cy="400110"/>
              </a:xfrm>
              <a:prstGeom prst="rect">
                <a:avLst/>
              </a:prstGeom>
              <a:blipFill>
                <a:blip r:embed="rId7"/>
                <a:stretch>
                  <a:fillRect r="-14865" b="-15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59D4F56-2E92-4ED5-9DF2-46CC4CA993BA}"/>
                  </a:ext>
                </a:extLst>
              </p:cNvPr>
              <p:cNvSpPr txBox="1"/>
              <p:nvPr/>
            </p:nvSpPr>
            <p:spPr>
              <a:xfrm>
                <a:off x="1077361" y="2806693"/>
                <a:ext cx="450269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  <m:sub>
                        <m:r>
                          <a:rPr lang="en-US" sz="2000" b="1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sz="2000" b="1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US" sz="2000" b="1" dirty="0">
                    <a:solidFill>
                      <a:schemeClr val="accent1">
                        <a:lumMod val="75000"/>
                      </a:schemeClr>
                    </a:solidFill>
                  </a:rPr>
                  <a:t>          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59D4F56-2E92-4ED5-9DF2-46CC4CA993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7361" y="2806693"/>
                <a:ext cx="450269" cy="400110"/>
              </a:xfrm>
              <a:prstGeom prst="rect">
                <a:avLst/>
              </a:prstGeom>
              <a:blipFill>
                <a:blip r:embed="rId8"/>
                <a:stretch>
                  <a:fillRect r="-14865" b="-15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46DF4C8-5A2C-45D1-8C76-2C23F8B4D7DB}"/>
                  </a:ext>
                </a:extLst>
              </p:cNvPr>
              <p:cNvSpPr txBox="1"/>
              <p:nvPr/>
            </p:nvSpPr>
            <p:spPr>
              <a:xfrm>
                <a:off x="2833736" y="3138528"/>
                <a:ext cx="1655275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𝒋</m:t>
                      </m:r>
                      <m:r>
                        <a:rPr lang="en-US" sz="32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32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en-US" sz="32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46DF4C8-5A2C-45D1-8C76-2C23F8B4D7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33736" y="3138528"/>
                <a:ext cx="1655275" cy="58477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B942EB5-2697-41F5-B3D9-29447FB354E7}"/>
                  </a:ext>
                </a:extLst>
              </p:cNvPr>
              <p:cNvSpPr txBox="1"/>
              <p:nvPr/>
            </p:nvSpPr>
            <p:spPr>
              <a:xfrm>
                <a:off x="5960197" y="2132170"/>
                <a:ext cx="338297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upper bound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here is 4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𝐴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B942EB5-2697-41F5-B3D9-29447FB354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60197" y="2132170"/>
                <a:ext cx="3382979" cy="369332"/>
              </a:xfrm>
              <a:prstGeom prst="rect">
                <a:avLst/>
              </a:prstGeom>
              <a:blipFill>
                <a:blip r:embed="rId10"/>
                <a:stretch>
                  <a:fillRect l="-1622" t="-10000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6042E54-EB90-4158-8740-44A10338C86D}"/>
                  </a:ext>
                </a:extLst>
              </p:cNvPr>
              <p:cNvSpPr txBox="1"/>
              <p:nvPr/>
            </p:nvSpPr>
            <p:spPr>
              <a:xfrm>
                <a:off x="5975285" y="2766996"/>
                <a:ext cx="338297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lower bound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here is 2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𝐴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6042E54-EB90-4158-8740-44A10338C8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75285" y="2766996"/>
                <a:ext cx="3382979" cy="369332"/>
              </a:xfrm>
              <a:prstGeom prst="rect">
                <a:avLst/>
              </a:prstGeom>
              <a:blipFill>
                <a:blip r:embed="rId11"/>
                <a:stretch>
                  <a:fillRect l="-1441" t="-10000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A6CF3C88-D29F-424B-9185-9A167337E24D}"/>
              </a:ext>
            </a:extLst>
          </p:cNvPr>
          <p:cNvSpPr/>
          <p:nvPr/>
        </p:nvSpPr>
        <p:spPr>
          <a:xfrm>
            <a:off x="4200808" y="2247149"/>
            <a:ext cx="482853" cy="400110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35207CA-FD7D-4126-B9CE-7CDB7CCBDE5A}"/>
              </a:ext>
            </a:extLst>
          </p:cNvPr>
          <p:cNvSpPr/>
          <p:nvPr/>
        </p:nvSpPr>
        <p:spPr>
          <a:xfrm>
            <a:off x="2397659" y="2788848"/>
            <a:ext cx="482853" cy="400110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8169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0E848D-B205-4CDA-80CC-19207E83E6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224"/>
            <a:ext cx="10515600" cy="1325563"/>
          </a:xfrm>
        </p:spPr>
        <p:txBody>
          <a:bodyPr/>
          <a:lstStyle/>
          <a:p>
            <a:r>
              <a:rPr lang="en-US" dirty="0"/>
              <a:t>3</a:t>
            </a:r>
            <a:r>
              <a:rPr lang="en-US" baseline="30000" dirty="0"/>
              <a:t>rd</a:t>
            </a:r>
            <a:r>
              <a:rPr lang="en-US" dirty="0"/>
              <a:t> solution: Array partitioning method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E6306F5-9754-41FE-BC98-0CA56E4DEFF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98454"/>
                <a:ext cx="10515600" cy="384667"/>
              </a:xfrm>
            </p:spPr>
            <p:txBody>
              <a:bodyPr/>
              <a:lstStyle/>
              <a:p>
                <a:pPr marL="0" indent="0" algn="just">
                  <a:buNone/>
                </a:pPr>
                <a:r>
                  <a:rPr lang="en-US" sz="1800" kern="1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Case 2: if the length of the combined array </a:t>
                </a:r>
                <a14:m>
                  <m:oMath xmlns:m="http://schemas.openxmlformats.org/officeDocument/2006/math">
                    <m:r>
                      <a:rPr lang="en-US" sz="1800" i="1" kern="1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𝑙𝑒𝑛</m:t>
                    </m:r>
                  </m:oMath>
                </a14:m>
                <a:r>
                  <a:rPr lang="en-US" sz="1800" kern="1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 is odd, then the median should be determined like following:</a:t>
                </a:r>
                <a:endParaRPr lang="en-US" sz="18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E6306F5-9754-41FE-BC98-0CA56E4DEFF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98454"/>
                <a:ext cx="10515600" cy="384667"/>
              </a:xfrm>
              <a:blipFill>
                <a:blip r:embed="rId3"/>
                <a:stretch>
                  <a:fillRect l="-522" t="-17460" b="-1269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D6F8561C-61FE-4EA9-A12F-A5C8B864DCD7}"/>
                  </a:ext>
                </a:extLst>
              </p:cNvPr>
              <p:cNvSpPr txBox="1"/>
              <p:nvPr/>
            </p:nvSpPr>
            <p:spPr>
              <a:xfrm>
                <a:off x="838200" y="2444102"/>
                <a:ext cx="214567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𝑙𝑒𝑛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%2≠0:</m:t>
                    </m:r>
                  </m:oMath>
                </a14:m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D6F8561C-61FE-4EA9-A12F-A5C8B864DC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2444102"/>
                <a:ext cx="2145671" cy="369332"/>
              </a:xfrm>
              <a:prstGeom prst="rect">
                <a:avLst/>
              </a:prstGeom>
              <a:blipFill>
                <a:blip r:embed="rId4"/>
                <a:stretch>
                  <a:fillRect l="-2564" t="-9836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D7746AD7-FEEB-47C6-A755-452AA6FA1A5D}"/>
                  </a:ext>
                </a:extLst>
              </p:cNvPr>
              <p:cNvSpPr txBox="1"/>
              <p:nvPr/>
            </p:nvSpPr>
            <p:spPr>
              <a:xfrm>
                <a:off x="6448802" y="1716301"/>
                <a:ext cx="1287338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𝒊</m:t>
                      </m:r>
                      <m:r>
                        <a:rPr lang="en-US" sz="32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32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𝟓</m:t>
                      </m:r>
                    </m:oMath>
                  </m:oMathPara>
                </a14:m>
                <a:endParaRPr lang="en-US" sz="3200" b="1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D7746AD7-FEEB-47C6-A755-452AA6FA1A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48802" y="1716301"/>
                <a:ext cx="1287338" cy="58477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07C18078-947B-48E2-A780-8E665E68A09A}"/>
                  </a:ext>
                </a:extLst>
              </p:cNvPr>
              <p:cNvSpPr txBox="1"/>
              <p:nvPr/>
            </p:nvSpPr>
            <p:spPr>
              <a:xfrm>
                <a:off x="2956710" y="2377155"/>
                <a:ext cx="450269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  <m:sub>
                        <m:r>
                          <a:rPr lang="en-US" sz="2000" b="1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sz="2000" b="1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US" sz="2000" b="1" dirty="0">
                    <a:solidFill>
                      <a:schemeClr val="accent1">
                        <a:lumMod val="75000"/>
                      </a:schemeClr>
                    </a:solidFill>
                  </a:rPr>
                  <a:t>          </a:t>
                </a: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07C18078-947B-48E2-A780-8E665E68A0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56710" y="2377155"/>
                <a:ext cx="450269" cy="400110"/>
              </a:xfrm>
              <a:prstGeom prst="rect">
                <a:avLst/>
              </a:prstGeom>
              <a:blipFill>
                <a:blip r:embed="rId6"/>
                <a:stretch>
                  <a:fillRect r="-148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C18E4DD2-3097-4232-9052-2B69A0D87525}"/>
                  </a:ext>
                </a:extLst>
              </p:cNvPr>
              <p:cNvSpPr txBox="1"/>
              <p:nvPr/>
            </p:nvSpPr>
            <p:spPr>
              <a:xfrm>
                <a:off x="2956710" y="2948435"/>
                <a:ext cx="450269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  <m:sub>
                        <m:r>
                          <a:rPr lang="en-US" sz="2000" b="1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sz="2000" b="1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US" sz="2000" b="1" dirty="0">
                    <a:solidFill>
                      <a:schemeClr val="accent1">
                        <a:lumMod val="75000"/>
                      </a:schemeClr>
                    </a:solidFill>
                  </a:rPr>
                  <a:t>          </a:t>
                </a: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C18E4DD2-3097-4232-9052-2B69A0D875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56710" y="2948435"/>
                <a:ext cx="450269" cy="400110"/>
              </a:xfrm>
              <a:prstGeom prst="rect">
                <a:avLst/>
              </a:prstGeom>
              <a:blipFill>
                <a:blip r:embed="rId7"/>
                <a:stretch>
                  <a:fillRect r="-14865" b="-15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61D3FD96-8A25-4164-A901-87208B00F6DF}"/>
                  </a:ext>
                </a:extLst>
              </p:cNvPr>
              <p:cNvSpPr txBox="1"/>
              <p:nvPr/>
            </p:nvSpPr>
            <p:spPr>
              <a:xfrm>
                <a:off x="4895662" y="3236383"/>
                <a:ext cx="1086038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32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𝒋</m:t>
                    </m:r>
                    <m:r>
                      <a:rPr lang="en-US" sz="32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3200" b="1" dirty="0">
                    <a:solidFill>
                      <a:srgbClr val="FF0000"/>
                    </a:solidFill>
                  </a:rPr>
                  <a:t>= 2</a:t>
                </a:r>
              </a:p>
            </p:txBody>
          </p:sp>
        </mc:Choice>
        <mc:Fallback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61D3FD96-8A25-4164-A901-87208B00F6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95662" y="3236383"/>
                <a:ext cx="1086038" cy="584775"/>
              </a:xfrm>
              <a:prstGeom prst="rect">
                <a:avLst/>
              </a:prstGeom>
              <a:blipFill>
                <a:blip r:embed="rId8"/>
                <a:stretch>
                  <a:fillRect t="-12500" r="-562" b="-343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0F500FB1-B241-4771-95AD-46B7E9ED2891}"/>
                  </a:ext>
                </a:extLst>
              </p:cNvPr>
              <p:cNvSpPr txBox="1"/>
              <p:nvPr/>
            </p:nvSpPr>
            <p:spPr>
              <a:xfrm>
                <a:off x="7839546" y="2273912"/>
                <a:ext cx="338297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upper bound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here is 5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𝐴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0F500FB1-B241-4771-95AD-46B7E9ED28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39546" y="2273912"/>
                <a:ext cx="3382979" cy="369332"/>
              </a:xfrm>
              <a:prstGeom prst="rect">
                <a:avLst/>
              </a:prstGeom>
              <a:blipFill>
                <a:blip r:embed="rId9"/>
                <a:stretch>
                  <a:fillRect l="-1441" t="-819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CEB6CF9A-1E17-4E91-A966-3476364F6356}"/>
                  </a:ext>
                </a:extLst>
              </p:cNvPr>
              <p:cNvSpPr txBox="1"/>
              <p:nvPr/>
            </p:nvSpPr>
            <p:spPr>
              <a:xfrm>
                <a:off x="7854634" y="2908738"/>
                <a:ext cx="338297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lower bound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here is 2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𝐴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</a:t>
                </a: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CEB6CF9A-1E17-4E91-A966-3476364F63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54634" y="2908738"/>
                <a:ext cx="3382979" cy="369332"/>
              </a:xfrm>
              <a:prstGeom prst="rect">
                <a:avLst/>
              </a:prstGeom>
              <a:blipFill>
                <a:blip r:embed="rId10"/>
                <a:stretch>
                  <a:fillRect l="-1441" t="-819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2" name="Picture 21">
            <a:extLst>
              <a:ext uri="{FF2B5EF4-FFF2-40B4-BE49-F238E27FC236}">
                <a16:creationId xmlns:a16="http://schemas.microsoft.com/office/drawing/2014/main" id="{D125CC99-AB6A-4330-83C8-63877FE7F4E3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595829" y="2290617"/>
            <a:ext cx="4219575" cy="1066800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3335D836-F9AD-4A93-994C-CDB327458E95}"/>
              </a:ext>
            </a:extLst>
          </p:cNvPr>
          <p:cNvSpPr/>
          <p:nvPr/>
        </p:nvSpPr>
        <p:spPr>
          <a:xfrm>
            <a:off x="6058156" y="2346030"/>
            <a:ext cx="482853" cy="400110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F0BA053A-0D40-4CC1-B241-EF7A432C73D0}"/>
                  </a:ext>
                </a:extLst>
              </p:cNvPr>
              <p:cNvSpPr txBox="1"/>
              <p:nvPr/>
            </p:nvSpPr>
            <p:spPr>
              <a:xfrm>
                <a:off x="806607" y="3912403"/>
                <a:ext cx="1128439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𝑙𝑒𝑛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%2≠0</m:t>
                    </m:r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then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𝑚𝑒𝑑𝑖𝑎𝑛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𝑙𝑒𝑓𝑡𝑀𝑎𝑥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max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⁡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−1],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−1]</m:t>
                        </m:r>
                      </m:e>
                    </m:d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中位数即为左边最大值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F0BA053A-0D40-4CC1-B241-EF7A432C73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6607" y="3912403"/>
                <a:ext cx="11284390" cy="369332"/>
              </a:xfrm>
              <a:prstGeom prst="rect">
                <a:avLst/>
              </a:prstGeom>
              <a:blipFill>
                <a:blip r:embed="rId12"/>
                <a:stretch>
                  <a:fillRect l="-432" t="-11667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784627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0E848D-B205-4CDA-80CC-19207E83E6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224"/>
            <a:ext cx="10515600" cy="1325563"/>
          </a:xfrm>
        </p:spPr>
        <p:txBody>
          <a:bodyPr/>
          <a:lstStyle/>
          <a:p>
            <a:r>
              <a:rPr lang="en-US" dirty="0"/>
              <a:t>3</a:t>
            </a:r>
            <a:r>
              <a:rPr lang="en-US" baseline="30000" dirty="0"/>
              <a:t>rd</a:t>
            </a:r>
            <a:r>
              <a:rPr lang="en-US" dirty="0"/>
              <a:t> solution: Array partitioning method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6306F5-9754-41FE-BC98-0CA56E4DEF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91705"/>
            <a:ext cx="10515600" cy="384667"/>
          </a:xfrm>
        </p:spPr>
        <p:txBody>
          <a:bodyPr/>
          <a:lstStyle/>
          <a:p>
            <a:pPr marL="0" indent="0" algn="just">
              <a:buNone/>
            </a:pPr>
            <a:r>
              <a:rPr lang="en-US" altLang="zh-CN" sz="1800" kern="100" dirty="0">
                <a:solidFill>
                  <a:srgbClr val="000000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Some special cases:</a:t>
            </a:r>
            <a:endParaRPr lang="en-US" sz="1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07C18078-947B-48E2-A780-8E665E68A09A}"/>
                  </a:ext>
                </a:extLst>
              </p:cNvPr>
              <p:cNvSpPr txBox="1"/>
              <p:nvPr/>
            </p:nvSpPr>
            <p:spPr>
              <a:xfrm>
                <a:off x="806607" y="2011957"/>
                <a:ext cx="450269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  <m:sub>
                        <m:r>
                          <a:rPr lang="en-US" sz="2000" b="1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sz="2000" b="1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US" sz="2000" b="1" dirty="0">
                    <a:solidFill>
                      <a:schemeClr val="accent1">
                        <a:lumMod val="75000"/>
                      </a:schemeClr>
                    </a:solidFill>
                  </a:rPr>
                  <a:t>          </a:t>
                </a: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07C18078-947B-48E2-A780-8E665E68A0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6607" y="2011957"/>
                <a:ext cx="450269" cy="400110"/>
              </a:xfrm>
              <a:prstGeom prst="rect">
                <a:avLst/>
              </a:prstGeom>
              <a:blipFill>
                <a:blip r:embed="rId3"/>
                <a:stretch>
                  <a:fillRect r="-14865" b="-15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C18E4DD2-3097-4232-9052-2B69A0D87525}"/>
                  </a:ext>
                </a:extLst>
              </p:cNvPr>
              <p:cNvSpPr txBox="1"/>
              <p:nvPr/>
            </p:nvSpPr>
            <p:spPr>
              <a:xfrm>
                <a:off x="806607" y="2583237"/>
                <a:ext cx="450269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  <m:sub>
                        <m:r>
                          <a:rPr lang="en-US" sz="2000" b="1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sz="2000" b="1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US" sz="2000" b="1" dirty="0">
                    <a:solidFill>
                      <a:schemeClr val="accent1">
                        <a:lumMod val="75000"/>
                      </a:schemeClr>
                    </a:solidFill>
                  </a:rPr>
                  <a:t>          </a:t>
                </a: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C18E4DD2-3097-4232-9052-2B69A0D875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6607" y="2583237"/>
                <a:ext cx="450269" cy="400110"/>
              </a:xfrm>
              <a:prstGeom prst="rect">
                <a:avLst/>
              </a:prstGeom>
              <a:blipFill>
                <a:blip r:embed="rId4"/>
                <a:stretch>
                  <a:fillRect r="-14865" b="-15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F0BA053A-0D40-4CC1-B241-EF7A432C73D0}"/>
                  </a:ext>
                </a:extLst>
              </p:cNvPr>
              <p:cNvSpPr txBox="1"/>
              <p:nvPr/>
            </p:nvSpPr>
            <p:spPr>
              <a:xfrm>
                <a:off x="670805" y="3464133"/>
                <a:ext cx="412753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(1) 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==0</m:t>
                    </m:r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then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𝑙𝑒𝑓𝑡𝑀𝑎𝑥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−1]</m:t>
                    </m:r>
                  </m:oMath>
                </a14:m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F0BA053A-0D40-4CC1-B241-EF7A432C73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0805" y="3464133"/>
                <a:ext cx="4127532" cy="369332"/>
              </a:xfrm>
              <a:prstGeom prst="rect">
                <a:avLst/>
              </a:prstGeom>
              <a:blipFill>
                <a:blip r:embed="rId5"/>
                <a:stretch>
                  <a:fillRect l="-1182" t="-819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70EA59E1-5DD8-4096-8C49-F9134AFB2DB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81289" y="1754682"/>
            <a:ext cx="3238500" cy="162877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9C08FD1E-20F8-4843-A5F3-C0AC452C7279}"/>
                  </a:ext>
                </a:extLst>
              </p:cNvPr>
              <p:cNvSpPr txBox="1"/>
              <p:nvPr/>
            </p:nvSpPr>
            <p:spPr>
              <a:xfrm>
                <a:off x="6110429" y="1948062"/>
                <a:ext cx="450269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  <m:sub>
                        <m:r>
                          <a:rPr lang="en-US" sz="2000" b="1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sz="2000" b="1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US" sz="2000" b="1" dirty="0">
                    <a:solidFill>
                      <a:schemeClr val="accent1">
                        <a:lumMod val="75000"/>
                      </a:schemeClr>
                    </a:solidFill>
                  </a:rPr>
                  <a:t>          </a:t>
                </a: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9C08FD1E-20F8-4843-A5F3-C0AC452C72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0429" y="1948062"/>
                <a:ext cx="450269" cy="400110"/>
              </a:xfrm>
              <a:prstGeom prst="rect">
                <a:avLst/>
              </a:prstGeom>
              <a:blipFill>
                <a:blip r:embed="rId7"/>
                <a:stretch>
                  <a:fillRect r="-14865" b="-15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8E1479D4-62CD-44F6-B046-DD29AED89742}"/>
                  </a:ext>
                </a:extLst>
              </p:cNvPr>
              <p:cNvSpPr txBox="1"/>
              <p:nvPr/>
            </p:nvSpPr>
            <p:spPr>
              <a:xfrm>
                <a:off x="6110429" y="2519342"/>
                <a:ext cx="450269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  <m:sub>
                        <m:r>
                          <a:rPr lang="en-US" sz="2000" b="1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sz="2000" b="1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US" sz="2000" b="1" dirty="0">
                    <a:solidFill>
                      <a:schemeClr val="accent1">
                        <a:lumMod val="75000"/>
                      </a:schemeClr>
                    </a:solidFill>
                  </a:rPr>
                  <a:t>          </a:t>
                </a: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8E1479D4-62CD-44F6-B046-DD29AED897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0429" y="2519342"/>
                <a:ext cx="450269" cy="400110"/>
              </a:xfrm>
              <a:prstGeom prst="rect">
                <a:avLst/>
              </a:prstGeom>
              <a:blipFill>
                <a:blip r:embed="rId8"/>
                <a:stretch>
                  <a:fillRect r="-14865" b="-15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39784DFF-0DCC-45F0-A097-FCB96C2638A1}"/>
                  </a:ext>
                </a:extLst>
              </p:cNvPr>
              <p:cNvSpPr txBox="1"/>
              <p:nvPr/>
            </p:nvSpPr>
            <p:spPr>
              <a:xfrm>
                <a:off x="5974626" y="3400238"/>
                <a:ext cx="466319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(2) 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then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𝑟𝑖𝑔h𝑡𝑀𝑖𝑛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39784DFF-0DCC-45F0-A097-FCB96C2638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74626" y="3400238"/>
                <a:ext cx="4663195" cy="369332"/>
              </a:xfrm>
              <a:prstGeom prst="rect">
                <a:avLst/>
              </a:prstGeom>
              <a:blipFill>
                <a:blip r:embed="rId9"/>
                <a:stretch>
                  <a:fillRect l="-1046" t="-10000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0615BE8A-29F1-403E-8D8F-97D3B779DFF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627325" y="1759770"/>
            <a:ext cx="3248025" cy="14859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AF767BA3-A8D8-490A-B9B1-11EA5C9655FE}"/>
                  </a:ext>
                </a:extLst>
              </p:cNvPr>
              <p:cNvSpPr txBox="1"/>
              <p:nvPr/>
            </p:nvSpPr>
            <p:spPr>
              <a:xfrm>
                <a:off x="806608" y="4305959"/>
                <a:ext cx="450269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  <m:sub>
                        <m:r>
                          <a:rPr lang="en-US" sz="2000" b="1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sz="2000" b="1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US" sz="2000" b="1" dirty="0">
                    <a:solidFill>
                      <a:schemeClr val="accent1">
                        <a:lumMod val="75000"/>
                      </a:schemeClr>
                    </a:solidFill>
                  </a:rPr>
                  <a:t>          </a:t>
                </a:r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AF767BA3-A8D8-490A-B9B1-11EA5C9655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6608" y="4305959"/>
                <a:ext cx="450269" cy="400110"/>
              </a:xfrm>
              <a:prstGeom prst="rect">
                <a:avLst/>
              </a:prstGeom>
              <a:blipFill>
                <a:blip r:embed="rId11"/>
                <a:stretch>
                  <a:fillRect r="-14865" b="-15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9D495A57-5F70-43A4-8248-241AB7E6CBDB}"/>
                  </a:ext>
                </a:extLst>
              </p:cNvPr>
              <p:cNvSpPr txBox="1"/>
              <p:nvPr/>
            </p:nvSpPr>
            <p:spPr>
              <a:xfrm>
                <a:off x="806608" y="4877239"/>
                <a:ext cx="450269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  <m:sub>
                        <m:r>
                          <a:rPr lang="en-US" sz="2000" b="1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sz="2000" b="1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US" sz="2000" b="1" dirty="0">
                    <a:solidFill>
                      <a:schemeClr val="accent1">
                        <a:lumMod val="75000"/>
                      </a:schemeClr>
                    </a:solidFill>
                  </a:rPr>
                  <a:t>          </a:t>
                </a:r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9D495A57-5F70-43A4-8248-241AB7E6CB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6608" y="4877239"/>
                <a:ext cx="450269" cy="400110"/>
              </a:xfrm>
              <a:prstGeom prst="rect">
                <a:avLst/>
              </a:prstGeom>
              <a:blipFill>
                <a:blip r:embed="rId12"/>
                <a:stretch>
                  <a:fillRect r="-14865" b="-15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B0B08C92-A6E8-4F4F-8ED7-964AC9ED0F57}"/>
                  </a:ext>
                </a:extLst>
              </p:cNvPr>
              <p:cNvSpPr txBox="1"/>
              <p:nvPr/>
            </p:nvSpPr>
            <p:spPr>
              <a:xfrm>
                <a:off x="670805" y="5758135"/>
                <a:ext cx="466319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(3) 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==0</m:t>
                    </m:r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then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𝑙𝑒𝑓𝑡𝑀𝑎𝑥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−1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B0B08C92-A6E8-4F4F-8ED7-964AC9ED0F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0805" y="5758135"/>
                <a:ext cx="4663195" cy="369332"/>
              </a:xfrm>
              <a:prstGeom prst="rect">
                <a:avLst/>
              </a:prstGeom>
              <a:blipFill>
                <a:blip r:embed="rId13"/>
                <a:stretch>
                  <a:fillRect l="-1046" t="-10000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4CD32FC1-8649-49CF-85CF-16ADC4DF7DF0}"/>
                  </a:ext>
                </a:extLst>
              </p:cNvPr>
              <p:cNvSpPr txBox="1"/>
              <p:nvPr/>
            </p:nvSpPr>
            <p:spPr>
              <a:xfrm>
                <a:off x="6110429" y="4305959"/>
                <a:ext cx="450269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  <m:sub>
                        <m:r>
                          <a:rPr lang="en-US" sz="2000" b="1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sz="2000" b="1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US" sz="2000" b="1" dirty="0">
                    <a:solidFill>
                      <a:schemeClr val="accent1">
                        <a:lumMod val="75000"/>
                      </a:schemeClr>
                    </a:solidFill>
                  </a:rPr>
                  <a:t>          </a:t>
                </a:r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4CD32FC1-8649-49CF-85CF-16ADC4DF7D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0429" y="4305959"/>
                <a:ext cx="450269" cy="400110"/>
              </a:xfrm>
              <a:prstGeom prst="rect">
                <a:avLst/>
              </a:prstGeom>
              <a:blipFill>
                <a:blip r:embed="rId14"/>
                <a:stretch>
                  <a:fillRect r="-14865" b="-15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A347160E-6A61-4DD7-A70E-B3C43030EFE9}"/>
                  </a:ext>
                </a:extLst>
              </p:cNvPr>
              <p:cNvSpPr txBox="1"/>
              <p:nvPr/>
            </p:nvSpPr>
            <p:spPr>
              <a:xfrm>
                <a:off x="6110429" y="4877239"/>
                <a:ext cx="450269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  <m:sub>
                        <m:r>
                          <a:rPr lang="en-US" sz="2000" b="1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sz="2000" b="1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US" sz="2000" b="1" dirty="0">
                    <a:solidFill>
                      <a:schemeClr val="accent1">
                        <a:lumMod val="75000"/>
                      </a:schemeClr>
                    </a:solidFill>
                  </a:rPr>
                  <a:t>          </a:t>
                </a:r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A347160E-6A61-4DD7-A70E-B3C43030EF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0429" y="4877239"/>
                <a:ext cx="450269" cy="400110"/>
              </a:xfrm>
              <a:prstGeom prst="rect">
                <a:avLst/>
              </a:prstGeom>
              <a:blipFill>
                <a:blip r:embed="rId15"/>
                <a:stretch>
                  <a:fillRect r="-14865" b="-15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2874309D-323A-4E4F-8EF5-DB22D2B836A4}"/>
                  </a:ext>
                </a:extLst>
              </p:cNvPr>
              <p:cNvSpPr txBox="1"/>
              <p:nvPr/>
            </p:nvSpPr>
            <p:spPr>
              <a:xfrm>
                <a:off x="5974626" y="5758135"/>
                <a:ext cx="466319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(4) If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then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𝑟𝑖𝑔h𝑡𝑀𝑖𝑛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2874309D-323A-4E4F-8EF5-DB22D2B836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74626" y="5758135"/>
                <a:ext cx="4663195" cy="369332"/>
              </a:xfrm>
              <a:prstGeom prst="rect">
                <a:avLst/>
              </a:prstGeom>
              <a:blipFill>
                <a:blip r:embed="rId16"/>
                <a:stretch>
                  <a:fillRect l="-1046" t="-10000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>
            <a:extLst>
              <a:ext uri="{FF2B5EF4-FFF2-40B4-BE49-F238E27FC236}">
                <a16:creationId xmlns:a16="http://schemas.microsoft.com/office/drawing/2014/main" id="{10DDD948-F9DA-4295-9C25-FF20CE2AAD97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373627" y="3860899"/>
            <a:ext cx="3257550" cy="15621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B1D9FB4-86EB-4ACF-B0B9-674D1037E4FA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735025" y="4050111"/>
            <a:ext cx="2609850" cy="1543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10405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0E848D-B205-4CDA-80CC-19207E83E6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224"/>
            <a:ext cx="10515600" cy="1325563"/>
          </a:xfrm>
        </p:spPr>
        <p:txBody>
          <a:bodyPr/>
          <a:lstStyle/>
          <a:p>
            <a:r>
              <a:rPr lang="en-US" dirty="0"/>
              <a:t>3</a:t>
            </a:r>
            <a:r>
              <a:rPr lang="en-US" baseline="30000" dirty="0"/>
              <a:t>rd</a:t>
            </a:r>
            <a:r>
              <a:rPr lang="en-US" dirty="0"/>
              <a:t> solution: Array partitioning method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E6306F5-9754-41FE-BC98-0CA56E4DEFF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98454"/>
                <a:ext cx="10515600" cy="384667"/>
              </a:xfrm>
            </p:spPr>
            <p:txBody>
              <a:bodyPr/>
              <a:lstStyle/>
              <a:p>
                <a:pPr algn="just"/>
                <a:r>
                  <a:rPr lang="en-US" sz="1800" kern="1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Determin</a:t>
                </a:r>
                <a:r>
                  <a:rPr lang="en-US" sz="1800" kern="1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e </a:t>
                </a:r>
                <a:r>
                  <a:rPr lang="en-US" altLang="zh-CN" sz="1800" kern="1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the relationship between </a:t>
                </a:r>
                <a:r>
                  <a:rPr lang="en-US" sz="1800" kern="1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the upper bound </a:t>
                </a:r>
                <a14:m>
                  <m:oMath xmlns:m="http://schemas.openxmlformats.org/officeDocument/2006/math">
                    <m:r>
                      <a:rPr lang="en-US" sz="1800" i="1" kern="100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𝑖</m:t>
                    </m:r>
                  </m:oMath>
                </a14:m>
                <a:r>
                  <a:rPr lang="en-US" sz="1800" kern="1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 and lower bound </a:t>
                </a:r>
                <a14:m>
                  <m:oMath xmlns:m="http://schemas.openxmlformats.org/officeDocument/2006/math">
                    <m:r>
                      <a:rPr lang="en-US" sz="1800" i="1" kern="100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𝑗</m:t>
                    </m:r>
                  </m:oMath>
                </a14:m>
                <a:r>
                  <a:rPr lang="en-US" sz="1800" kern="1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. (The total length </a:t>
                </a:r>
                <a14:m>
                  <m:oMath xmlns:m="http://schemas.openxmlformats.org/officeDocument/2006/math">
                    <m:r>
                      <a:rPr lang="en-US" sz="1800" b="0" i="1" kern="100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𝑙𝑒𝑛</m:t>
                    </m:r>
                    <m:r>
                      <a:rPr lang="en-US" sz="1800" b="0" i="1" kern="100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1800" b="0" i="1" kern="100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𝑚</m:t>
                    </m:r>
                    <m:r>
                      <a:rPr lang="en-US" sz="1800" b="0" i="1" kern="100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+</m:t>
                    </m:r>
                    <m:r>
                      <a:rPr lang="en-US" sz="1800" b="0" i="1" kern="100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𝑛</m:t>
                    </m:r>
                  </m:oMath>
                </a14:m>
                <a:r>
                  <a:rPr lang="en-US" sz="1800" kern="1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E6306F5-9754-41FE-BC98-0CA56E4DEFF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98454"/>
                <a:ext cx="10515600" cy="384667"/>
              </a:xfrm>
              <a:blipFill>
                <a:blip r:embed="rId3"/>
                <a:stretch>
                  <a:fillRect l="-406" t="-15873" b="-1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98318DFF-6B6B-4BDC-9000-B8E6709765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94" y="2200275"/>
            <a:ext cx="4295775" cy="122872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A4A72CD-48FC-46A0-83AB-0CD37CCC18E1}"/>
                  </a:ext>
                </a:extLst>
              </p:cNvPr>
              <p:cNvSpPr txBox="1"/>
              <p:nvPr/>
            </p:nvSpPr>
            <p:spPr>
              <a:xfrm>
                <a:off x="838200" y="2413678"/>
                <a:ext cx="2145671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𝑙𝑒𝑛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%2==0:</m:t>
                    </m:r>
                  </m:oMath>
                </a14:m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𝑖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𝑗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=(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𝑚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𝑛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)/2</m:t>
                      </m:r>
                    </m:oMath>
                  </m:oMathPara>
                </a14:m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A4A72CD-48FC-46A0-83AB-0CD37CCC18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2413678"/>
                <a:ext cx="2145671" cy="646331"/>
              </a:xfrm>
              <a:prstGeom prst="rect">
                <a:avLst/>
              </a:prstGeom>
              <a:blipFill>
                <a:blip r:embed="rId5"/>
                <a:stretch>
                  <a:fillRect l="-2564" t="-5660" b="-75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B8A5FE9-1C59-4DF0-A305-DE52BFCE88D4}"/>
                  </a:ext>
                </a:extLst>
              </p:cNvPr>
              <p:cNvSpPr txBox="1"/>
              <p:nvPr/>
            </p:nvSpPr>
            <p:spPr>
              <a:xfrm>
                <a:off x="6177479" y="1783335"/>
                <a:ext cx="1436485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𝒊</m:t>
                      </m:r>
                      <m:r>
                        <a:rPr lang="en-US" sz="32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32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𝟒</m:t>
                      </m:r>
                    </m:oMath>
                  </m:oMathPara>
                </a14:m>
                <a:endParaRPr lang="en-US" sz="32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B8A5FE9-1C59-4DF0-A305-DE52BFCE8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77479" y="1783335"/>
                <a:ext cx="1436485" cy="58477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C1DAD4D-7DA5-4F4B-A5F1-FD3F3EEF2E2D}"/>
                  </a:ext>
                </a:extLst>
              </p:cNvPr>
              <p:cNvSpPr txBox="1"/>
              <p:nvPr/>
            </p:nvSpPr>
            <p:spPr>
              <a:xfrm>
                <a:off x="3223033" y="2324971"/>
                <a:ext cx="450269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  <m:sub>
                        <m:r>
                          <a:rPr lang="en-US" sz="2000" b="1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sz="2000" b="1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US" sz="2000" b="1" dirty="0">
                    <a:solidFill>
                      <a:schemeClr val="accent1">
                        <a:lumMod val="75000"/>
                      </a:schemeClr>
                    </a:solidFill>
                  </a:rPr>
                  <a:t>          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C1DAD4D-7DA5-4F4B-A5F1-FD3F3EEF2E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23033" y="2324971"/>
                <a:ext cx="450269" cy="400110"/>
              </a:xfrm>
              <a:prstGeom prst="rect">
                <a:avLst/>
              </a:prstGeom>
              <a:blipFill>
                <a:blip r:embed="rId7"/>
                <a:stretch>
                  <a:fillRect r="-14865" b="-15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59D4F56-2E92-4ED5-9DF2-46CC4CA993BA}"/>
                  </a:ext>
                </a:extLst>
              </p:cNvPr>
              <p:cNvSpPr txBox="1"/>
              <p:nvPr/>
            </p:nvSpPr>
            <p:spPr>
              <a:xfrm>
                <a:off x="3223033" y="2896251"/>
                <a:ext cx="450269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  <m:sub>
                        <m:r>
                          <a:rPr lang="en-US" sz="2000" b="1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sz="2000" b="1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US" sz="2000" b="1" dirty="0">
                    <a:solidFill>
                      <a:schemeClr val="accent1">
                        <a:lumMod val="75000"/>
                      </a:schemeClr>
                    </a:solidFill>
                  </a:rPr>
                  <a:t>          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59D4F56-2E92-4ED5-9DF2-46CC4CA993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23033" y="2896251"/>
                <a:ext cx="450269" cy="400110"/>
              </a:xfrm>
              <a:prstGeom prst="rect">
                <a:avLst/>
              </a:prstGeom>
              <a:blipFill>
                <a:blip r:embed="rId8"/>
                <a:stretch>
                  <a:fillRect r="-14865" b="-15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46DF4C8-5A2C-45D1-8C76-2C23F8B4D7DB}"/>
                  </a:ext>
                </a:extLst>
              </p:cNvPr>
              <p:cNvSpPr txBox="1"/>
              <p:nvPr/>
            </p:nvSpPr>
            <p:spPr>
              <a:xfrm>
                <a:off x="5207251" y="3212688"/>
                <a:ext cx="1151297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𝒋</m:t>
                      </m:r>
                      <m:r>
                        <a:rPr lang="en-US" sz="32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32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en-US" sz="32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46DF4C8-5A2C-45D1-8C76-2C23F8B4D7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07251" y="3212688"/>
                <a:ext cx="1151297" cy="58477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B942EB5-2697-41F5-B3D9-29447FB354E7}"/>
                  </a:ext>
                </a:extLst>
              </p:cNvPr>
              <p:cNvSpPr txBox="1"/>
              <p:nvPr/>
            </p:nvSpPr>
            <p:spPr>
              <a:xfrm>
                <a:off x="8105869" y="2221728"/>
                <a:ext cx="338297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cs typeface="Times New Roman" panose="02020603050405020304" pitchFamily="18" charset="0"/>
                  </a:rPr>
                  <a:t>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𝐴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=4</m:t>
                    </m:r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i="1" kern="1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𝑚</m:t>
                    </m:r>
                    <m:r>
                      <a:rPr lang="en-US" b="0" i="1" kern="10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=5</m:t>
                    </m:r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B942EB5-2697-41F5-B3D9-29447FB354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05869" y="2221728"/>
                <a:ext cx="3382979" cy="369332"/>
              </a:xfrm>
              <a:prstGeom prst="rect">
                <a:avLst/>
              </a:prstGeom>
              <a:blipFill>
                <a:blip r:embed="rId10"/>
                <a:stretch>
                  <a:fillRect l="-1622" t="-9836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6042E54-EB90-4158-8740-44A10338C86D}"/>
                  </a:ext>
                </a:extLst>
              </p:cNvPr>
              <p:cNvSpPr txBox="1"/>
              <p:nvPr/>
            </p:nvSpPr>
            <p:spPr>
              <a:xfrm>
                <a:off x="8120957" y="2856554"/>
                <a:ext cx="338297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6042E54-EB90-4158-8740-44A10338C8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20957" y="2856554"/>
                <a:ext cx="3382979" cy="369332"/>
              </a:xfrm>
              <a:prstGeom prst="rect">
                <a:avLst/>
              </a:prstGeom>
              <a:blipFill>
                <a:blip r:embed="rId11"/>
                <a:stretch>
                  <a:fillRect l="-1441" t="-10000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D6F8561C-61FE-4EA9-A12F-A5C8B864DCD7}"/>
                  </a:ext>
                </a:extLst>
              </p:cNvPr>
              <p:cNvSpPr txBox="1"/>
              <p:nvPr/>
            </p:nvSpPr>
            <p:spPr>
              <a:xfrm>
                <a:off x="838201" y="4458584"/>
                <a:ext cx="2396906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𝑙𝑒𝑛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%2≠0:</m:t>
                    </m:r>
                  </m:oMath>
                </a14:m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𝑖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𝑗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=(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𝑚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𝑛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+1)/2</m:t>
                      </m:r>
                    </m:oMath>
                  </m:oMathPara>
                </a14:m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D6F8561C-61FE-4EA9-A12F-A5C8B864DC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1" y="4458584"/>
                <a:ext cx="2396906" cy="646331"/>
              </a:xfrm>
              <a:prstGeom prst="rect">
                <a:avLst/>
              </a:prstGeom>
              <a:blipFill>
                <a:blip r:embed="rId12"/>
                <a:stretch>
                  <a:fillRect l="-2290" t="-4717" b="-84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D7746AD7-FEEB-47C6-A755-452AA6FA1A5D}"/>
                  </a:ext>
                </a:extLst>
              </p:cNvPr>
              <p:cNvSpPr txBox="1"/>
              <p:nvPr/>
            </p:nvSpPr>
            <p:spPr>
              <a:xfrm>
                <a:off x="6895721" y="3797463"/>
                <a:ext cx="1287339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𝒊</m:t>
                      </m:r>
                      <m:r>
                        <a:rPr lang="en-US" sz="32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32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𝟓</m:t>
                      </m:r>
                    </m:oMath>
                  </m:oMathPara>
                </a14:m>
                <a:endParaRPr lang="en-US" sz="32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D7746AD7-FEEB-47C6-A755-452AA6FA1A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95721" y="3797463"/>
                <a:ext cx="1287339" cy="584775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07C18078-947B-48E2-A780-8E665E68A09A}"/>
                  </a:ext>
                </a:extLst>
              </p:cNvPr>
              <p:cNvSpPr txBox="1"/>
              <p:nvPr/>
            </p:nvSpPr>
            <p:spPr>
              <a:xfrm>
                <a:off x="3207945" y="4391637"/>
                <a:ext cx="450269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  <m:sub>
                        <m:r>
                          <a:rPr lang="en-US" sz="2000" b="1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sz="2000" b="1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US" sz="2000" b="1" dirty="0">
                    <a:solidFill>
                      <a:schemeClr val="accent1">
                        <a:lumMod val="75000"/>
                      </a:schemeClr>
                    </a:solidFill>
                  </a:rPr>
                  <a:t>          </a:t>
                </a: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07C18078-947B-48E2-A780-8E665E68A0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7945" y="4391637"/>
                <a:ext cx="450269" cy="400110"/>
              </a:xfrm>
              <a:prstGeom prst="rect">
                <a:avLst/>
              </a:prstGeom>
              <a:blipFill>
                <a:blip r:embed="rId14"/>
                <a:stretch>
                  <a:fillRect r="-14865" b="-15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C18E4DD2-3097-4232-9052-2B69A0D87525}"/>
                  </a:ext>
                </a:extLst>
              </p:cNvPr>
              <p:cNvSpPr txBox="1"/>
              <p:nvPr/>
            </p:nvSpPr>
            <p:spPr>
              <a:xfrm>
                <a:off x="3207945" y="4962917"/>
                <a:ext cx="450269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  <m:sub>
                        <m:r>
                          <a:rPr lang="en-US" sz="2000" b="1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sz="2000" b="1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US" sz="2000" b="1" dirty="0">
                    <a:solidFill>
                      <a:schemeClr val="accent1">
                        <a:lumMod val="75000"/>
                      </a:schemeClr>
                    </a:solidFill>
                  </a:rPr>
                  <a:t>          </a:t>
                </a: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C18E4DD2-3097-4232-9052-2B69A0D875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7945" y="4962917"/>
                <a:ext cx="450269" cy="400110"/>
              </a:xfrm>
              <a:prstGeom prst="rect">
                <a:avLst/>
              </a:prstGeom>
              <a:blipFill>
                <a:blip r:embed="rId15"/>
                <a:stretch>
                  <a:fillRect r="-14865" b="-15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61D3FD96-8A25-4164-A901-87208B00F6DF}"/>
                  </a:ext>
                </a:extLst>
              </p:cNvPr>
              <p:cNvSpPr txBox="1"/>
              <p:nvPr/>
            </p:nvSpPr>
            <p:spPr>
              <a:xfrm>
                <a:off x="4766651" y="5277837"/>
                <a:ext cx="1887646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𝒋</m:t>
                      </m:r>
                      <m:r>
                        <a:rPr lang="en-US" sz="32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32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en-US" sz="32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61D3FD96-8A25-4164-A901-87208B00F6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66651" y="5277837"/>
                <a:ext cx="1887646" cy="584775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2" name="Picture 21">
            <a:extLst>
              <a:ext uri="{FF2B5EF4-FFF2-40B4-BE49-F238E27FC236}">
                <a16:creationId xmlns:a16="http://schemas.microsoft.com/office/drawing/2014/main" id="{D125CC99-AB6A-4330-83C8-63877FE7F4E3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847064" y="4305099"/>
            <a:ext cx="4219575" cy="10668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17AD76F8-0AFD-4C25-8F3D-9D5FCA0BE7ED}"/>
                  </a:ext>
                </a:extLst>
              </p:cNvPr>
              <p:cNvSpPr txBox="1"/>
              <p:nvPr/>
            </p:nvSpPr>
            <p:spPr>
              <a:xfrm>
                <a:off x="995881" y="5764485"/>
                <a:ext cx="10900372" cy="11521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Observation 1: For programming language, 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𝑚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even, then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𝑚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𝑚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+1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(For example,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6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=3</m:t>
                    </m:r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and</a:t>
                </a:r>
                <a:r>
                  <a:rPr lang="en-US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7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den>
                    </m:f>
                    <m:r>
                      <a:rPr lang="en-US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=3</m:t>
                    </m:r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).</a:t>
                </a:r>
              </a:p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Thus, no matter whether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𝑚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even or not,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𝑖</m:t>
                    </m:r>
                    <m:r>
                      <a:rPr lang="en-US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𝑗</m:t>
                    </m:r>
                    <m:r>
                      <a:rPr lang="en-US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=(</m:t>
                    </m:r>
                    <m:r>
                      <a:rPr lang="en-US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𝑚</m:t>
                    </m:r>
                    <m:r>
                      <a:rPr lang="en-US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  <m:r>
                      <a:rPr lang="en-US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+1)/2</m:t>
                    </m:r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always holds.</a:t>
                </a:r>
              </a:p>
              <a:p>
                <a:r>
                  <a:rPr lang="en-US" kern="1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Observation 2: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𝑗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𝑚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+1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𝑖</m:t>
                    </m:r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if the value of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𝑖</m:t>
                    </m:r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determined, then we’ll know what the value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𝑗</m:t>
                    </m:r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is.</a:t>
                </a: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17AD76F8-0AFD-4C25-8F3D-9D5FCA0BE7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5881" y="5764485"/>
                <a:ext cx="10900372" cy="1152175"/>
              </a:xfrm>
              <a:prstGeom prst="rect">
                <a:avLst/>
              </a:prstGeom>
              <a:blipFill>
                <a:blip r:embed="rId18"/>
                <a:stretch>
                  <a:fillRect l="-447" r="-503" b="-21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2B3A77F0-2188-4DA1-9B69-B9C418DFD104}"/>
                  </a:ext>
                </a:extLst>
              </p:cNvPr>
              <p:cNvSpPr txBox="1"/>
              <p:nvPr/>
            </p:nvSpPr>
            <p:spPr>
              <a:xfrm>
                <a:off x="8120957" y="4224269"/>
                <a:ext cx="338297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cs typeface="Times New Roman" panose="02020603050405020304" pitchFamily="18" charset="0"/>
                  </a:rPr>
                  <a:t>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𝐴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i="1" kern="1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𝑚</m:t>
                    </m:r>
                    <m:r>
                      <a:rPr lang="en-US" b="0" i="1" kern="10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=6</m:t>
                    </m:r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</p:txBody>
          </p:sp>
        </mc:Choice>
        <mc:Fallback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2B3A77F0-2188-4DA1-9B69-B9C418DFD1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20957" y="4224269"/>
                <a:ext cx="3382979" cy="369332"/>
              </a:xfrm>
              <a:prstGeom prst="rect">
                <a:avLst/>
              </a:prstGeom>
              <a:blipFill>
                <a:blip r:embed="rId19"/>
                <a:stretch>
                  <a:fillRect l="-1441" t="-11475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850D9111-AEE0-45A7-9848-8D843DA48180}"/>
                  </a:ext>
                </a:extLst>
              </p:cNvPr>
              <p:cNvSpPr txBox="1"/>
              <p:nvPr/>
            </p:nvSpPr>
            <p:spPr>
              <a:xfrm>
                <a:off x="8136045" y="4859095"/>
                <a:ext cx="338297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</a:t>
                </a: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850D9111-AEE0-45A7-9848-8D843DA481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36045" y="4859095"/>
                <a:ext cx="3382979" cy="369332"/>
              </a:xfrm>
              <a:prstGeom prst="rect">
                <a:avLst/>
              </a:prstGeom>
              <a:blipFill>
                <a:blip r:embed="rId20"/>
                <a:stretch>
                  <a:fillRect l="-1622" t="-819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43909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0E848D-B205-4CDA-80CC-19207E83E6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0816"/>
            <a:ext cx="10515600" cy="1325563"/>
          </a:xfrm>
        </p:spPr>
        <p:txBody>
          <a:bodyPr/>
          <a:lstStyle/>
          <a:p>
            <a:r>
              <a:rPr lang="en-US" dirty="0"/>
              <a:t>3</a:t>
            </a:r>
            <a:r>
              <a:rPr lang="en-US" baseline="30000" dirty="0"/>
              <a:t>rd</a:t>
            </a:r>
            <a:r>
              <a:rPr lang="en-US" dirty="0"/>
              <a:t> solution: Array partitioning method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E6306F5-9754-41FE-BC98-0CA56E4DEFF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333281"/>
                <a:ext cx="10515600" cy="384667"/>
              </a:xfrm>
            </p:spPr>
            <p:txBody>
              <a:bodyPr/>
              <a:lstStyle/>
              <a:p>
                <a:pPr algn="just"/>
                <a:r>
                  <a:rPr lang="en-US" sz="1800" kern="1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How to determine the value of </a:t>
                </a:r>
                <a14:m>
                  <m:oMath xmlns:m="http://schemas.openxmlformats.org/officeDocument/2006/math">
                    <m:r>
                      <a:rPr lang="en-US" sz="1800" b="0" i="1" kern="100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𝑖</m:t>
                    </m:r>
                  </m:oMath>
                </a14:m>
                <a:r>
                  <a:rPr lang="en-US" sz="1800" kern="1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?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E6306F5-9754-41FE-BC98-0CA56E4DEFF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333281"/>
                <a:ext cx="10515600" cy="384667"/>
              </a:xfrm>
              <a:blipFill>
                <a:blip r:embed="rId3"/>
                <a:stretch>
                  <a:fillRect l="-406" t="-15873" b="-1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" name="Picture 12">
            <a:extLst>
              <a:ext uri="{FF2B5EF4-FFF2-40B4-BE49-F238E27FC236}">
                <a16:creationId xmlns:a16="http://schemas.microsoft.com/office/drawing/2014/main" id="{5F35DF92-88CC-43A7-88E0-1755081976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89057" y="1717948"/>
            <a:ext cx="3638550" cy="150495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822361AD-AA05-4307-AA4C-D5D58108E393}"/>
                  </a:ext>
                </a:extLst>
              </p:cNvPr>
              <p:cNvSpPr txBox="1"/>
              <p:nvPr/>
            </p:nvSpPr>
            <p:spPr>
              <a:xfrm>
                <a:off x="838200" y="1800765"/>
                <a:ext cx="6866298" cy="14773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Key: The values of elements in left of boundary should be always smaller than that in the right of boundary. </a:t>
                </a:r>
              </a:p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Elements involved are: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−1],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−1]</m:t>
                    </m:r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𝐴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𝐴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</m:e>
                    </m:d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&lt;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  <a:r>
                  <a:rPr lang="en-US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Thus, we need to find such an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𝑖</m:t>
                    </m:r>
                  </m:oMath>
                </a14:m>
                <a:r>
                  <a:rPr lang="en-US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that satisfied: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822361AD-AA05-4307-AA4C-D5D58108E3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800765"/>
                <a:ext cx="6866298" cy="1477328"/>
              </a:xfrm>
              <a:prstGeom prst="rect">
                <a:avLst/>
              </a:prstGeom>
              <a:blipFill>
                <a:blip r:embed="rId5"/>
                <a:stretch>
                  <a:fillRect l="-799" t="-2058" r="-1510" b="-53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" name="Picture 19">
            <a:extLst>
              <a:ext uri="{FF2B5EF4-FFF2-40B4-BE49-F238E27FC236}">
                <a16:creationId xmlns:a16="http://schemas.microsoft.com/office/drawing/2014/main" id="{971C9700-6C72-49C1-8011-4ACC6E7A09E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8200" y="3449701"/>
            <a:ext cx="3619500" cy="151447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EB7C23EA-E543-4B10-9654-E50E8BB6C1B3}"/>
                  </a:ext>
                </a:extLst>
              </p:cNvPr>
              <p:cNvSpPr txBox="1"/>
              <p:nvPr/>
            </p:nvSpPr>
            <p:spPr>
              <a:xfrm>
                <a:off x="4932629" y="3784184"/>
                <a:ext cx="3025367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Here,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sSub>
                      <m:sSub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thus,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𝑖</m:t>
                    </m:r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should be adjusted to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𝑖</m:t>
                    </m:r>
                    <m:r>
                      <a:rPr lang="en-US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+1</m:t>
                    </m:r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EB7C23EA-E543-4B10-9654-E50E8BB6C1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32629" y="3784184"/>
                <a:ext cx="3025367" cy="646331"/>
              </a:xfrm>
              <a:prstGeom prst="rect">
                <a:avLst/>
              </a:prstGeom>
              <a:blipFill>
                <a:blip r:embed="rId7"/>
                <a:stretch>
                  <a:fillRect l="-1613" t="-5660" r="-2218" b="-141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Arrow: Right 20">
            <a:extLst>
              <a:ext uri="{FF2B5EF4-FFF2-40B4-BE49-F238E27FC236}">
                <a16:creationId xmlns:a16="http://schemas.microsoft.com/office/drawing/2014/main" id="{2CF21095-B235-428D-BB64-13C982A0760C}"/>
              </a:ext>
            </a:extLst>
          </p:cNvPr>
          <p:cNvSpPr/>
          <p:nvPr/>
        </p:nvSpPr>
        <p:spPr>
          <a:xfrm>
            <a:off x="4526733" y="4078916"/>
            <a:ext cx="289711" cy="226336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Arrow: Right 27">
            <a:extLst>
              <a:ext uri="{FF2B5EF4-FFF2-40B4-BE49-F238E27FC236}">
                <a16:creationId xmlns:a16="http://schemas.microsoft.com/office/drawing/2014/main" id="{499B98EB-C0B9-4163-8872-8C7A117030E0}"/>
              </a:ext>
            </a:extLst>
          </p:cNvPr>
          <p:cNvSpPr/>
          <p:nvPr/>
        </p:nvSpPr>
        <p:spPr>
          <a:xfrm>
            <a:off x="8066636" y="4004980"/>
            <a:ext cx="289711" cy="226336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24AE4D31-A7D8-45C8-8D87-1FC496E1E36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56347" y="3360910"/>
            <a:ext cx="3619500" cy="151447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7C76BE50-813B-45F9-9D6C-58FFC4E8C77B}"/>
                  </a:ext>
                </a:extLst>
              </p14:cNvPr>
              <p14:cNvContentPartPr/>
              <p14:nvPr/>
            </p14:nvContentPartPr>
            <p14:xfrm>
              <a:off x="2878517" y="6065451"/>
              <a:ext cx="360" cy="360"/>
            </p14:xfrm>
          </p:contentPart>
        </mc:Choice>
        <mc:Fallback xmlns=""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7C76BE50-813B-45F9-9D6C-58FFC4E8C77B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869877" y="6056451"/>
                <a:ext cx="18000" cy="18000"/>
              </a:xfrm>
              <a:prstGeom prst="rect">
                <a:avLst/>
              </a:prstGeom>
            </p:spPr>
          </p:pic>
        </mc:Fallback>
      </mc:AlternateContent>
      <p:pic>
        <p:nvPicPr>
          <p:cNvPr id="34" name="Picture 33">
            <a:extLst>
              <a:ext uri="{FF2B5EF4-FFF2-40B4-BE49-F238E27FC236}">
                <a16:creationId xmlns:a16="http://schemas.microsoft.com/office/drawing/2014/main" id="{9C4823CD-F89B-47A6-A9F7-EA6164E4F57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76300" y="4921014"/>
            <a:ext cx="3581400" cy="14478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307F34F8-8EF8-43E7-A1D4-148E850FB8FC}"/>
                  </a:ext>
                </a:extLst>
              </p:cNvPr>
              <p:cNvSpPr txBox="1"/>
              <p:nvPr/>
            </p:nvSpPr>
            <p:spPr>
              <a:xfrm>
                <a:off x="4932629" y="5196289"/>
                <a:ext cx="3025367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Here,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&gt;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thus,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𝑖</m:t>
                    </m:r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should be adjusted to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𝑖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  <m:r>
                      <a:rPr lang="en-US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307F34F8-8EF8-43E7-A1D4-148E850FB8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32629" y="5196289"/>
                <a:ext cx="3025367" cy="646331"/>
              </a:xfrm>
              <a:prstGeom prst="rect">
                <a:avLst/>
              </a:prstGeom>
              <a:blipFill>
                <a:blip r:embed="rId11"/>
                <a:stretch>
                  <a:fillRect l="-1613" t="-5660" r="-1815" b="-141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Arrow: Right 35">
            <a:extLst>
              <a:ext uri="{FF2B5EF4-FFF2-40B4-BE49-F238E27FC236}">
                <a16:creationId xmlns:a16="http://schemas.microsoft.com/office/drawing/2014/main" id="{8FF66863-0ABC-4378-9C6E-2EF01B88503D}"/>
              </a:ext>
            </a:extLst>
          </p:cNvPr>
          <p:cNvSpPr/>
          <p:nvPr/>
        </p:nvSpPr>
        <p:spPr>
          <a:xfrm>
            <a:off x="4526733" y="5491021"/>
            <a:ext cx="289711" cy="226336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Arrow: Right 36">
            <a:extLst>
              <a:ext uri="{FF2B5EF4-FFF2-40B4-BE49-F238E27FC236}">
                <a16:creationId xmlns:a16="http://schemas.microsoft.com/office/drawing/2014/main" id="{205B4E34-D5EA-4899-A2EE-65E46BDA1261}"/>
              </a:ext>
            </a:extLst>
          </p:cNvPr>
          <p:cNvSpPr/>
          <p:nvPr/>
        </p:nvSpPr>
        <p:spPr>
          <a:xfrm>
            <a:off x="8066636" y="5417085"/>
            <a:ext cx="289711" cy="226336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88E15F85-6A8F-4A49-9AD6-19DC644E2C9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464987" y="4945484"/>
            <a:ext cx="3581400" cy="144780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355296D2-01FC-4AFA-832E-D1C47ABCE224}"/>
                  </a:ext>
                </a:extLst>
              </p14:cNvPr>
              <p14:cNvContentPartPr/>
              <p14:nvPr/>
            </p14:nvContentPartPr>
            <p14:xfrm>
              <a:off x="9922277" y="4046571"/>
              <a:ext cx="360" cy="360"/>
            </p14:xfrm>
          </p:contentPart>
        </mc:Choice>
        <mc:Fallback xmlns=""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355296D2-01FC-4AFA-832E-D1C47ABCE224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9913637" y="4037571"/>
                <a:ext cx="18000" cy="18000"/>
              </a:xfrm>
              <a:prstGeom prst="rect">
                <a:avLst/>
              </a:prstGeom>
            </p:spPr>
          </p:pic>
        </mc:Fallback>
      </mc:AlternateContent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656FC5DA-EE16-4F15-B047-A625BBBB7108}"/>
              </a:ext>
            </a:extLst>
          </p:cNvPr>
          <p:cNvCxnSpPr/>
          <p:nvPr/>
        </p:nvCxnSpPr>
        <p:spPr>
          <a:xfrm>
            <a:off x="10755517" y="3324696"/>
            <a:ext cx="0" cy="718006"/>
          </a:xfrm>
          <a:prstGeom prst="line">
            <a:avLst/>
          </a:prstGeom>
          <a:ln w="38100"/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95C1B02E-24A3-44BC-9A2E-C22D2DB1BE2B}"/>
              </a:ext>
            </a:extLst>
          </p:cNvPr>
          <p:cNvCxnSpPr>
            <a:cxnSpLocks/>
          </p:cNvCxnSpPr>
          <p:nvPr/>
        </p:nvCxnSpPr>
        <p:spPr>
          <a:xfrm flipH="1">
            <a:off x="9604158" y="4033322"/>
            <a:ext cx="1170000" cy="0"/>
          </a:xfrm>
          <a:prstGeom prst="line">
            <a:avLst/>
          </a:prstGeom>
          <a:ln w="38100"/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5EFEA502-BE08-4300-AFBE-15B070927EF5}"/>
              </a:ext>
            </a:extLst>
          </p:cNvPr>
          <p:cNvCxnSpPr/>
          <p:nvPr/>
        </p:nvCxnSpPr>
        <p:spPr>
          <a:xfrm>
            <a:off x="9604158" y="4033322"/>
            <a:ext cx="0" cy="718006"/>
          </a:xfrm>
          <a:prstGeom prst="line">
            <a:avLst/>
          </a:prstGeom>
          <a:ln w="38100"/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F2C82B99-7FB8-4240-B800-01577A990131}"/>
              </a:ext>
            </a:extLst>
          </p:cNvPr>
          <p:cNvCxnSpPr/>
          <p:nvPr/>
        </p:nvCxnSpPr>
        <p:spPr>
          <a:xfrm>
            <a:off x="10862649" y="5029860"/>
            <a:ext cx="0" cy="718006"/>
          </a:xfrm>
          <a:prstGeom prst="line">
            <a:avLst/>
          </a:prstGeom>
          <a:ln w="38100"/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919D6985-9E24-4F49-8149-1BD90427A420}"/>
              </a:ext>
            </a:extLst>
          </p:cNvPr>
          <p:cNvCxnSpPr>
            <a:cxnSpLocks/>
          </p:cNvCxnSpPr>
          <p:nvPr/>
        </p:nvCxnSpPr>
        <p:spPr>
          <a:xfrm flipH="1">
            <a:off x="9711290" y="5738486"/>
            <a:ext cx="1170000" cy="0"/>
          </a:xfrm>
          <a:prstGeom prst="line">
            <a:avLst/>
          </a:prstGeom>
          <a:ln w="38100"/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8E2961E7-17BB-4945-857A-7570D361A1C4}"/>
              </a:ext>
            </a:extLst>
          </p:cNvPr>
          <p:cNvCxnSpPr/>
          <p:nvPr/>
        </p:nvCxnSpPr>
        <p:spPr>
          <a:xfrm>
            <a:off x="9711290" y="5738486"/>
            <a:ext cx="0" cy="718006"/>
          </a:xfrm>
          <a:prstGeom prst="line">
            <a:avLst/>
          </a:prstGeom>
          <a:ln w="38100"/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095094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0E848D-B205-4CDA-80CC-19207E83E6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224"/>
            <a:ext cx="10515600" cy="1325563"/>
          </a:xfrm>
        </p:spPr>
        <p:txBody>
          <a:bodyPr/>
          <a:lstStyle/>
          <a:p>
            <a:r>
              <a:rPr lang="en-US" dirty="0"/>
              <a:t>3</a:t>
            </a:r>
            <a:r>
              <a:rPr lang="en-US" baseline="30000" dirty="0"/>
              <a:t>rd</a:t>
            </a:r>
            <a:r>
              <a:rPr lang="en-US" dirty="0"/>
              <a:t> solution: Array partitioning method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17AD76F8-0AFD-4C25-8F3D-9D5FCA0BE7ED}"/>
                  </a:ext>
                </a:extLst>
              </p:cNvPr>
              <p:cNvSpPr txBox="1"/>
              <p:nvPr/>
            </p:nvSpPr>
            <p:spPr>
              <a:xfrm>
                <a:off x="715223" y="1445380"/>
                <a:ext cx="10900372" cy="424731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Transforming Problem-Solving ideas into Code – Coding Logic:</a:t>
                </a:r>
              </a:p>
              <a:p>
                <a:pPr algn="l">
                  <a:buFont typeface="+mj-lt"/>
                  <a:buAutoNum type="arabicPeriod"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Ensure the length of the first array is less than the second array (use recursion).</a:t>
                </a:r>
              </a:p>
              <a:p>
                <a:pPr algn="l">
                  <a:buFont typeface="+mj-lt"/>
                  <a:buAutoNum type="arabicPeriod"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Initialize the range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𝑖</m:t>
                    </m:r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(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𝑖𝑀𝑖𝑛</m:t>
                    </m:r>
                    <m:r>
                      <a:rPr lang="en-US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= 0,  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𝑖𝑀𝑎𝑥</m:t>
                    </m:r>
                    <m:r>
                      <a:rPr lang="en-US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 </m:t>
                    </m:r>
                    <m:r>
                      <a:rPr lang="en-US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𝑚</m:t>
                    </m:r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  <a:p>
                <a:pPr algn="l">
                  <a:buFont typeface="+mj-lt"/>
                  <a:buAutoNum type="arabicPeriod"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Loop through the condition (when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𝑖𝑀𝑖𝑛</m:t>
                    </m:r>
                    <m:r>
                      <a:rPr lang="en-US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  <m:r>
                      <a:rPr lang="en-US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𝑖𝑀𝑎𝑥</m:t>
                    </m:r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):</a:t>
                </a:r>
              </a:p>
              <a:p>
                <a:pPr marL="742950" lvl="1" indent="-285750" algn="l">
                  <a:buFont typeface="+mj-lt"/>
                  <a:buAutoNum type="arabicPeriod"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Take i as the middle value of the interval, determine if i is too large or too small.</a:t>
                </a:r>
              </a:p>
              <a:p>
                <a:pPr marL="742950" lvl="1" indent="-285750" algn="l">
                  <a:buFont typeface="+mj-lt"/>
                  <a:buAutoNum type="arabicPeriod"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If it's too small, then take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𝑖𝑀𝑖𝑛</m:t>
                    </m:r>
                    <m:r>
                      <a:rPr lang="en-US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= </m:t>
                    </m:r>
                    <m:r>
                      <a:rPr lang="en-US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𝑖</m:t>
                    </m:r>
                    <m:r>
                      <a:rPr lang="en-US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+ 1 </m:t>
                    </m:r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(expand the left interval).</a:t>
                </a:r>
              </a:p>
              <a:p>
                <a:pPr marL="742950" lvl="1" indent="-285750" algn="l">
                  <a:buFont typeface="+mj-lt"/>
                  <a:buAutoNum type="arabicPeriod"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If it's too large, then take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𝑖𝑀𝑎𝑥</m:t>
                    </m:r>
                    <m:r>
                      <a:rPr lang="en-US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= </m:t>
                    </m:r>
                    <m:r>
                      <a:rPr lang="en-US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𝑖</m:t>
                    </m:r>
                    <m:r>
                      <a:rPr lang="en-US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− 1 </m:t>
                    </m:r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(shrink the right interval).</a:t>
                </a:r>
              </a:p>
              <a:p>
                <a:pPr marL="742950" lvl="1" indent="-285750" algn="l">
                  <a:buFont typeface="+mj-lt"/>
                  <a:buAutoNum type="arabicPeriod"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If the i value is just right, calculate the maximum values on both sides. </a:t>
                </a:r>
              </a:p>
              <a:p>
                <a:pPr marL="936000" lvl="1" indent="-342900" algn="l">
                  <a:buAutoNum type="alphaLcParenR"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First find the maximum value on the left side. If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𝑖</m:t>
                    </m:r>
                    <m:r>
                      <a:rPr lang="en-US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= 0</m:t>
                    </m:r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then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𝑚𝑎𝑥𝐿𝑒𝑓𝑡</m:t>
                    </m:r>
                    <m:r>
                      <a:rPr lang="en-US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= </m:t>
                    </m:r>
                    <m:r>
                      <a:rPr lang="en-US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𝐵</m:t>
                    </m:r>
                    <m:r>
                      <a:rPr lang="en-US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[</m:t>
                    </m:r>
                    <m:r>
                      <a:rPr lang="en-US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𝑗</m:t>
                    </m:r>
                    <m:r>
                      <a:rPr lang="en-US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−1]</m:t>
                    </m:r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; if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𝑗</m:t>
                    </m:r>
                    <m:r>
                      <a:rPr lang="en-US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= 0</m:t>
                    </m:r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then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𝑚𝑎𝑥𝐿𝑒𝑓𝑡</m:t>
                    </m:r>
                    <m:r>
                      <a:rPr lang="en-US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= </m:t>
                    </m:r>
                    <m:r>
                      <a:rPr lang="en-US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𝐴</m:t>
                    </m:r>
                    <m:r>
                      <a:rPr lang="en-US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[</m:t>
                    </m:r>
                    <m:r>
                      <a:rPr lang="en-US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𝑖</m:t>
                    </m:r>
                    <m:r>
                      <a:rPr lang="en-US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−1]</m:t>
                    </m:r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otherwise take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𝑚𝑎𝑥𝐿𝑒𝑓𝑡</m:t>
                    </m:r>
                    <m:r>
                      <a:rPr lang="en-US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= </m:t>
                    </m:r>
                    <m:r>
                      <m:rPr>
                        <m:sty m:val="p"/>
                      </m:rPr>
                      <a:rPr lang="en-US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max</m:t>
                    </m:r>
                    <m:r>
                      <a:rPr lang="en-US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⁡(</m:t>
                    </m:r>
                    <m:r>
                      <a:rPr lang="en-US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𝐴</m:t>
                    </m:r>
                    <m:r>
                      <a:rPr lang="en-US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[</m:t>
                    </m:r>
                    <m:r>
                      <a:rPr lang="en-US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𝑖</m:t>
                    </m:r>
                    <m:r>
                      <a:rPr lang="en-US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−1], </m:t>
                    </m:r>
                    <m:r>
                      <a:rPr lang="en-US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𝐵</m:t>
                    </m:r>
                    <m:r>
                      <a:rPr lang="en-US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[</m:t>
                    </m:r>
                    <m:r>
                      <a:rPr lang="en-US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𝑗</m:t>
                    </m:r>
                    <m:r>
                      <a:rPr lang="en-US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−1])</m:t>
                    </m:r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</a:p>
              <a:p>
                <a:pPr marL="936000" lvl="1" indent="-342900" algn="l">
                  <a:buAutoNum type="alphaLcParenR"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Determine if the total length of the arrays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𝑚</m:t>
                    </m:r>
                    <m:r>
                      <a:rPr lang="en-US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r>
                      <a:rPr lang="en-US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  <m:r>
                      <a:rPr lang="en-US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odd. If it's odd, directly return the maximum value on the left side maxLeft as the median; otherwise, consider the minimum value on the right side. </a:t>
                </a:r>
              </a:p>
              <a:p>
                <a:pPr marL="936000" lvl="1" indent="-342900" algn="l">
                  <a:buAutoNum type="alphaLcParenR"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Then find the minimum value on the right side. If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𝑖</m:t>
                    </m:r>
                    <m:r>
                      <a:rPr lang="en-US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= </m:t>
                    </m:r>
                    <m:r>
                      <a:rPr lang="en-US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𝑚</m:t>
                    </m:r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then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𝑚𝑖𝑛𝑅𝑖𝑔h𝑡</m:t>
                    </m:r>
                    <m:r>
                      <a:rPr lang="en-US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= </m:t>
                    </m:r>
                    <m:r>
                      <a:rPr lang="en-US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𝐵</m:t>
                    </m:r>
                    <m:r>
                      <a:rPr lang="en-US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[</m:t>
                    </m:r>
                    <m:r>
                      <a:rPr lang="en-US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𝑗</m:t>
                    </m:r>
                    <m:r>
                      <a:rPr lang="en-US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]</m:t>
                    </m:r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; if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𝑗</m:t>
                    </m:r>
                    <m:r>
                      <a:rPr lang="en-US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= </m:t>
                    </m:r>
                    <m:r>
                      <a:rPr lang="en-US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then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𝑚𝑖𝑛𝑅𝑖𝑔h𝑡</m:t>
                    </m:r>
                    <m:r>
                      <a:rPr lang="en-US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= </m:t>
                    </m:r>
                    <m:r>
                      <a:rPr lang="en-US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𝐴</m:t>
                    </m:r>
                    <m:r>
                      <a:rPr lang="en-US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[</m:t>
                    </m:r>
                    <m:r>
                      <a:rPr lang="en-US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𝑖</m:t>
                    </m:r>
                    <m:r>
                      <a:rPr lang="en-US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]</m:t>
                    </m:r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otherwise take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𝑚𝑖𝑛𝑅𝑖𝑔h𝑡</m:t>
                    </m:r>
                    <m:r>
                      <a:rPr lang="en-US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= </m:t>
                    </m:r>
                    <m:r>
                      <m:rPr>
                        <m:sty m:val="p"/>
                      </m:rPr>
                      <a:rPr lang="en-US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min</m:t>
                    </m:r>
                    <m:r>
                      <a:rPr lang="en-US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⁡(</m:t>
                    </m:r>
                    <m:r>
                      <a:rPr lang="en-US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𝐴</m:t>
                    </m:r>
                    <m:r>
                      <a:rPr lang="en-US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[</m:t>
                    </m:r>
                    <m:r>
                      <a:rPr lang="en-US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𝑖</m:t>
                    </m:r>
                    <m:r>
                      <a:rPr lang="en-US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], </m:t>
                    </m:r>
                    <m:r>
                      <a:rPr lang="en-US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𝐵</m:t>
                    </m:r>
                    <m:r>
                      <a:rPr lang="en-US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[</m:t>
                    </m:r>
                    <m:r>
                      <a:rPr lang="en-US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𝑗</m:t>
                    </m:r>
                    <m:r>
                      <a:rPr lang="en-US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])</m:t>
                    </m:r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</a:p>
              <a:p>
                <a:pPr marL="936000" lvl="1" indent="-342900" algn="l">
                  <a:buAutoNum type="alphaLcParenR"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Return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𝑚𝑎𝑥𝐿𝑒𝑓𝑡</m:t>
                    </m:r>
                    <m:r>
                      <a:rPr lang="en-US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+ </m:t>
                    </m:r>
                    <m:r>
                      <a:rPr lang="en-US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𝑚𝑖𝑛𝑅𝑖𝑔h𝑡</m:t>
                    </m:r>
                    <m:r>
                      <a:rPr lang="en-US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 / 2.0</m:t>
                    </m:r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to get the median.</a:t>
                </a: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17AD76F8-0AFD-4C25-8F3D-9D5FCA0BE7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5223" y="1445380"/>
                <a:ext cx="10900372" cy="4247317"/>
              </a:xfrm>
              <a:prstGeom prst="rect">
                <a:avLst/>
              </a:prstGeom>
              <a:blipFill>
                <a:blip r:embed="rId3"/>
                <a:stretch>
                  <a:fillRect l="-447" t="-717" b="-12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3" name="Picture 22">
            <a:extLst>
              <a:ext uri="{FF2B5EF4-FFF2-40B4-BE49-F238E27FC236}">
                <a16:creationId xmlns:a16="http://schemas.microsoft.com/office/drawing/2014/main" id="{A6D3D953-6AA6-421B-B891-94D64502C8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16635" y="1445380"/>
            <a:ext cx="2621937" cy="1694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23954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0E848D-B205-4CDA-80CC-19207E83E6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224"/>
            <a:ext cx="10515600" cy="1325563"/>
          </a:xfrm>
        </p:spPr>
        <p:txBody>
          <a:bodyPr/>
          <a:lstStyle/>
          <a:p>
            <a:r>
              <a:rPr lang="en-US" dirty="0"/>
              <a:t>3</a:t>
            </a:r>
            <a:r>
              <a:rPr lang="en-US" baseline="30000" dirty="0"/>
              <a:t>rd</a:t>
            </a:r>
            <a:r>
              <a:rPr lang="en-US" dirty="0"/>
              <a:t> solution: Array partitioning method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7AD76F8-0AFD-4C25-8F3D-9D5FCA0BE7ED}"/>
              </a:ext>
            </a:extLst>
          </p:cNvPr>
          <p:cNvSpPr txBox="1"/>
          <p:nvPr/>
        </p:nvSpPr>
        <p:spPr>
          <a:xfrm>
            <a:off x="838200" y="1506121"/>
            <a:ext cx="109003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Pseudo code by yourself</a:t>
            </a:r>
          </a:p>
        </p:txBody>
      </p:sp>
    </p:spTree>
    <p:extLst>
      <p:ext uri="{BB962C8B-B14F-4D97-AF65-F5344CB8AC3E}">
        <p14:creationId xmlns:p14="http://schemas.microsoft.com/office/powerpoint/2010/main" val="22492360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0E848D-B205-4CDA-80CC-19207E83E6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Q2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E6306F5-9754-41FE-BC98-0CA56E4DEFF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98454"/>
                <a:ext cx="10515600" cy="4351338"/>
              </a:xfrm>
            </p:spPr>
            <p:txBody>
              <a:bodyPr/>
              <a:lstStyle/>
              <a:p>
                <a:pPr marL="342900" lvl="0" indent="-342900" algn="just">
                  <a:buFont typeface="+mj-lt"/>
                  <a:buAutoNum type="arabicPeriod"/>
                </a:pPr>
                <a:r>
                  <a:rPr lang="en-US" sz="1800" kern="100" dirty="0">
                    <a:effectLst/>
                    <a:latin typeface="Times New Roman" panose="020206030504050203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Design a divide-and-conquer algorithm for the following problem. Analyze the time complexity for your algorithm.</a:t>
                </a:r>
                <a:endParaRPr lang="en-US" sz="1800" kern="1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marL="457200" indent="266700" algn="just"/>
                <a:r>
                  <a:rPr lang="en-US" sz="1800" b="1" kern="100" dirty="0">
                    <a:effectLst/>
                    <a:latin typeface="Times New Roman" panose="020206030504050203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Input</a:t>
                </a:r>
                <a:r>
                  <a:rPr lang="en-US" sz="1800" kern="100" dirty="0">
                    <a:effectLst/>
                    <a:latin typeface="Times New Roman" panose="020206030504050203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: An integer </a:t>
                </a:r>
                <a14:m>
                  <m:oMath xmlns:m="http://schemas.openxmlformats.org/officeDocument/2006/math">
                    <m:r>
                      <a:rPr lang="en-US" sz="1800" i="1" kern="100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𝑥</m:t>
                    </m:r>
                  </m:oMath>
                </a14:m>
                <a:r>
                  <a:rPr lang="en-US" sz="1800" kern="100" dirty="0">
                    <a:effectLst/>
                    <a:latin typeface="Times New Roman" panose="020206030504050203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 and an </a:t>
                </a:r>
                <a14:m>
                  <m:oMath xmlns:m="http://schemas.openxmlformats.org/officeDocument/2006/math">
                    <m:r>
                      <a:rPr lang="en-US" sz="1800" i="1" kern="100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𝑚</m:t>
                    </m:r>
                    <m:r>
                      <a:rPr lang="en-US" sz="1800" i="1" kern="100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sz="1800" i="1" kern="100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𝑛</m:t>
                    </m:r>
                  </m:oMath>
                </a14:m>
                <a:r>
                  <a:rPr lang="en-US" sz="1800" kern="100" dirty="0">
                    <a:effectLst/>
                    <a:latin typeface="Times New Roman" panose="020206030504050203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 integer matrix </a:t>
                </a:r>
                <a14:m>
                  <m:oMath xmlns:m="http://schemas.openxmlformats.org/officeDocument/2006/math">
                    <m:r>
                      <a:rPr lang="en-US" sz="1800" i="1" kern="100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𝑀</m:t>
                    </m:r>
                  </m:oMath>
                </a14:m>
                <a:r>
                  <a:rPr lang="en-US" sz="1800" kern="100" dirty="0">
                    <a:effectLst/>
                    <a:latin typeface="Times New Roman" panose="020206030504050203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 such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𝑀</m:t>
                        </m:r>
                      </m:e>
                      <m:sub>
                        <m: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</m:sSub>
                    <m:r>
                      <a:rPr lang="en-US" sz="1800" i="1" kern="100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&lt;</m:t>
                    </m:r>
                    <m:sSub>
                      <m:sSubPr>
                        <m:ctrlP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𝑀</m:t>
                        </m:r>
                      </m:e>
                      <m:sub>
                        <m: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+1,</m:t>
                        </m:r>
                        <m: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sz="1800" kern="100" dirty="0">
                    <a:effectLst/>
                    <a:latin typeface="Times New Roman" panose="020206030504050203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𝑀</m:t>
                        </m:r>
                      </m:e>
                      <m:sub>
                        <m: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</m:sSub>
                    <m:r>
                      <a:rPr lang="en-US" sz="1800" i="1" kern="100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&lt;</m:t>
                    </m:r>
                    <m:sSub>
                      <m:sSubPr>
                        <m:ctrlP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𝑀</m:t>
                        </m:r>
                      </m:e>
                      <m:sub>
                        <m: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𝑗</m:t>
                        </m:r>
                        <m: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+1</m:t>
                        </m:r>
                      </m:sub>
                    </m:sSub>
                  </m:oMath>
                </a14:m>
                <a:r>
                  <a:rPr lang="en-US" sz="1800" kern="100" dirty="0">
                    <a:effectLst/>
                    <a:latin typeface="Times New Roman" panose="020206030504050203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 for all </a:t>
                </a:r>
                <a14:m>
                  <m:oMath xmlns:m="http://schemas.openxmlformats.org/officeDocument/2006/math">
                    <m:r>
                      <a:rPr lang="en-US" sz="1800" i="1" kern="100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𝑖</m:t>
                    </m:r>
                  </m:oMath>
                </a14:m>
                <a:r>
                  <a:rPr lang="en-US" sz="1800" kern="100" dirty="0">
                    <a:effectLst/>
                    <a:latin typeface="Times New Roman" panose="020206030504050203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1800" i="1" kern="100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𝑗</m:t>
                    </m:r>
                  </m:oMath>
                </a14:m>
                <a:r>
                  <a:rPr lang="en-US" sz="1800" kern="100" dirty="0">
                    <a:effectLst/>
                    <a:latin typeface="Times New Roman" panose="020206030504050203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.</a:t>
                </a:r>
                <a:endParaRPr lang="en-US" sz="1800" kern="1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marL="457200" indent="266700" algn="just"/>
                <a:r>
                  <a:rPr lang="en-US" sz="1800" b="1" kern="100" dirty="0">
                    <a:effectLst/>
                    <a:latin typeface="Times New Roman" panose="020206030504050203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Question</a:t>
                </a:r>
                <a:r>
                  <a:rPr lang="en-US" sz="1800" kern="100" dirty="0">
                    <a:effectLst/>
                    <a:latin typeface="Times New Roman" panose="020206030504050203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: Is </a:t>
                </a:r>
                <a14:m>
                  <m:oMath xmlns:m="http://schemas.openxmlformats.org/officeDocument/2006/math">
                    <m:r>
                      <a:rPr lang="en-US" sz="1800" i="1" kern="100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𝑥</m:t>
                    </m:r>
                  </m:oMath>
                </a14:m>
                <a:r>
                  <a:rPr lang="en-US" sz="1800" kern="100" dirty="0">
                    <a:effectLst/>
                    <a:latin typeface="Times New Roman" panose="020206030504050203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 is an element in </a:t>
                </a:r>
                <a14:m>
                  <m:oMath xmlns:m="http://schemas.openxmlformats.org/officeDocument/2006/math">
                    <m:r>
                      <a:rPr lang="en-US" sz="1800" i="1" kern="100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𝑀</m:t>
                    </m:r>
                  </m:oMath>
                </a14:m>
                <a:r>
                  <a:rPr lang="en-US" sz="1800" kern="100" dirty="0">
                    <a:effectLst/>
                    <a:latin typeface="Times New Roman" panose="020206030504050203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? </a:t>
                </a:r>
                <a:endParaRPr lang="en-US" sz="1800" kern="1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E6306F5-9754-41FE-BC98-0CA56E4DEFF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98454"/>
                <a:ext cx="10515600" cy="4351338"/>
              </a:xfrm>
              <a:blipFill>
                <a:blip r:embed="rId2"/>
                <a:stretch>
                  <a:fillRect l="-406" t="-1401" r="-4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99952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B9D7A2-0322-4333-B804-98EEEF5674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Think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42F2566-D628-49C0-A5C1-7BA4546146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9414" y="2125254"/>
            <a:ext cx="3333750" cy="33147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C005D257-F9B9-40D7-97E3-71517E4B6B5C}"/>
              </a:ext>
            </a:extLst>
          </p:cNvPr>
          <p:cNvSpPr/>
          <p:nvPr/>
        </p:nvSpPr>
        <p:spPr>
          <a:xfrm>
            <a:off x="4200808" y="2181884"/>
            <a:ext cx="733331" cy="724277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F27DE5D-4132-462A-9052-0608ECBFD408}"/>
              </a:ext>
            </a:extLst>
          </p:cNvPr>
          <p:cNvSpPr/>
          <p:nvPr/>
        </p:nvSpPr>
        <p:spPr>
          <a:xfrm>
            <a:off x="5522614" y="2833734"/>
            <a:ext cx="1950550" cy="2606220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3A79F9B-B79B-41EA-A0FF-977C458A5F8E}"/>
              </a:ext>
            </a:extLst>
          </p:cNvPr>
          <p:cNvSpPr/>
          <p:nvPr/>
        </p:nvSpPr>
        <p:spPr>
          <a:xfrm>
            <a:off x="4851148" y="3517862"/>
            <a:ext cx="671466" cy="1922092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5A557A1-76D7-447C-A63E-CD37B44797F5}"/>
              </a:ext>
            </a:extLst>
          </p:cNvPr>
          <p:cNvSpPr txBox="1"/>
          <p:nvPr/>
        </p:nvSpPr>
        <p:spPr>
          <a:xfrm>
            <a:off x="769545" y="1548143"/>
            <a:ext cx="30962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Elements in this part are always smaller than 5.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C4B5818-409C-481F-8212-DF63428586AB}"/>
              </a:ext>
            </a:extLst>
          </p:cNvPr>
          <p:cNvSpPr txBox="1"/>
          <p:nvPr/>
        </p:nvSpPr>
        <p:spPr>
          <a:xfrm>
            <a:off x="8372945" y="5340036"/>
            <a:ext cx="25545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Elements in this part are always bigger than 5</a:t>
            </a:r>
          </a:p>
        </p:txBody>
      </p:sp>
      <p:sp>
        <p:nvSpPr>
          <p:cNvPr id="11" name="Arrow: Left 10">
            <a:extLst>
              <a:ext uri="{FF2B5EF4-FFF2-40B4-BE49-F238E27FC236}">
                <a16:creationId xmlns:a16="http://schemas.microsoft.com/office/drawing/2014/main" id="{4ADE86D4-746F-4CEE-AE7F-8C4E5F20AAD3}"/>
              </a:ext>
            </a:extLst>
          </p:cNvPr>
          <p:cNvSpPr/>
          <p:nvPr/>
        </p:nvSpPr>
        <p:spPr>
          <a:xfrm rot="1685666">
            <a:off x="3147936" y="1978181"/>
            <a:ext cx="660903" cy="407406"/>
          </a:xfrm>
          <a:prstGeom prst="leftArrow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Arrow: Left 11">
            <a:extLst>
              <a:ext uri="{FF2B5EF4-FFF2-40B4-BE49-F238E27FC236}">
                <a16:creationId xmlns:a16="http://schemas.microsoft.com/office/drawing/2014/main" id="{AB32C2EA-EA8C-4968-ACF7-A67853174F5D}"/>
              </a:ext>
            </a:extLst>
          </p:cNvPr>
          <p:cNvSpPr/>
          <p:nvPr/>
        </p:nvSpPr>
        <p:spPr>
          <a:xfrm rot="11951360">
            <a:off x="7521758" y="5369816"/>
            <a:ext cx="660903" cy="407406"/>
          </a:xfrm>
          <a:prstGeom prst="leftArrow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02299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0E848D-B205-4CDA-80CC-19207E83E6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Q2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6306F5-9754-41FE-BC98-0CA56E4DEF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98454"/>
            <a:ext cx="10515600" cy="348453"/>
          </a:xfrm>
        </p:spPr>
        <p:txBody>
          <a:bodyPr/>
          <a:lstStyle/>
          <a:p>
            <a:pPr marL="0" lvl="0" indent="0" algn="just">
              <a:buNone/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Pseudo Code?</a:t>
            </a:r>
            <a:endParaRPr lang="en-US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651546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0E848D-B205-4CDA-80CC-19207E83E6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1206" y="0"/>
            <a:ext cx="10515600" cy="1325563"/>
          </a:xfrm>
        </p:spPr>
        <p:txBody>
          <a:bodyPr/>
          <a:lstStyle/>
          <a:p>
            <a:r>
              <a:rPr lang="en-US" altLang="zh-CN" dirty="0"/>
              <a:t>Lecture 5 Notes Explanation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E5ACC43-5228-4061-872D-F829DA2B33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6676" y="855553"/>
            <a:ext cx="7467600" cy="66675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1A6114D-5C23-4F51-ABF8-2B0340231F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298" y="1744867"/>
            <a:ext cx="5455838" cy="37868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69AB3CA-5BD4-4C61-81DC-CEB6BC26DD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05605" y="1522303"/>
            <a:ext cx="5591097" cy="232774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88E0FBC-5D71-4054-AF60-CC053BB92C9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05466" y="3938718"/>
            <a:ext cx="4750806" cy="2919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974742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0E848D-B205-4CDA-80CC-19207E83E6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1206" y="0"/>
            <a:ext cx="10515600" cy="1325563"/>
          </a:xfrm>
        </p:spPr>
        <p:txBody>
          <a:bodyPr/>
          <a:lstStyle/>
          <a:p>
            <a:r>
              <a:rPr lang="en-US" altLang="zh-CN" dirty="0"/>
              <a:t>Lecture 5 Notes Explanation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E5ACC43-5228-4061-872D-F829DA2B33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8735" y="992188"/>
            <a:ext cx="7467600" cy="66675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11DEE387-A4A4-4FF1-9F20-8D70E2590D31}"/>
              </a:ext>
            </a:extLst>
          </p:cNvPr>
          <p:cNvSpPr/>
          <p:nvPr/>
        </p:nvSpPr>
        <p:spPr>
          <a:xfrm>
            <a:off x="4952246" y="1086416"/>
            <a:ext cx="3313568" cy="572522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1D7468A-2E1A-48D6-95E1-87496EBEDC02}"/>
              </a:ext>
            </a:extLst>
          </p:cNvPr>
          <p:cNvSpPr txBox="1"/>
          <p:nvPr/>
        </p:nvSpPr>
        <p:spPr>
          <a:xfrm>
            <a:off x="8639269" y="1103470"/>
            <a:ext cx="19646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2">
                    <a:lumMod val="75000"/>
                  </a:schemeClr>
                </a:solidFill>
              </a:rPr>
              <a:t>How to compute it?</a:t>
            </a:r>
            <a:endParaRPr lang="en-US" dirty="0">
              <a:solidFill>
                <a:schemeClr val="accent2">
                  <a:lumMod val="75000"/>
                </a:schemeClr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3DC0FCA-6D07-4668-9524-18554CB45A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7418" y="1880465"/>
            <a:ext cx="9343176" cy="46464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939022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0E848D-B205-4CDA-80CC-19207E83E6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1206" y="0"/>
            <a:ext cx="10515600" cy="1325563"/>
          </a:xfrm>
        </p:spPr>
        <p:txBody>
          <a:bodyPr/>
          <a:lstStyle/>
          <a:p>
            <a:r>
              <a:rPr lang="en-US" altLang="zh-CN" dirty="0"/>
              <a:t>Lecture 5 Notes Explanation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E5ACC43-5228-4061-872D-F829DA2B33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8735" y="992188"/>
            <a:ext cx="7467600" cy="66675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11DEE387-A4A4-4FF1-9F20-8D70E2590D31}"/>
              </a:ext>
            </a:extLst>
          </p:cNvPr>
          <p:cNvSpPr/>
          <p:nvPr/>
        </p:nvSpPr>
        <p:spPr>
          <a:xfrm>
            <a:off x="4952246" y="1086416"/>
            <a:ext cx="3313568" cy="572522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1D7468A-2E1A-48D6-95E1-87496EBEDC02}"/>
              </a:ext>
            </a:extLst>
          </p:cNvPr>
          <p:cNvSpPr txBox="1"/>
          <p:nvPr/>
        </p:nvSpPr>
        <p:spPr>
          <a:xfrm>
            <a:off x="8639269" y="1103470"/>
            <a:ext cx="19646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2">
                    <a:lumMod val="75000"/>
                  </a:schemeClr>
                </a:solidFill>
              </a:rPr>
              <a:t>How to compute it?</a:t>
            </a:r>
            <a:endParaRPr lang="en-US" dirty="0">
              <a:solidFill>
                <a:schemeClr val="accent2">
                  <a:lumMod val="75000"/>
                </a:schemeClr>
              </a:solidFill>
            </a:endParaRPr>
          </a:p>
        </p:txBody>
      </p:sp>
      <p:grpSp>
        <p:nvGrpSpPr>
          <p:cNvPr id="87" name="Group 86">
            <a:extLst>
              <a:ext uri="{FF2B5EF4-FFF2-40B4-BE49-F238E27FC236}">
                <a16:creationId xmlns:a16="http://schemas.microsoft.com/office/drawing/2014/main" id="{E0B3399B-B478-41ED-BDE1-2AE12F63BBBA}"/>
              </a:ext>
            </a:extLst>
          </p:cNvPr>
          <p:cNvGrpSpPr/>
          <p:nvPr/>
        </p:nvGrpSpPr>
        <p:grpSpPr>
          <a:xfrm>
            <a:off x="1972026" y="2243719"/>
            <a:ext cx="5174055" cy="2556995"/>
            <a:chOff x="1679418" y="2243719"/>
            <a:chExt cx="5174055" cy="2556995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71F480BA-F748-43F0-9278-E7BB646A0F2A}"/>
                </a:ext>
              </a:extLst>
            </p:cNvPr>
            <p:cNvSpPr/>
            <p:nvPr/>
          </p:nvSpPr>
          <p:spPr>
            <a:xfrm>
              <a:off x="3060071" y="2243720"/>
              <a:ext cx="307818" cy="334978"/>
            </a:xfrm>
            <a:prstGeom prst="ellipse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528EC43B-726A-4EA7-A838-E42097AFD801}"/>
                </a:ext>
              </a:extLst>
            </p:cNvPr>
            <p:cNvSpPr/>
            <p:nvPr/>
          </p:nvSpPr>
          <p:spPr>
            <a:xfrm>
              <a:off x="3548958" y="2243720"/>
              <a:ext cx="307818" cy="334978"/>
            </a:xfrm>
            <a:prstGeom prst="ellipse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2680AAB6-D7C8-434D-B0F8-68BFD71F6FEB}"/>
                </a:ext>
              </a:extLst>
            </p:cNvPr>
            <p:cNvSpPr/>
            <p:nvPr/>
          </p:nvSpPr>
          <p:spPr>
            <a:xfrm>
              <a:off x="4037845" y="2243720"/>
              <a:ext cx="307818" cy="334978"/>
            </a:xfrm>
            <a:prstGeom prst="ellipse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7E9C2F99-629B-4932-89AF-71810FC2FF19}"/>
                </a:ext>
              </a:extLst>
            </p:cNvPr>
            <p:cNvSpPr/>
            <p:nvPr/>
          </p:nvSpPr>
          <p:spPr>
            <a:xfrm>
              <a:off x="4526732" y="2243719"/>
              <a:ext cx="307818" cy="334800"/>
            </a:xfrm>
            <a:prstGeom prst="ellipse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45191F75-4D14-4107-9776-D00C3795BB30}"/>
                </a:ext>
              </a:extLst>
            </p:cNvPr>
            <p:cNvSpPr/>
            <p:nvPr/>
          </p:nvSpPr>
          <p:spPr>
            <a:xfrm>
              <a:off x="4988460" y="2243720"/>
              <a:ext cx="307818" cy="334978"/>
            </a:xfrm>
            <a:prstGeom prst="ellipse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A53EB726-CC6A-4FB5-8CFC-F95B1A98779A}"/>
                </a:ext>
              </a:extLst>
            </p:cNvPr>
            <p:cNvSpPr/>
            <p:nvPr/>
          </p:nvSpPr>
          <p:spPr>
            <a:xfrm>
              <a:off x="5477347" y="2243720"/>
              <a:ext cx="307818" cy="334978"/>
            </a:xfrm>
            <a:prstGeom prst="ellipse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60887EE7-060A-4B7F-B3BC-78228B7947AB}"/>
                </a:ext>
              </a:extLst>
            </p:cNvPr>
            <p:cNvSpPr/>
            <p:nvPr/>
          </p:nvSpPr>
          <p:spPr>
            <a:xfrm>
              <a:off x="5966234" y="2243720"/>
              <a:ext cx="307818" cy="334978"/>
            </a:xfrm>
            <a:prstGeom prst="ellipse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E251655B-B2E4-45B6-8FC3-60CF9854E780}"/>
                </a:ext>
              </a:extLst>
            </p:cNvPr>
            <p:cNvSpPr/>
            <p:nvPr/>
          </p:nvSpPr>
          <p:spPr>
            <a:xfrm>
              <a:off x="6455121" y="2243719"/>
              <a:ext cx="307818" cy="334800"/>
            </a:xfrm>
            <a:prstGeom prst="ellipse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110A69DE-7599-49C6-8980-9C854CA3D773}"/>
                </a:ext>
              </a:extLst>
            </p:cNvPr>
            <p:cNvSpPr/>
            <p:nvPr/>
          </p:nvSpPr>
          <p:spPr>
            <a:xfrm>
              <a:off x="3060071" y="2749206"/>
              <a:ext cx="307818" cy="334978"/>
            </a:xfrm>
            <a:prstGeom prst="ellipse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1652461C-EFC9-4E84-BC91-AB3672264BF5}"/>
                </a:ext>
              </a:extLst>
            </p:cNvPr>
            <p:cNvSpPr/>
            <p:nvPr/>
          </p:nvSpPr>
          <p:spPr>
            <a:xfrm>
              <a:off x="3548958" y="2749206"/>
              <a:ext cx="307818" cy="334978"/>
            </a:xfrm>
            <a:prstGeom prst="ellipse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5EA29BF3-AB10-4126-AF53-E924A8A2291C}"/>
                </a:ext>
              </a:extLst>
            </p:cNvPr>
            <p:cNvSpPr/>
            <p:nvPr/>
          </p:nvSpPr>
          <p:spPr>
            <a:xfrm>
              <a:off x="4037845" y="2749206"/>
              <a:ext cx="307818" cy="334978"/>
            </a:xfrm>
            <a:prstGeom prst="ellipse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64B1E32B-78E2-4F2E-A2C6-3B8105D244CE}"/>
                </a:ext>
              </a:extLst>
            </p:cNvPr>
            <p:cNvSpPr/>
            <p:nvPr/>
          </p:nvSpPr>
          <p:spPr>
            <a:xfrm>
              <a:off x="4526732" y="2749205"/>
              <a:ext cx="307818" cy="334800"/>
            </a:xfrm>
            <a:prstGeom prst="ellipse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004CAC0E-567E-4D27-979D-EAB4C1D543DB}"/>
                </a:ext>
              </a:extLst>
            </p:cNvPr>
            <p:cNvSpPr/>
            <p:nvPr/>
          </p:nvSpPr>
          <p:spPr>
            <a:xfrm>
              <a:off x="4988460" y="2749206"/>
              <a:ext cx="307818" cy="334978"/>
            </a:xfrm>
            <a:prstGeom prst="ellipse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6A1056B0-78D6-428D-963B-D7CE72798B71}"/>
                </a:ext>
              </a:extLst>
            </p:cNvPr>
            <p:cNvSpPr/>
            <p:nvPr/>
          </p:nvSpPr>
          <p:spPr>
            <a:xfrm>
              <a:off x="5477347" y="2749206"/>
              <a:ext cx="307818" cy="334978"/>
            </a:xfrm>
            <a:prstGeom prst="ellipse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4D4388B4-4B1A-405C-87E4-53F30EB342D6}"/>
                </a:ext>
              </a:extLst>
            </p:cNvPr>
            <p:cNvSpPr/>
            <p:nvPr/>
          </p:nvSpPr>
          <p:spPr>
            <a:xfrm>
              <a:off x="5966234" y="2749206"/>
              <a:ext cx="307818" cy="334978"/>
            </a:xfrm>
            <a:prstGeom prst="ellipse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0A40E8BC-3037-4D56-95AC-E16B90F17651}"/>
                </a:ext>
              </a:extLst>
            </p:cNvPr>
            <p:cNvSpPr/>
            <p:nvPr/>
          </p:nvSpPr>
          <p:spPr>
            <a:xfrm>
              <a:off x="6455121" y="2749205"/>
              <a:ext cx="307818" cy="334800"/>
            </a:xfrm>
            <a:prstGeom prst="ellipse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2F3D6B44-4B1B-4AC2-AABD-96A22256CC2F}"/>
                </a:ext>
              </a:extLst>
            </p:cNvPr>
            <p:cNvSpPr/>
            <p:nvPr/>
          </p:nvSpPr>
          <p:spPr>
            <a:xfrm>
              <a:off x="3060071" y="3254514"/>
              <a:ext cx="307818" cy="334978"/>
            </a:xfrm>
            <a:prstGeom prst="ellipse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2C7AE1C7-6268-47BA-9C13-A9CAC5D4706C}"/>
                </a:ext>
              </a:extLst>
            </p:cNvPr>
            <p:cNvSpPr/>
            <p:nvPr/>
          </p:nvSpPr>
          <p:spPr>
            <a:xfrm>
              <a:off x="3548958" y="3254514"/>
              <a:ext cx="307818" cy="334978"/>
            </a:xfrm>
            <a:prstGeom prst="ellipse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E2E94D10-0021-44F1-BB01-AFC76B24CE98}"/>
                </a:ext>
              </a:extLst>
            </p:cNvPr>
            <p:cNvSpPr/>
            <p:nvPr/>
          </p:nvSpPr>
          <p:spPr>
            <a:xfrm>
              <a:off x="4037845" y="3254514"/>
              <a:ext cx="307818" cy="334978"/>
            </a:xfrm>
            <a:prstGeom prst="ellipse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1DA406F1-AA18-46CE-A466-E35065B97F37}"/>
                </a:ext>
              </a:extLst>
            </p:cNvPr>
            <p:cNvSpPr/>
            <p:nvPr/>
          </p:nvSpPr>
          <p:spPr>
            <a:xfrm>
              <a:off x="4526732" y="3254513"/>
              <a:ext cx="307818" cy="334800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S</a:t>
              </a:r>
              <a:endParaRPr lang="en-US" dirty="0"/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D5EFC416-987D-4782-9ED8-99CE20CE1857}"/>
                </a:ext>
              </a:extLst>
            </p:cNvPr>
            <p:cNvSpPr/>
            <p:nvPr/>
          </p:nvSpPr>
          <p:spPr>
            <a:xfrm>
              <a:off x="4988460" y="3254514"/>
              <a:ext cx="307818" cy="334978"/>
            </a:xfrm>
            <a:prstGeom prst="ellipse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43B5D616-BD58-4EBE-BA52-0DBE9B80C60B}"/>
                </a:ext>
              </a:extLst>
            </p:cNvPr>
            <p:cNvSpPr/>
            <p:nvPr/>
          </p:nvSpPr>
          <p:spPr>
            <a:xfrm>
              <a:off x="5477347" y="3254514"/>
              <a:ext cx="307818" cy="334978"/>
            </a:xfrm>
            <a:prstGeom prst="ellipse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3A0B834B-417C-45E5-9867-83F822D65DD0}"/>
                </a:ext>
              </a:extLst>
            </p:cNvPr>
            <p:cNvSpPr/>
            <p:nvPr/>
          </p:nvSpPr>
          <p:spPr>
            <a:xfrm>
              <a:off x="5966234" y="3254514"/>
              <a:ext cx="307818" cy="334978"/>
            </a:xfrm>
            <a:prstGeom prst="ellipse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C1AD7231-F891-4DF8-9C97-A5C979F053AC}"/>
                </a:ext>
              </a:extLst>
            </p:cNvPr>
            <p:cNvSpPr/>
            <p:nvPr/>
          </p:nvSpPr>
          <p:spPr>
            <a:xfrm>
              <a:off x="6455121" y="3254513"/>
              <a:ext cx="307818" cy="334800"/>
            </a:xfrm>
            <a:prstGeom prst="ellipse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8737693D-3CAA-4BEF-BB33-1B2BE2256477}"/>
                </a:ext>
              </a:extLst>
            </p:cNvPr>
            <p:cNvSpPr/>
            <p:nvPr/>
          </p:nvSpPr>
          <p:spPr>
            <a:xfrm>
              <a:off x="3060071" y="3759644"/>
              <a:ext cx="307818" cy="334978"/>
            </a:xfrm>
            <a:prstGeom prst="ellipse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FDAA3CCD-E83A-4802-83A8-DD83403C849A}"/>
                </a:ext>
              </a:extLst>
            </p:cNvPr>
            <p:cNvSpPr/>
            <p:nvPr/>
          </p:nvSpPr>
          <p:spPr>
            <a:xfrm>
              <a:off x="3548958" y="3759644"/>
              <a:ext cx="307818" cy="334978"/>
            </a:xfrm>
            <a:prstGeom prst="ellipse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EE418163-3AB1-41DB-9B2A-E5B6444FAEED}"/>
                </a:ext>
              </a:extLst>
            </p:cNvPr>
            <p:cNvSpPr/>
            <p:nvPr/>
          </p:nvSpPr>
          <p:spPr>
            <a:xfrm>
              <a:off x="4037845" y="3759644"/>
              <a:ext cx="307818" cy="334978"/>
            </a:xfrm>
            <a:prstGeom prst="ellipse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9143F093-3FD6-4503-A2AE-DAED5273F029}"/>
                </a:ext>
              </a:extLst>
            </p:cNvPr>
            <p:cNvSpPr/>
            <p:nvPr/>
          </p:nvSpPr>
          <p:spPr>
            <a:xfrm>
              <a:off x="4526732" y="3759643"/>
              <a:ext cx="307818" cy="334800"/>
            </a:xfrm>
            <a:prstGeom prst="ellipse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7AA5BEC3-17EC-49EC-AE58-225BB552CCC5}"/>
                </a:ext>
              </a:extLst>
            </p:cNvPr>
            <p:cNvSpPr/>
            <p:nvPr/>
          </p:nvSpPr>
          <p:spPr>
            <a:xfrm>
              <a:off x="4988460" y="3759644"/>
              <a:ext cx="307818" cy="334978"/>
            </a:xfrm>
            <a:prstGeom prst="ellipse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0D260237-57DC-468C-9465-572B6A1F8ED1}"/>
                </a:ext>
              </a:extLst>
            </p:cNvPr>
            <p:cNvSpPr/>
            <p:nvPr/>
          </p:nvSpPr>
          <p:spPr>
            <a:xfrm>
              <a:off x="5477347" y="3759644"/>
              <a:ext cx="307818" cy="334978"/>
            </a:xfrm>
            <a:prstGeom prst="ellipse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2AE9A71B-4620-47F8-9CF1-BDAAB1B4EA7D}"/>
                </a:ext>
              </a:extLst>
            </p:cNvPr>
            <p:cNvSpPr/>
            <p:nvPr/>
          </p:nvSpPr>
          <p:spPr>
            <a:xfrm>
              <a:off x="5966234" y="3759644"/>
              <a:ext cx="307818" cy="334978"/>
            </a:xfrm>
            <a:prstGeom prst="ellipse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5F86E0FD-BE03-4209-AC16-68F3E970C5F7}"/>
                </a:ext>
              </a:extLst>
            </p:cNvPr>
            <p:cNvSpPr/>
            <p:nvPr/>
          </p:nvSpPr>
          <p:spPr>
            <a:xfrm>
              <a:off x="6455121" y="3759643"/>
              <a:ext cx="307818" cy="334800"/>
            </a:xfrm>
            <a:prstGeom prst="ellipse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Oval 62">
              <a:extLst>
                <a:ext uri="{FF2B5EF4-FFF2-40B4-BE49-F238E27FC236}">
                  <a16:creationId xmlns:a16="http://schemas.microsoft.com/office/drawing/2014/main" id="{1743AA9C-D8D6-4A08-8E3C-9FC35B97A0A6}"/>
                </a:ext>
              </a:extLst>
            </p:cNvPr>
            <p:cNvSpPr/>
            <p:nvPr/>
          </p:nvSpPr>
          <p:spPr>
            <a:xfrm>
              <a:off x="3060071" y="4264596"/>
              <a:ext cx="307818" cy="334978"/>
            </a:xfrm>
            <a:prstGeom prst="ellipse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199B5089-552A-45F5-8155-1E64CB0319C5}"/>
                </a:ext>
              </a:extLst>
            </p:cNvPr>
            <p:cNvSpPr/>
            <p:nvPr/>
          </p:nvSpPr>
          <p:spPr>
            <a:xfrm>
              <a:off x="3548958" y="4264596"/>
              <a:ext cx="307818" cy="334978"/>
            </a:xfrm>
            <a:prstGeom prst="ellipse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Oval 64">
              <a:extLst>
                <a:ext uri="{FF2B5EF4-FFF2-40B4-BE49-F238E27FC236}">
                  <a16:creationId xmlns:a16="http://schemas.microsoft.com/office/drawing/2014/main" id="{34AEBB1F-652E-42DA-B470-55A8302956C7}"/>
                </a:ext>
              </a:extLst>
            </p:cNvPr>
            <p:cNvSpPr/>
            <p:nvPr/>
          </p:nvSpPr>
          <p:spPr>
            <a:xfrm>
              <a:off x="4037845" y="4264596"/>
              <a:ext cx="307818" cy="334978"/>
            </a:xfrm>
            <a:prstGeom prst="ellipse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Oval 65">
              <a:extLst>
                <a:ext uri="{FF2B5EF4-FFF2-40B4-BE49-F238E27FC236}">
                  <a16:creationId xmlns:a16="http://schemas.microsoft.com/office/drawing/2014/main" id="{72AF8D02-5B0C-47F4-969E-C476A10B8E68}"/>
                </a:ext>
              </a:extLst>
            </p:cNvPr>
            <p:cNvSpPr/>
            <p:nvPr/>
          </p:nvSpPr>
          <p:spPr>
            <a:xfrm>
              <a:off x="4526732" y="4264595"/>
              <a:ext cx="307818" cy="334800"/>
            </a:xfrm>
            <a:prstGeom prst="ellipse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48885AAC-1ABE-46E6-A8BE-2599CAC0F5D9}"/>
                </a:ext>
              </a:extLst>
            </p:cNvPr>
            <p:cNvSpPr/>
            <p:nvPr/>
          </p:nvSpPr>
          <p:spPr>
            <a:xfrm>
              <a:off x="4988460" y="4264596"/>
              <a:ext cx="307818" cy="334978"/>
            </a:xfrm>
            <a:prstGeom prst="ellipse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Oval 67">
              <a:extLst>
                <a:ext uri="{FF2B5EF4-FFF2-40B4-BE49-F238E27FC236}">
                  <a16:creationId xmlns:a16="http://schemas.microsoft.com/office/drawing/2014/main" id="{2C163652-923D-4BFB-BA2F-A97A12909821}"/>
                </a:ext>
              </a:extLst>
            </p:cNvPr>
            <p:cNvSpPr/>
            <p:nvPr/>
          </p:nvSpPr>
          <p:spPr>
            <a:xfrm>
              <a:off x="5477347" y="4264596"/>
              <a:ext cx="307818" cy="334978"/>
            </a:xfrm>
            <a:prstGeom prst="ellipse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Oval 68">
              <a:extLst>
                <a:ext uri="{FF2B5EF4-FFF2-40B4-BE49-F238E27FC236}">
                  <a16:creationId xmlns:a16="http://schemas.microsoft.com/office/drawing/2014/main" id="{84F4ACB8-E237-43C9-A3BB-9E8DF8059CB3}"/>
                </a:ext>
              </a:extLst>
            </p:cNvPr>
            <p:cNvSpPr/>
            <p:nvPr/>
          </p:nvSpPr>
          <p:spPr>
            <a:xfrm>
              <a:off x="5966234" y="4264596"/>
              <a:ext cx="307818" cy="334978"/>
            </a:xfrm>
            <a:prstGeom prst="ellipse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00A163AD-C091-4F28-B495-2688CC5B2CD6}"/>
                </a:ext>
              </a:extLst>
            </p:cNvPr>
            <p:cNvSpPr txBox="1"/>
            <p:nvPr/>
          </p:nvSpPr>
          <p:spPr>
            <a:xfrm>
              <a:off x="1679418" y="3219981"/>
              <a:ext cx="114073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/>
                <a:t>medians</a:t>
              </a:r>
              <a:endParaRPr lang="en-US" b="1" dirty="0"/>
            </a:p>
          </p:txBody>
        </p: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F268B710-BFEE-422F-B940-BB21B564C6D5}"/>
                </a:ext>
              </a:extLst>
            </p:cNvPr>
            <p:cNvCxnSpPr/>
            <p:nvPr/>
          </p:nvCxnSpPr>
          <p:spPr>
            <a:xfrm>
              <a:off x="4916032" y="3180714"/>
              <a:ext cx="1937441" cy="0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5F86EE4E-2ED7-4458-97AB-13870AFDCC0F}"/>
                </a:ext>
              </a:extLst>
            </p:cNvPr>
            <p:cNvCxnSpPr/>
            <p:nvPr/>
          </p:nvCxnSpPr>
          <p:spPr>
            <a:xfrm>
              <a:off x="6853473" y="3180714"/>
              <a:ext cx="0" cy="1620000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1EA388A0-1F3A-45D0-9236-7D60343D50B1}"/>
                </a:ext>
              </a:extLst>
            </p:cNvPr>
            <p:cNvCxnSpPr>
              <a:cxnSpLocks/>
            </p:cNvCxnSpPr>
            <p:nvPr/>
          </p:nvCxnSpPr>
          <p:spPr>
            <a:xfrm>
              <a:off x="4425635" y="3649986"/>
              <a:ext cx="0" cy="1150728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34B2710E-2EE6-4DBC-A90E-B535E2791572}"/>
                </a:ext>
              </a:extLst>
            </p:cNvPr>
            <p:cNvCxnSpPr>
              <a:cxnSpLocks/>
            </p:cNvCxnSpPr>
            <p:nvPr/>
          </p:nvCxnSpPr>
          <p:spPr>
            <a:xfrm>
              <a:off x="4425635" y="4800714"/>
              <a:ext cx="2427838" cy="0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4C2CC50A-2462-4EBE-9C84-539FF64E4BB5}"/>
                </a:ext>
              </a:extLst>
            </p:cNvPr>
            <p:cNvCxnSpPr>
              <a:cxnSpLocks/>
            </p:cNvCxnSpPr>
            <p:nvPr/>
          </p:nvCxnSpPr>
          <p:spPr>
            <a:xfrm>
              <a:off x="4425635" y="3649986"/>
              <a:ext cx="490397" cy="0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C9D9FB1A-6F70-421C-8FBD-6AAC772C3889}"/>
                </a:ext>
              </a:extLst>
            </p:cNvPr>
            <p:cNvCxnSpPr>
              <a:cxnSpLocks/>
            </p:cNvCxnSpPr>
            <p:nvPr/>
          </p:nvCxnSpPr>
          <p:spPr>
            <a:xfrm>
              <a:off x="4916032" y="3180714"/>
              <a:ext cx="0" cy="469272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72917800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872FE0-88F3-45BB-8414-396B1B0E5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B47A92-5D2C-4875-A518-E8FEBB62BE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>
                <a:hlinkClick r:id="rId2"/>
              </a:rPr>
              <a:t>LeetCode004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75922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6849</TotalTime>
  <Words>2282</Words>
  <Application>Microsoft Office PowerPoint</Application>
  <PresentationFormat>Widescreen</PresentationFormat>
  <Paragraphs>178</Paragraphs>
  <Slides>21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9" baseType="lpstr">
      <vt:lpstr>-apple-system</vt:lpstr>
      <vt:lpstr>等线</vt:lpstr>
      <vt:lpstr>Arial</vt:lpstr>
      <vt:lpstr>Calibri</vt:lpstr>
      <vt:lpstr>Calibri Light</vt:lpstr>
      <vt:lpstr>Cambria Math</vt:lpstr>
      <vt:lpstr>Times New Roman</vt:lpstr>
      <vt:lpstr>Office Theme</vt:lpstr>
      <vt:lpstr>Tutorial 4 + Notes</vt:lpstr>
      <vt:lpstr>Q1</vt:lpstr>
      <vt:lpstr>1st solution: Brute force</vt:lpstr>
      <vt:lpstr>2nd solution: Merging process of MergeSort</vt:lpstr>
      <vt:lpstr>3rd solution: Array partitioning method</vt:lpstr>
      <vt:lpstr>3rd solution: Array partitioning method</vt:lpstr>
      <vt:lpstr>3rd solution: Array partitioning method</vt:lpstr>
      <vt:lpstr>3rd solution: Array partitioning method</vt:lpstr>
      <vt:lpstr>3rd solution: Array partitioning method</vt:lpstr>
      <vt:lpstr>3rd solution: Array partitioning method</vt:lpstr>
      <vt:lpstr>3rd solution: Array partitioning method</vt:lpstr>
      <vt:lpstr>3rd solution: Array partitioning method</vt:lpstr>
      <vt:lpstr>3rd solution: Array partitioning method</vt:lpstr>
      <vt:lpstr>3rd solution: Array partitioning method</vt:lpstr>
      <vt:lpstr>Q2</vt:lpstr>
      <vt:lpstr>Think</vt:lpstr>
      <vt:lpstr>Q2</vt:lpstr>
      <vt:lpstr>Lecture 5 Notes Explanation</vt:lpstr>
      <vt:lpstr>Lecture 5 Notes Explanation</vt:lpstr>
      <vt:lpstr>Lecture 5 Notes Explanation</vt:lpstr>
      <vt:lpstr>Reference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Tutorial 2 notes</dc:title>
  <dc:creator>UIC</dc:creator>
  <cp:lastModifiedBy>UIC</cp:lastModifiedBy>
  <cp:revision>67</cp:revision>
  <cp:lastPrinted>2025-03-20T02:46:46Z</cp:lastPrinted>
  <dcterms:created xsi:type="dcterms:W3CDTF">2025-02-28T06:29:05Z</dcterms:created>
  <dcterms:modified xsi:type="dcterms:W3CDTF">2026-03-23T08:48:30Z</dcterms:modified>
</cp:coreProperties>
</file>