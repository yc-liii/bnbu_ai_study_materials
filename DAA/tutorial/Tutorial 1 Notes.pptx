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IC" initials="U" lastIdx="2" clrIdx="0">
    <p:extLst>
      <p:ext uri="{19B8F6BF-5375-455C-9EA6-DF929625EA0E}">
        <p15:presenceInfo xmlns:p15="http://schemas.microsoft.com/office/powerpoint/2012/main" userId="UI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5DA42-981C-403E-A3E7-72FC86F8B36C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4E19A-862A-49E6-9948-B580EA81D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53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尝试用每一个满足条件的正整数</a:t>
            </a:r>
            <a:r>
              <a:rPr lang="en-US" altLang="zh-CN" dirty="0"/>
              <a:t>a</a:t>
            </a:r>
            <a:r>
              <a:rPr lang="zh-CN" altLang="en-US" dirty="0"/>
              <a:t>来分解</a:t>
            </a:r>
            <a:r>
              <a:rPr lang="en-US" altLang="zh-CN" dirty="0"/>
              <a:t>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4E19A-862A-49E6-9948-B580EA81DC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30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强调一下写伪代码时必须要有规整的格式。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4E19A-862A-49E6-9948-B580EA81DC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56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94F8C-1B9D-46A5-BD84-CFB6A6854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070F0-ABE6-49D2-A2DC-F009ECDD0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3559B-4B48-4B48-8348-C9AB817E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71796-430F-4676-89A8-8DCC831F3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33282-AA71-4314-9FF3-97F22216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5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3089-6BA7-4714-BBD8-92C76C31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DE2C4-E4DE-4511-92C6-7A49FD4CF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31C04-018C-4BA1-9B67-30648C6A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C7CD7-B087-4005-9B1D-E52A6C12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019E-0D80-47CB-A057-17C9CA0E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5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A2F2-0586-4740-A858-E74484184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B3F27-9A89-45AC-BD47-7EC05539E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2B68B-EAED-4E4B-8C54-60FFBD9C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A3BEF-8567-409B-A780-20D9552D1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BE571-AFB1-4C8C-A7B4-7ADBF710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7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78AA-4C36-4E4B-9723-CD6630FA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0B20-CE60-4403-A95B-02F81FB18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2CAE8-0850-430A-BFF2-55F1D99FC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D3F25-0E91-45E4-8384-F3D4F949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99EC0-BD02-4680-B7FE-F26EB720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7151C-DCD0-4A16-9CD7-884AD2D3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8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969C-45BD-4832-9969-8DF32B4AF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491FF-D9AC-471C-9E17-39681ADE2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F4236-DB47-4203-B358-21EA51E08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2CD04-A049-4156-ACEC-5480AA31B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37B07-DF67-4E80-BB12-EB1F7C15C8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CD8327-D03F-4E6B-BA56-0214EF86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0BF9D-D7D6-4745-B4BB-F99A809A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E364B-1AEF-44E2-9807-FF7BEAE3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3BE6B-DC83-4538-9AB0-3845ECA73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A7DD9-5761-4164-AE63-B80EE6F5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F4C130-0048-4421-9B13-2003D027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6063E-5251-4E89-BBCB-7E12709A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1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84E24F-339B-4C65-9D75-77AC50B6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D6C80-F1FA-4BF8-A254-FEB60DF2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DCDEA-ED42-4D54-A8F6-172EE345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B33B-C1CC-4433-833D-F31C70DE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A47F3-584E-4213-8880-4961DF072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CA326-2108-4016-A058-90A80AC45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2FDAC-EE52-494E-860D-5B94E173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DF4C6-4A65-40AF-8FF6-E4937F417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40778-F6C5-4DB6-A4B5-5F4E6CA5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1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50E0-DF5C-4288-9A6D-B888BA16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294CE-BE3F-4D28-AC56-2A92AEC398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07349-E31B-4AC9-BE0D-FB201BDDC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22EEF-0D9E-49C2-8B79-94439D8A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5DA9F-F78E-4983-A05F-2C7E498BF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EF2DB-44FC-4773-96B6-2F81AC78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7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75A9-9C2C-4B21-AC5D-C6004AA88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2771D-7ECC-4213-B1AE-BA95EF338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DF6B-8282-4947-AFF3-BBA5FE3D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90C44-400E-4302-BC41-72E4B541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7D84A-EBFF-467D-9E72-16F8B111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DC7BE-F7AF-4CDF-AB3F-D22550247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386F0-FC93-43E4-AC59-94B09E6FA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4945-C74C-40AE-9375-80A71CDA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B8279-7E8F-4446-8D6F-D724A10F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0911D-BC60-4ADC-B183-97AFBF6A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48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BD122A-36FF-40EA-8DF5-426B57A7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973D1-2A09-4A57-9DFF-62070AFB8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1692A-CE1B-4CBD-8369-CF1D58217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44CBF-90CB-4559-9798-FEB5779E8B92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ED34F-962B-4185-A965-AD1E03449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307B4-E2E0-4A49-86EA-C9B407A76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34AB0-6A99-4825-97A2-0FE7412AE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3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A36-D471-4F6B-B2F8-79634F0D9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Tutorial 1 Notes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05BEA-FB59-4716-B1A9-63AEEED0AC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82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68B02-42A4-42EC-AA9C-6C3B583FB145}"/>
              </a:ext>
            </a:extLst>
          </p:cNvPr>
          <p:cNvSpPr txBox="1"/>
          <p:nvPr/>
        </p:nvSpPr>
        <p:spPr>
          <a:xfrm>
            <a:off x="4874003" y="2801923"/>
            <a:ext cx="1686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Q1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41976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CF8F-94FF-4815-AEEF-3DB940B6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– Understand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7E7AA-87B2-4894-AE8C-F6216DE1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What’s a prime?</a:t>
            </a:r>
          </a:p>
          <a:p>
            <a:pPr lvl="1"/>
            <a:r>
              <a:rPr lang="en-US" dirty="0"/>
              <a:t>A prime number is a positive integer greater than 1 that has no positive divisors other than 1 and itself.</a:t>
            </a:r>
          </a:p>
          <a:p>
            <a:pPr lvl="1"/>
            <a:r>
              <a:rPr lang="en-US" dirty="0"/>
              <a:t>Example: 7 is a prime number because its only divisors are 1 and 7.</a:t>
            </a:r>
          </a:p>
          <a:p>
            <a:pPr lvl="1"/>
            <a:r>
              <a:rPr lang="en-US" dirty="0"/>
              <a:t>Other examples: 2, 3, 5, 7, 11, 13, 17, 19, 23, …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0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98A5-F4B1-4446-A045-9DF6B068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2- How do you find a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4E41F-F3D3-4F87-AD4D-A1F150C1EB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Convert the problem into description of input and output.</a:t>
                </a:r>
              </a:p>
              <a:p>
                <a:pPr lvl="1"/>
                <a:r>
                  <a:rPr lang="en-US" dirty="0"/>
                  <a:t>Input: a positive integer </a:t>
                </a:r>
                <a14:m>
                  <m:oMath xmlns:m="http://schemas.openxmlformats.org/officeDocument/2006/math">
                    <m:r>
                      <a:rPr lang="en-US" sz="1800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Output: "Yes" if </a:t>
                </a:r>
                <a14:m>
                  <m:oMath xmlns:m="http://schemas.openxmlformats.org/officeDocument/2006/math">
                    <m:r>
                      <a:rPr lang="en-US" sz="1800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lang="en-US" sz="1800" i="1" kern="12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lang="en-US" dirty="0"/>
                  <a:t> is prime; "No" otherwise.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F4E41F-F3D3-4F87-AD4D-A1F150C1EB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80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7D45-89C7-4214-8EB6-F11DDF4D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– High-level thinking and 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A8FF61-6900-47C3-9C2B-C0D1B8162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Try to factor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by every positive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Test 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: Check divisibility by 2, 3 (since 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≈3.16</m:t>
                    </m:r>
                  </m:oMath>
                </a14:m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).</a:t>
                </a:r>
              </a:p>
              <a:p>
                <a:pPr marL="914400" lvl="2" indent="0">
                  <a:buNone/>
                </a:pPr>
                <a:r>
                  <a:rPr lang="en-US" b="0" i="0" dirty="0">
                    <a:solidFill>
                      <a:srgbClr val="404040"/>
                    </a:solidFill>
                    <a:effectLst/>
                    <a:latin typeface="KaTeX_Main"/>
                  </a:rPr>
                  <a:t>10</a:t>
                </a:r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 is divisible by 2 → </a:t>
                </a:r>
                <a:r>
                  <a:rPr lang="en-US" b="1" i="0" dirty="0">
                    <a:solidFill>
                      <a:srgbClr val="404040"/>
                    </a:solidFill>
                    <a:effectLst/>
                    <a:latin typeface="Inter"/>
                  </a:rPr>
                  <a:t>Not prime</a:t>
                </a:r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.</a:t>
                </a:r>
              </a:p>
              <a:p>
                <a:pPr lvl="1"/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Test 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: Check divisibility by 2, 3 (since 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solidFill>
                              <a:srgbClr val="40404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a:rPr lang="en-US" b="0" i="1" dirty="0" smtClean="0">
                        <a:solidFill>
                          <a:srgbClr val="404040"/>
                        </a:solidFill>
                        <a:effectLst/>
                        <a:latin typeface="Cambria Math" panose="02040503050406030204" pitchFamily="18" charset="0"/>
                      </a:rPr>
                      <m:t>≈3.613​≈3.6</m:t>
                    </m:r>
                  </m:oMath>
                </a14:m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).</a:t>
                </a:r>
              </a:p>
              <a:p>
                <a:pPr marL="914400" lvl="2" indent="0">
                  <a:buNone/>
                </a:pPr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No divisors found → </a:t>
                </a:r>
                <a:r>
                  <a:rPr lang="en-US" b="1" i="0" dirty="0">
                    <a:solidFill>
                      <a:srgbClr val="404040"/>
                    </a:solidFill>
                    <a:effectLst/>
                    <a:latin typeface="Inter"/>
                  </a:rPr>
                  <a:t>Prime</a:t>
                </a:r>
                <a:r>
                  <a:rPr lang="en-US" b="0" i="0" dirty="0">
                    <a:solidFill>
                      <a:srgbClr val="404040"/>
                    </a:solidFill>
                    <a:effectLst/>
                    <a:latin typeface="Inter"/>
                  </a:rPr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Think: What is the typical approach to solving this?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A8FF61-6900-47C3-9C2B-C0D1B8162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262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3A18-579B-4F24-A785-16C3D462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– Work out the pseudo code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FAB218-5918-4F0C-A854-5D1EF98CE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61687"/>
            <a:ext cx="2021472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E4A21-DBDE-43F4-B586-71C30931F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000" y="1455298"/>
            <a:ext cx="5892156" cy="452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366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68B02-42A4-42EC-AA9C-6C3B583FB145}"/>
              </a:ext>
            </a:extLst>
          </p:cNvPr>
          <p:cNvSpPr txBox="1"/>
          <p:nvPr/>
        </p:nvSpPr>
        <p:spPr>
          <a:xfrm>
            <a:off x="4874003" y="2801923"/>
            <a:ext cx="1686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Q2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1357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712A-DA90-406C-B6BF-086B82CF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892D0-8ED9-4FB1-B9A1-70C624BE6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124938"/>
              </a:xfrm>
            </p:spPr>
            <p:txBody>
              <a:bodyPr/>
              <a:lstStyle/>
              <a:p>
                <a:r>
                  <a:rPr lang="en-US" dirty="0"/>
                  <a:t>How to Justify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892D0-8ED9-4FB1-B9A1-70C624BE6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124938"/>
              </a:xfrm>
              <a:blipFill>
                <a:blip r:embed="rId2"/>
                <a:stretch>
                  <a:fillRect l="-1043" t="-4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D589D8-FE80-4C3F-9CCB-150B7AC24F39}"/>
              </a:ext>
            </a:extLst>
          </p:cNvPr>
          <p:cNvSpPr txBox="1"/>
          <p:nvPr/>
        </p:nvSpPr>
        <p:spPr>
          <a:xfrm>
            <a:off x="665825" y="2716567"/>
            <a:ext cx="1011462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0">
              <a:buNone/>
            </a:pPr>
            <a:r>
              <a:rPr lang="en-US" sz="2000" dirty="0"/>
              <a:t>Step 1: Think about “Is the conclusion correct?”</a:t>
            </a:r>
          </a:p>
          <a:p>
            <a:pPr marL="457200" lvl="1" indent="0">
              <a:buNone/>
            </a:pPr>
            <a:r>
              <a:rPr lang="en-US" sz="2000" dirty="0"/>
              <a:t>Step 2: If it is, use definitions, laws and theorems taught to justify.</a:t>
            </a:r>
          </a:p>
          <a:p>
            <a:pPr marL="457200" lvl="1" indent="0">
              <a:buNone/>
            </a:pPr>
            <a:r>
              <a:rPr lang="en-US" sz="2000" dirty="0"/>
              <a:t>Step 3. If not, take a counterexample.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F1E83-4542-46FE-B726-889CC150A290}"/>
              </a:ext>
            </a:extLst>
          </p:cNvPr>
          <p:cNvSpPr txBox="1"/>
          <p:nvPr/>
        </p:nvSpPr>
        <p:spPr>
          <a:xfrm>
            <a:off x="1120065" y="4184681"/>
            <a:ext cx="10114626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2800" kern="12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Note that we can determine the correctness of this conclusion by using L’ Hospital’ s Rule (In some specific situations) or considering extreme examples, etc.</a:t>
            </a:r>
            <a:endParaRPr lang="en-US" sz="28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2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4CE2-3EB1-48F6-A00A-7A7756A4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Q2a.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1F5-4AF4-4BAF-BDC0-9C6F0A8CC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Yes. The conclusion is correct.</a:t>
            </a:r>
          </a:p>
          <a:p>
            <a:r>
              <a:rPr lang="en-US" dirty="0"/>
              <a:t>Using definitions, laws and theorems to prove it.</a:t>
            </a:r>
          </a:p>
        </p:txBody>
      </p:sp>
    </p:spTree>
    <p:extLst>
      <p:ext uri="{BB962C8B-B14F-4D97-AF65-F5344CB8AC3E}">
        <p14:creationId xmlns:p14="http://schemas.microsoft.com/office/powerpoint/2010/main" val="209238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9D57-5CC6-4102-8ED5-BA8B5E435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C8A45-98B1-4B7A-8A33-2883EBC7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No. It’s incorrect. And Take a counterexample.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EC45B-806E-478C-95A4-D58FD96785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67"/>
          <a:stretch/>
        </p:blipFill>
        <p:spPr>
          <a:xfrm>
            <a:off x="1113453" y="2476870"/>
            <a:ext cx="5080189" cy="232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6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2693-7BC8-4619-B50B-0B4728664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015CD-8F9D-45DC-8CF4-5F474A110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No. It’s incorrect. And Take a counterexample by yourself.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377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68B02-42A4-42EC-AA9C-6C3B583FB145}"/>
              </a:ext>
            </a:extLst>
          </p:cNvPr>
          <p:cNvSpPr txBox="1"/>
          <p:nvPr/>
        </p:nvSpPr>
        <p:spPr>
          <a:xfrm>
            <a:off x="4874003" y="2801923"/>
            <a:ext cx="1686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Q3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91045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5327-733D-4112-872B-BF1030A7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knowledge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5E527-CE3B-4E87-8B26-85FDBACF7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07" y="1776412"/>
            <a:ext cx="82677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432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734B-A54F-4227-AE1E-1DC2CDE57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EB635-7FEF-4852-8922-69A2B0B81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question like “Solving the recurrence relations”,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-apple-system"/>
              </a:rPr>
              <a:t>i</a:t>
            </a:r>
            <a:r>
              <a:rPr lang="en-US" b="1" i="0" dirty="0">
                <a:solidFill>
                  <a:srgbClr val="FF0000"/>
                </a:solidFill>
                <a:effectLst/>
                <a:latin typeface="-apple-system"/>
              </a:rPr>
              <a:t>t is NOT permissible to directly apply the master theorem in our exercise, homework assignments, etc.; an iterative approach must be used.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064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414</Words>
  <Application>Microsoft Office PowerPoint</Application>
  <PresentationFormat>Widescreen</PresentationFormat>
  <Paragraphs>44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-apple-system</vt:lpstr>
      <vt:lpstr>Inter</vt:lpstr>
      <vt:lpstr>KaTeX_Main</vt:lpstr>
      <vt:lpstr>Arial</vt:lpstr>
      <vt:lpstr>Calibri</vt:lpstr>
      <vt:lpstr>Calibri Light</vt:lpstr>
      <vt:lpstr>Cambria Math</vt:lpstr>
      <vt:lpstr>Office Theme</vt:lpstr>
      <vt:lpstr>Tutorial 1 Notes</vt:lpstr>
      <vt:lpstr>PowerPoint Presentation</vt:lpstr>
      <vt:lpstr>Step 1 – Understand the problem</vt:lpstr>
      <vt:lpstr>Step 2- How do you find a solution?</vt:lpstr>
      <vt:lpstr>Step 3 – High-level thinking and presentation</vt:lpstr>
      <vt:lpstr>Step 4 – Work out the pseudo code</vt:lpstr>
      <vt:lpstr>PowerPoint Presentation</vt:lpstr>
      <vt:lpstr>Analysis</vt:lpstr>
      <vt:lpstr>Q2a. </vt:lpstr>
      <vt:lpstr>Q2b</vt:lpstr>
      <vt:lpstr>Q2c</vt:lpstr>
      <vt:lpstr>PowerPoint Presentation</vt:lpstr>
      <vt:lpstr>Prior knowledge</vt:lpstr>
      <vt:lpstr>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</dc:title>
  <dc:creator>UIC</dc:creator>
  <cp:lastModifiedBy>UIC</cp:lastModifiedBy>
  <cp:revision>9</cp:revision>
  <dcterms:created xsi:type="dcterms:W3CDTF">2025-02-17T02:24:05Z</dcterms:created>
  <dcterms:modified xsi:type="dcterms:W3CDTF">2025-03-10T01:17:27Z</dcterms:modified>
</cp:coreProperties>
</file>