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69" r:id="rId4"/>
    <p:sldId id="268" r:id="rId5"/>
    <p:sldId id="271" r:id="rId6"/>
    <p:sldId id="272" r:id="rId7"/>
  </p:sldIdLst>
  <p:sldSz cx="12192000" cy="6858000"/>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67206-308B-4FB3-A1D0-FBD29EC9CB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07C3FC-3199-4D4A-84B7-6AE0257A35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17DF05-253A-46C8-9789-AAEB36B12FA8}"/>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5" name="Footer Placeholder 4">
            <a:extLst>
              <a:ext uri="{FF2B5EF4-FFF2-40B4-BE49-F238E27FC236}">
                <a16:creationId xmlns:a16="http://schemas.microsoft.com/office/drawing/2014/main" id="{E7C4996E-5A3A-4C98-B525-54567BAF2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E796C-4A60-4EF1-AADC-D3637DD83937}"/>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1230350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17EB-BC1A-4BAA-B89A-7B2129EBC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5536D1-2802-440C-A3A9-C26889E20E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31CA85-53C7-40FB-A65A-BBBA3A110F66}"/>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5" name="Footer Placeholder 4">
            <a:extLst>
              <a:ext uri="{FF2B5EF4-FFF2-40B4-BE49-F238E27FC236}">
                <a16:creationId xmlns:a16="http://schemas.microsoft.com/office/drawing/2014/main" id="{E31CF7F0-6247-4599-BB37-EDEEC87A96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5B64E-B175-4EB1-8C8F-E0922D4C7EB9}"/>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165851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5304B-411F-4558-833A-E270BEA40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C565CB-4DE0-44CE-A1F8-65EBCEA0EE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74715C-2D2D-4629-8416-FB6AA2B20710}"/>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5" name="Footer Placeholder 4">
            <a:extLst>
              <a:ext uri="{FF2B5EF4-FFF2-40B4-BE49-F238E27FC236}">
                <a16:creationId xmlns:a16="http://schemas.microsoft.com/office/drawing/2014/main" id="{5F4757F8-990F-40D4-842C-69F584237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FE2DA9-8D2A-49A3-9404-460C2C0E0D26}"/>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175752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108C0-B3B6-429F-9DBC-50FE9F4B7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2D4BF5-98B9-4465-A9A1-21DB559CBE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FCAB9D-066B-4296-96D9-64B597F493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98AA0C-07C6-478F-8098-23DDFED90BC6}"/>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6" name="Footer Placeholder 5">
            <a:extLst>
              <a:ext uri="{FF2B5EF4-FFF2-40B4-BE49-F238E27FC236}">
                <a16:creationId xmlns:a16="http://schemas.microsoft.com/office/drawing/2014/main" id="{668F995E-BA3E-46BB-8FD9-EE83F50993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EA2CE8-3CD6-498D-8D21-47317B4F4A88}"/>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035619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64C0F-8669-473A-89C7-2614FCADBF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128BBA-02B9-4FC3-812E-F6ADF0A6FA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413ECA-02AC-481A-AAE5-02C239857D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F483DD-9F64-428D-BB30-454FCD5F03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82D07D-2D12-4CD8-8C04-DA8EA7E38D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0E3D03-048D-43E4-A2F5-2DEAABA8429C}"/>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8" name="Footer Placeholder 7">
            <a:extLst>
              <a:ext uri="{FF2B5EF4-FFF2-40B4-BE49-F238E27FC236}">
                <a16:creationId xmlns:a16="http://schemas.microsoft.com/office/drawing/2014/main" id="{CF7D59A2-7AA0-4A38-A6A9-EA45775484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951E07-E65F-4E37-85B8-7103A61011C5}"/>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060668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1A1AA-D98B-4E8E-A464-0F942BCF80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B1E9D8-F00C-4EC8-804F-B5B3404E39F4}"/>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4" name="Footer Placeholder 3">
            <a:extLst>
              <a:ext uri="{FF2B5EF4-FFF2-40B4-BE49-F238E27FC236}">
                <a16:creationId xmlns:a16="http://schemas.microsoft.com/office/drawing/2014/main" id="{A4625153-6B87-41FB-B94F-FE0C60C81A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BD4866-3800-421C-ADAD-171343F665D3}"/>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3076861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9696F8-7312-4933-B38C-EEAD1FB455DB}"/>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3" name="Footer Placeholder 2">
            <a:extLst>
              <a:ext uri="{FF2B5EF4-FFF2-40B4-BE49-F238E27FC236}">
                <a16:creationId xmlns:a16="http://schemas.microsoft.com/office/drawing/2014/main" id="{995E8FC7-D186-4629-BC3C-9DBDF76C22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846F42-3DE7-414C-97DF-E48CED357B93}"/>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2808470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E151-4139-4877-893E-EB18B5F13A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DDC383-1FC6-4855-878F-818C7CEAC6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822B86-0154-4CDA-8D22-4A912F7308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67D046-AA3F-4B50-A591-F04F3678946F}"/>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6" name="Footer Placeholder 5">
            <a:extLst>
              <a:ext uri="{FF2B5EF4-FFF2-40B4-BE49-F238E27FC236}">
                <a16:creationId xmlns:a16="http://schemas.microsoft.com/office/drawing/2014/main" id="{5EBD6D77-AAD2-4A2A-99B4-0FDCFE5D01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B798F3-7762-4D2D-9100-6DBE7B96A7E8}"/>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1540802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8B6A6-6F4F-49B7-89A6-ADA237ED11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806362-D90A-49D3-A19D-5607A4F04A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BDF578-2A6E-41E6-8DA0-A2FEE907F0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1C8A2-7750-4B3F-B651-1553EABCF3E5}"/>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6" name="Footer Placeholder 5">
            <a:extLst>
              <a:ext uri="{FF2B5EF4-FFF2-40B4-BE49-F238E27FC236}">
                <a16:creationId xmlns:a16="http://schemas.microsoft.com/office/drawing/2014/main" id="{51CD4520-3764-4AB1-83E7-B37B7620A7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B0DCCE-E77B-481E-966A-CACD93DD0E7B}"/>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461751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5D384-D3FA-464A-90B7-826D9B97B6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1F259E-C191-402E-BF78-4F5BA7A3E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FAF980-2A0D-4FEC-A228-D06C8F7D6C75}"/>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5" name="Footer Placeholder 4">
            <a:extLst>
              <a:ext uri="{FF2B5EF4-FFF2-40B4-BE49-F238E27FC236}">
                <a16:creationId xmlns:a16="http://schemas.microsoft.com/office/drawing/2014/main" id="{8162FF4B-84E8-42E6-8A00-FE0C036BFA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840B52-8E4B-4A4B-A419-51CF9E775288}"/>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4147092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08C424-1978-4AB5-8D66-2E43DF5A42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CF190F-8476-477A-96AA-4EF37C28F2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1F9D3A-6AD6-45BF-AEB9-452E7B7D283E}"/>
              </a:ext>
            </a:extLst>
          </p:cNvPr>
          <p:cNvSpPr>
            <a:spLocks noGrp="1"/>
          </p:cNvSpPr>
          <p:nvPr>
            <p:ph type="dt" sz="half" idx="10"/>
          </p:nvPr>
        </p:nvSpPr>
        <p:spPr/>
        <p:txBody>
          <a:bodyPr/>
          <a:lstStyle/>
          <a:p>
            <a:fld id="{D4098132-D2CD-4BA6-871D-D20197CD8420}" type="datetimeFigureOut">
              <a:rPr lang="en-US" smtClean="0"/>
              <a:t>3/7/2025</a:t>
            </a:fld>
            <a:endParaRPr lang="en-US"/>
          </a:p>
        </p:txBody>
      </p:sp>
      <p:sp>
        <p:nvSpPr>
          <p:cNvPr id="5" name="Footer Placeholder 4">
            <a:extLst>
              <a:ext uri="{FF2B5EF4-FFF2-40B4-BE49-F238E27FC236}">
                <a16:creationId xmlns:a16="http://schemas.microsoft.com/office/drawing/2014/main" id="{88412050-A0A6-48D1-9AE3-C496B0F18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F92F2E-354A-4B14-9FB0-E56DA5E6EBFC}"/>
              </a:ext>
            </a:extLst>
          </p:cNvPr>
          <p:cNvSpPr>
            <a:spLocks noGrp="1"/>
          </p:cNvSpPr>
          <p:nvPr>
            <p:ph type="sldNum" sz="quarter" idx="12"/>
          </p:nvPr>
        </p:nvSpPr>
        <p:spPr/>
        <p:txBody>
          <a:bodyPr/>
          <a:lstStyle/>
          <a:p>
            <a:fld id="{0AA67FF1-19FA-4668-92E8-70E147C9C143}" type="slidenum">
              <a:rPr lang="en-US" smtClean="0"/>
              <a:t>‹#›</a:t>
            </a:fld>
            <a:endParaRPr lang="en-US"/>
          </a:p>
        </p:txBody>
      </p:sp>
    </p:spTree>
    <p:extLst>
      <p:ext uri="{BB962C8B-B14F-4D97-AF65-F5344CB8AC3E}">
        <p14:creationId xmlns:p14="http://schemas.microsoft.com/office/powerpoint/2010/main" val="417254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DC324C-E0A5-434F-9539-73E1074D6F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6FA5A7-EC82-44F4-94CA-070338EA1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12BAFF-9E09-4BBF-BBD9-1CD3D0A12D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98132-D2CD-4BA6-871D-D20197CD8420}" type="datetimeFigureOut">
              <a:rPr lang="en-US" smtClean="0"/>
              <a:t>3/7/2025</a:t>
            </a:fld>
            <a:endParaRPr lang="en-US"/>
          </a:p>
        </p:txBody>
      </p:sp>
      <p:sp>
        <p:nvSpPr>
          <p:cNvPr id="5" name="Footer Placeholder 4">
            <a:extLst>
              <a:ext uri="{FF2B5EF4-FFF2-40B4-BE49-F238E27FC236}">
                <a16:creationId xmlns:a16="http://schemas.microsoft.com/office/drawing/2014/main" id="{8EAC9FB8-5CBA-4B7E-96D0-A1E1F5D06C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35C33F-0E5A-428E-B6A4-92F5E33E5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A67FF1-19FA-4668-92E8-70E147C9C143}" type="slidenum">
              <a:rPr lang="en-US" smtClean="0"/>
              <a:t>‹#›</a:t>
            </a:fld>
            <a:endParaRPr lang="en-US"/>
          </a:p>
        </p:txBody>
      </p:sp>
    </p:spTree>
    <p:extLst>
      <p:ext uri="{BB962C8B-B14F-4D97-AF65-F5344CB8AC3E}">
        <p14:creationId xmlns:p14="http://schemas.microsoft.com/office/powerpoint/2010/main" val="3754747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bilibili.com/video/BV1Le4y1V78D/?spm_id_from=333.1387.search.video_card.click&amp;vd_source=128284a9ac94ff01a81d86361b5d708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592CC-1E75-4167-8EFB-620C12B15322}"/>
              </a:ext>
            </a:extLst>
          </p:cNvPr>
          <p:cNvSpPr>
            <a:spLocks noGrp="1"/>
          </p:cNvSpPr>
          <p:nvPr>
            <p:ph type="ctrTitle"/>
          </p:nvPr>
        </p:nvSpPr>
        <p:spPr>
          <a:xfrm>
            <a:off x="1045827" y="1608924"/>
            <a:ext cx="9144000" cy="2387600"/>
          </a:xfrm>
        </p:spPr>
        <p:txBody>
          <a:bodyPr>
            <a:normAutofit fontScale="90000"/>
          </a:bodyPr>
          <a:lstStyle/>
          <a:p>
            <a:r>
              <a:rPr lang="en-US" altLang="zh-CN" dirty="0"/>
              <a:t>Tutorial 3 – </a:t>
            </a:r>
            <a:br>
              <a:rPr lang="en-US" altLang="zh-CN" dirty="0"/>
            </a:br>
            <a:r>
              <a:rPr lang="en-US" altLang="zh-CN" dirty="0"/>
              <a:t>Supplements for Lecture 3 notes</a:t>
            </a:r>
            <a:endParaRPr lang="en-US" dirty="0"/>
          </a:p>
        </p:txBody>
      </p:sp>
    </p:spTree>
    <p:extLst>
      <p:ext uri="{BB962C8B-B14F-4D97-AF65-F5344CB8AC3E}">
        <p14:creationId xmlns:p14="http://schemas.microsoft.com/office/powerpoint/2010/main" val="1206170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838200" y="365126"/>
            <a:ext cx="10515600" cy="1052614"/>
          </a:xfrm>
        </p:spPr>
        <p:txBody>
          <a:bodyPr/>
          <a:lstStyle/>
          <a:p>
            <a:r>
              <a:rPr lang="en-US" dirty="0"/>
              <a:t>Algorithm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838200" y="1417740"/>
                <a:ext cx="10515600" cy="5201174"/>
              </a:xfrm>
            </p:spPr>
            <p:txBody>
              <a:bodyPr>
                <a:normAutofit/>
              </a:bodyPr>
              <a:lstStyle/>
              <a:p>
                <a:r>
                  <a:rPr lang="en-US" sz="2400" dirty="0"/>
                  <a:t>Input: </a:t>
                </a:r>
                <a14:m>
                  <m:oMath xmlns:m="http://schemas.openxmlformats.org/officeDocument/2006/math">
                    <m:r>
                      <a:rPr lang="en-US" sz="2400" i="1" dirty="0" smtClean="0">
                        <a:latin typeface="Cambria Math" panose="02040503050406030204" pitchFamily="18" charset="0"/>
                      </a:rPr>
                      <m:t>𝐴</m:t>
                    </m:r>
                    <m:d>
                      <m:dPr>
                        <m:ctrlPr>
                          <a:rPr lang="en-US" sz="240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𝐴</m:t>
                        </m:r>
                      </m:e>
                      <m:sub>
                        <m:r>
                          <a:rPr lang="en-US" sz="2400" b="0" i="1" dirty="0" smtClean="0">
                            <a:latin typeface="Cambria Math" panose="02040503050406030204" pitchFamily="18" charset="0"/>
                          </a:rPr>
                          <m:t>𝑙𝑜𝑤</m:t>
                        </m:r>
                      </m:sub>
                    </m:sSub>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𝑥</m:t>
                        </m:r>
                      </m:e>
                      <m:sup>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𝑛</m:t>
                            </m:r>
                          </m:num>
                          <m:den>
                            <m:r>
                              <a:rPr lang="en-US" sz="2400" b="0" i="1" dirty="0" smtClean="0">
                                <a:latin typeface="Cambria Math" panose="02040503050406030204" pitchFamily="18" charset="0"/>
                              </a:rPr>
                              <m:t>2</m:t>
                            </m:r>
                          </m:den>
                        </m:f>
                      </m:sup>
                    </m:sSup>
                    <m:sSub>
                      <m:sSubPr>
                        <m:ctrlPr>
                          <a:rPr lang="en-US" sz="2400" b="0" i="1" dirty="0" smtClean="0">
                            <a:latin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rPr>
                          <m:t>𝐴</m:t>
                        </m:r>
                      </m:e>
                      <m:sub>
                        <m:r>
                          <a:rPr lang="en-US" sz="2400" b="0" i="1" dirty="0" smtClean="0">
                            <a:latin typeface="Cambria Math" panose="02040503050406030204" pitchFamily="18" charset="0"/>
                          </a:rPr>
                          <m:t>h𝑖𝑔h</m:t>
                        </m:r>
                      </m:sub>
                    </m:sSub>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𝐵</m:t>
                    </m:r>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𝐵</m:t>
                        </m:r>
                      </m:e>
                      <m:sub>
                        <m:r>
                          <a:rPr lang="en-US" sz="2400" i="1" dirty="0">
                            <a:latin typeface="Cambria Math" panose="02040503050406030204" pitchFamily="18" charset="0"/>
                          </a:rPr>
                          <m:t>𝑙𝑜𝑤</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𝑥</m:t>
                        </m:r>
                      </m:e>
                      <m:sup>
                        <m:f>
                          <m:fPr>
                            <m:ctrlPr>
                              <a:rPr lang="en-US" sz="2400" i="1" dirty="0">
                                <a:latin typeface="Cambria Math" panose="02040503050406030204" pitchFamily="18" charset="0"/>
                              </a:rPr>
                            </m:ctrlPr>
                          </m:fPr>
                          <m:num>
                            <m:r>
                              <a:rPr lang="en-US" sz="2400" i="1" dirty="0">
                                <a:latin typeface="Cambria Math" panose="02040503050406030204" pitchFamily="18" charset="0"/>
                              </a:rPr>
                              <m:t>𝑛</m:t>
                            </m:r>
                          </m:num>
                          <m:den>
                            <m:r>
                              <a:rPr lang="en-US" sz="2400" i="1" dirty="0">
                                <a:latin typeface="Cambria Math" panose="02040503050406030204" pitchFamily="18" charset="0"/>
                              </a:rPr>
                              <m:t>2</m:t>
                            </m:r>
                          </m:den>
                        </m:f>
                      </m:sup>
                    </m:sSup>
                    <m:sSub>
                      <m:sSubPr>
                        <m:ctrlPr>
                          <a:rPr lang="en-US" sz="2400" i="1" dirty="0">
                            <a:latin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rPr>
                          <m:t>𝐵</m:t>
                        </m:r>
                      </m:e>
                      <m:sub>
                        <m:r>
                          <a:rPr lang="en-US" sz="2400" i="1" dirty="0">
                            <a:latin typeface="Cambria Math" panose="02040503050406030204" pitchFamily="18" charset="0"/>
                          </a:rPr>
                          <m:t>h𝑖𝑔h</m:t>
                        </m:r>
                      </m:sub>
                    </m:sSub>
                    <m:d>
                      <m:dPr>
                        <m:ctrlPr>
                          <a:rPr lang="en-US" sz="2400" i="1" dirty="0">
                            <a:latin typeface="Cambria Math" panose="02040503050406030204" pitchFamily="18" charset="0"/>
                          </a:rPr>
                        </m:ctrlPr>
                      </m:dPr>
                      <m:e>
                        <m:r>
                          <a:rPr lang="en-US" sz="2400" i="1" dirty="0">
                            <a:latin typeface="Cambria Math" panose="02040503050406030204" pitchFamily="18" charset="0"/>
                          </a:rPr>
                          <m:t>𝑥</m:t>
                        </m:r>
                      </m:e>
                    </m:d>
                  </m:oMath>
                </a14:m>
                <a:endParaRPr lang="en-US" sz="2400" b="0" dirty="0"/>
              </a:p>
              <a:p>
                <a:pPr>
                  <a:spcAft>
                    <a:spcPts val="1200"/>
                  </a:spcAft>
                </a:pPr>
                <a:r>
                  <a:rPr lang="en-US" sz="2400" dirty="0"/>
                  <a:t>Output: </a:t>
                </a:r>
                <a14:m>
                  <m:oMath xmlns:m="http://schemas.openxmlformats.org/officeDocument/2006/math">
                    <m:r>
                      <a:rPr lang="en-US" sz="2400" b="0" i="1" dirty="0" smtClean="0">
                        <a:latin typeface="Cambria Math" panose="02040503050406030204" pitchFamily="18" charset="0"/>
                      </a:rPr>
                      <m:t>𝐶</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𝐴</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𝑥</m:t>
                        </m:r>
                      </m:e>
                    </m:d>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rPr>
                      <m:t>𝐵</m:t>
                    </m:r>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oMath>
                </a14:m>
                <a:endParaRPr lang="en-US" sz="2400" dirty="0"/>
              </a:p>
              <a:p>
                <a:pPr marL="0" indent="0">
                  <a:spcAft>
                    <a:spcPts val="1200"/>
                  </a:spcAft>
                  <a:buNone/>
                </a:pPr>
                <a:r>
                  <a:rPr lang="en-US" sz="1800" dirty="0"/>
                  <a:t>Let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0</m:t>
                        </m:r>
                      </m:sub>
                    </m:sSub>
                    <m:r>
                      <a:rPr lang="en-US" sz="1800" i="1">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oMath>
                </a14:m>
                <a:r>
                  <a:rPr lang="en-US" sz="1800" dirty="0"/>
                  <a:t>, and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1</m:t>
                        </m:r>
                      </m:sub>
                    </m:sSub>
                    <m:r>
                      <a:rPr lang="en-US" sz="1800" i="1">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oMath>
                </a14:m>
                <a:r>
                  <a:rPr lang="en-US" sz="1800" dirty="0"/>
                  <a:t>, then:</a:t>
                </a:r>
              </a:p>
              <a:p>
                <a:pPr marL="0" indent="0" algn="just">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       </m:t>
                      </m:r>
                      <m:r>
                        <a:rPr lang="en-US" sz="1800" b="0" i="1" smtClean="0">
                          <a:latin typeface="Cambria Math" panose="02040503050406030204" pitchFamily="18" charset="0"/>
                        </a:rPr>
                        <m:t>𝐶</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 </m:t>
                      </m:r>
                      <m:r>
                        <m:rPr>
                          <m:aln/>
                        </m:rPr>
                        <a:rPr lang="en-US" sz="1800" b="0" i="1" smtClean="0">
                          <a:latin typeface="Cambria Math" panose="02040503050406030204" pitchFamily="18" charset="0"/>
                        </a:rPr>
                        <m:t>=</m:t>
                      </m:r>
                      <m:r>
                        <a:rPr lang="en-US" sz="1800" b="0" i="1" smtClean="0">
                          <a:latin typeface="Cambria Math" panose="02040503050406030204" pitchFamily="18" charset="0"/>
                        </a:rPr>
                        <m:t>𝐴</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i="1" dirty="0">
                          <a:latin typeface="Cambria Math" panose="02040503050406030204" pitchFamily="18" charset="0"/>
                          <a:ea typeface="Cambria Math" panose="02040503050406030204" pitchFamily="18" charset="0"/>
                        </a:rPr>
                        <m:t>∙</m:t>
                      </m:r>
                      <m:r>
                        <a:rPr lang="en-US" sz="1800" i="1" dirty="0">
                          <a:latin typeface="Cambria Math" panose="02040503050406030204" pitchFamily="18" charset="0"/>
                        </a:rPr>
                        <m:t>𝐵</m:t>
                      </m:r>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oMath>
                  </m:oMathPara>
                </a14:m>
                <a:endParaRPr lang="en-US" sz="1800" i="1" dirty="0">
                  <a:latin typeface="Cambria Math" panose="02040503050406030204" pitchFamily="18" charset="0"/>
                </a:endParaRPr>
              </a:p>
              <a:p>
                <a:pPr marL="0" indent="0" algn="just">
                  <a:buNone/>
                </a:pPr>
                <a:r>
                  <a:rPr lang="en-US" sz="1800" b="0" dirty="0"/>
                  <a:t>	</a:t>
                </a:r>
                <a14:m>
                  <m:oMath xmlns:m="http://schemas.openxmlformats.org/officeDocument/2006/math">
                    <m:r>
                      <m:rPr>
                        <m:aln/>
                      </m:rPr>
                      <a:rPr lang="en-US" sz="1800" b="0" i="1" dirty="0" smtClean="0">
                        <a:latin typeface="Cambria Math" panose="02040503050406030204" pitchFamily="18" charset="0"/>
                      </a:rPr>
                      <m:t>=</m:t>
                    </m:r>
                    <m:d>
                      <m:dPr>
                        <m:ctrlPr>
                          <a:rPr lang="en-US" sz="1800" b="0" i="1" dirty="0" smtClean="0">
                            <a:latin typeface="Cambria Math" panose="02040503050406030204" pitchFamily="18" charset="0"/>
                          </a:rPr>
                        </m:ctrlPr>
                      </m:dPr>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i="1" dirty="0">
                            <a:latin typeface="Cambria Math" panose="02040503050406030204" pitchFamily="18" charset="0"/>
                          </a:rPr>
                          <m:t>+</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𝑥</m:t>
                            </m:r>
                          </m:e>
                          <m:sup>
                            <m:f>
                              <m:fPr>
                                <m:ctrlPr>
                                  <a:rPr lang="en-US" sz="1800" i="1" dirty="0">
                                    <a:latin typeface="Cambria Math" panose="02040503050406030204" pitchFamily="18" charset="0"/>
                                  </a:rPr>
                                </m:ctrlPr>
                              </m:fPr>
                              <m:num>
                                <m:r>
                                  <a:rPr lang="en-US" sz="1800" i="1" dirty="0">
                                    <a:latin typeface="Cambria Math" panose="02040503050406030204" pitchFamily="18" charset="0"/>
                                  </a:rPr>
                                  <m:t>𝑛</m:t>
                                </m:r>
                              </m:num>
                              <m:den>
                                <m:r>
                                  <a:rPr lang="en-US" sz="1800" i="1" dirty="0">
                                    <a:latin typeface="Cambria Math" panose="02040503050406030204" pitchFamily="18" charset="0"/>
                                  </a:rPr>
                                  <m:t>2</m:t>
                                </m:r>
                              </m:den>
                            </m:f>
                          </m:sup>
                        </m:sSup>
                        <m:sSub>
                          <m:sSubPr>
                            <m:ctrlPr>
                              <a:rPr lang="en-US" sz="1800" i="1" dirty="0">
                                <a:latin typeface="Cambria Math" panose="02040503050406030204" pitchFamily="18" charset="0"/>
                              </a:rPr>
                            </m:ctrlPr>
                          </m:sSubPr>
                          <m:e>
                            <m:r>
                              <a:rPr lang="en-US" sz="1800" i="1" dirty="0" smtClean="0">
                                <a:latin typeface="Cambria Math" panose="02040503050406030204" pitchFamily="18" charset="0"/>
                                <a:ea typeface="Cambria Math" panose="02040503050406030204" pitchFamily="18" charset="0"/>
                              </a:rPr>
                              <m:t>∙</m:t>
                            </m:r>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e>
                    </m:d>
                    <m:r>
                      <a:rPr lang="en-US" sz="1800" i="1" dirty="0">
                        <a:latin typeface="Cambria Math" panose="02040503050406030204" pitchFamily="18" charset="0"/>
                        <a:ea typeface="Cambria Math" panose="02040503050406030204" pitchFamily="18" charset="0"/>
                      </a:rPr>
                      <m:t>∙</m:t>
                    </m:r>
                    <m:d>
                      <m:dPr>
                        <m:ctrlPr>
                          <a:rPr lang="en-US" sz="1800" b="0" i="1" dirty="0" smtClean="0">
                            <a:latin typeface="Cambria Math" panose="02040503050406030204" pitchFamily="18" charset="0"/>
                            <a:ea typeface="Cambria Math" panose="02040503050406030204" pitchFamily="18" charset="0"/>
                          </a:rPr>
                        </m:ctrlPr>
                      </m:dPr>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i="1" dirty="0">
                            <a:latin typeface="Cambria Math" panose="02040503050406030204" pitchFamily="18" charset="0"/>
                          </a:rPr>
                          <m:t>+</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𝑥</m:t>
                            </m:r>
                          </m:e>
                          <m:sup>
                            <m:f>
                              <m:fPr>
                                <m:ctrlPr>
                                  <a:rPr lang="en-US" sz="1800" i="1" dirty="0">
                                    <a:latin typeface="Cambria Math" panose="02040503050406030204" pitchFamily="18" charset="0"/>
                                  </a:rPr>
                                </m:ctrlPr>
                              </m:fPr>
                              <m:num>
                                <m:r>
                                  <a:rPr lang="en-US" sz="1800" i="1" dirty="0">
                                    <a:latin typeface="Cambria Math" panose="02040503050406030204" pitchFamily="18" charset="0"/>
                                  </a:rPr>
                                  <m:t>𝑛</m:t>
                                </m:r>
                              </m:num>
                              <m:den>
                                <m:r>
                                  <a:rPr lang="en-US" sz="1800" i="1" dirty="0">
                                    <a:latin typeface="Cambria Math" panose="02040503050406030204" pitchFamily="18" charset="0"/>
                                  </a:rPr>
                                  <m:t>2</m:t>
                                </m:r>
                              </m:den>
                            </m:f>
                          </m:sup>
                        </m:sSup>
                        <m:sSub>
                          <m:sSubPr>
                            <m:ctrlPr>
                              <a:rPr lang="en-US" sz="1800" i="1" dirty="0">
                                <a:latin typeface="Cambria Math" panose="02040503050406030204" pitchFamily="18" charset="0"/>
                              </a:rPr>
                            </m:ctrlPr>
                          </m:sSubPr>
                          <m:e>
                            <m:r>
                              <a:rPr lang="en-US" sz="1800" i="1" dirty="0" smtClean="0">
                                <a:latin typeface="Cambria Math" panose="02040503050406030204" pitchFamily="18" charset="0"/>
                                <a:ea typeface="Cambria Math" panose="02040503050406030204" pitchFamily="18" charset="0"/>
                              </a:rPr>
                              <m:t>∙</m:t>
                            </m:r>
                            <m:r>
                              <a:rPr lang="en-US" sz="1800" i="1" dirty="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e>
                    </m:d>
                  </m:oMath>
                </a14:m>
                <a:endParaRPr lang="en-US" sz="1800" b="0" i="1" dirty="0">
                  <a:latin typeface="Cambria Math" panose="02040503050406030204" pitchFamily="18" charset="0"/>
                  <a:ea typeface="Cambria Math" panose="02040503050406030204" pitchFamily="18" charset="0"/>
                </a:endParaRPr>
              </a:p>
              <a:p>
                <a:pPr marL="0" indent="0" algn="just">
                  <a:buNone/>
                </a:pPr>
                <a:r>
                  <a:rPr lang="en-US" sz="1800" b="0" dirty="0"/>
                  <a:t>	</a:t>
                </a:r>
                <a14:m>
                  <m:oMath xmlns:m="http://schemas.openxmlformats.org/officeDocument/2006/math">
                    <m:r>
                      <m:rPr>
                        <m:aln/>
                      </m:rPr>
                      <a:rPr lang="en-US" sz="1800" b="0" i="1" dirty="0"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p>
                      <m:sSupPr>
                        <m:ctrlPr>
                          <a:rPr lang="en-US" sz="1800" i="1" dirty="0">
                            <a:latin typeface="Cambria Math" panose="02040503050406030204" pitchFamily="18" charset="0"/>
                          </a:rPr>
                        </m:ctrlPr>
                      </m:sSupPr>
                      <m:e>
                        <m:r>
                          <a:rPr lang="en-US" sz="1800" i="1" dirty="0" smtClean="0">
                            <a:latin typeface="Cambria Math" panose="02040503050406030204" pitchFamily="18" charset="0"/>
                            <a:ea typeface="Cambria Math" panose="02040503050406030204" pitchFamily="18" charset="0"/>
                          </a:rPr>
                          <m:t>∙</m:t>
                        </m:r>
                        <m:r>
                          <a:rPr lang="en-US" sz="1800" i="1" dirty="0">
                            <a:latin typeface="Cambria Math" panose="02040503050406030204" pitchFamily="18" charset="0"/>
                          </a:rPr>
                          <m:t>𝑥</m:t>
                        </m:r>
                      </m:e>
                      <m:sup>
                        <m:r>
                          <a:rPr lang="en-US" sz="1800" b="0" i="1" dirty="0" smtClean="0">
                            <a:latin typeface="Cambria Math" panose="02040503050406030204" pitchFamily="18" charset="0"/>
                          </a:rPr>
                          <m:t>𝑛</m:t>
                        </m:r>
                      </m:sup>
                    </m:sSup>
                    <m:r>
                      <a:rPr lang="en-US" sz="1800" b="0" i="1" dirty="0" smtClean="0">
                        <a:latin typeface="Cambria Math" panose="02040503050406030204" pitchFamily="18" charset="0"/>
                      </a:rPr>
                      <m:t>+</m:t>
                    </m:r>
                    <m:d>
                      <m:dPr>
                        <m:ctrlPr>
                          <a:rPr lang="en-US" sz="1800" b="0" i="1" dirty="0" smtClean="0">
                            <a:latin typeface="Cambria Math" panose="02040503050406030204" pitchFamily="18" charset="0"/>
                          </a:rPr>
                        </m:ctrlPr>
                      </m:dPr>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b="0" i="1" dirty="0" smtClean="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b="0" i="1" dirty="0"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b="0" i="1" dirty="0" smtClean="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e>
                    </m:d>
                    <m:sSup>
                      <m:sSupPr>
                        <m:ctrlPr>
                          <a:rPr lang="en-US" sz="1800" i="1" dirty="0">
                            <a:latin typeface="Cambria Math" panose="02040503050406030204" pitchFamily="18" charset="0"/>
                          </a:rPr>
                        </m:ctrlPr>
                      </m:sSupPr>
                      <m:e>
                        <m:r>
                          <a:rPr lang="en-US" sz="1800" i="1" dirty="0">
                            <a:latin typeface="Cambria Math" panose="02040503050406030204" pitchFamily="18" charset="0"/>
                            <a:ea typeface="Cambria Math" panose="02040503050406030204" pitchFamily="18" charset="0"/>
                          </a:rPr>
                          <m:t>∙</m:t>
                        </m:r>
                        <m:r>
                          <a:rPr lang="en-US" sz="1800" i="1" dirty="0">
                            <a:latin typeface="Cambria Math" panose="02040503050406030204" pitchFamily="18" charset="0"/>
                          </a:rPr>
                          <m:t>𝑥</m:t>
                        </m:r>
                      </m:e>
                      <m:sup>
                        <m:f>
                          <m:fPr>
                            <m:ctrlPr>
                              <a:rPr lang="en-US" sz="1800" i="1" dirty="0">
                                <a:latin typeface="Cambria Math" panose="02040503050406030204" pitchFamily="18" charset="0"/>
                              </a:rPr>
                            </m:ctrlPr>
                          </m:fPr>
                          <m:num>
                            <m:r>
                              <a:rPr lang="en-US" sz="1800" i="1" dirty="0">
                                <a:latin typeface="Cambria Math" panose="02040503050406030204" pitchFamily="18" charset="0"/>
                              </a:rPr>
                              <m:t>𝑛</m:t>
                            </m:r>
                          </m:num>
                          <m:den>
                            <m:r>
                              <a:rPr lang="en-US" sz="1800" i="1" dirty="0">
                                <a:latin typeface="Cambria Math" panose="02040503050406030204" pitchFamily="18" charset="0"/>
                              </a:rPr>
                              <m:t>2</m:t>
                            </m:r>
                          </m:den>
                        </m:f>
                      </m:sup>
                    </m:sSup>
                    <m:r>
                      <a:rPr lang="en-US" sz="1800" b="0" i="1" dirty="0"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b="0" i="1" dirty="0" smtClean="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b="0" i="1" dirty="0" smtClean="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oMath>
                </a14:m>
                <a:endParaRPr lang="en-US" sz="1800" dirty="0"/>
              </a:p>
              <a:p>
                <a:pPr marL="0" indent="0" algn="just">
                  <a:buNone/>
                </a:pPr>
                <a:r>
                  <a:rPr lang="en-US" sz="1800" b="0" dirty="0"/>
                  <a:t>	</a:t>
                </a:r>
                <a14:m>
                  <m:oMath xmlns:m="http://schemas.openxmlformats.org/officeDocument/2006/math">
                    <m:r>
                      <a:rPr lang="en-US" sz="1800" b="0" i="1" smtClean="0">
                        <a:solidFill>
                          <a:srgbClr val="FF0000"/>
                        </a:solidFill>
                        <a:latin typeface="Cambria Math" panose="02040503050406030204" pitchFamily="18" charset="0"/>
                      </a:rPr>
                      <m:t>=</m:t>
                    </m:r>
                    <m:sSub>
                      <m:sSubPr>
                        <m:ctrlPr>
                          <a:rPr lang="en-US" sz="1800" i="1">
                            <a:solidFill>
                              <a:srgbClr val="FF0000"/>
                            </a:solidFill>
                            <a:latin typeface="Cambria Math" panose="02040503050406030204" pitchFamily="18" charset="0"/>
                          </a:rPr>
                        </m:ctrlPr>
                      </m:sSubPr>
                      <m:e>
                        <m:r>
                          <a:rPr lang="en-US" sz="1800" i="1">
                            <a:solidFill>
                              <a:srgbClr val="FF0000"/>
                            </a:solidFill>
                            <a:latin typeface="Cambria Math" panose="02040503050406030204" pitchFamily="18" charset="0"/>
                          </a:rPr>
                          <m:t>𝑍</m:t>
                        </m:r>
                      </m:e>
                      <m:sub>
                        <m:r>
                          <a:rPr lang="en-US" sz="1800" b="0" i="1" smtClean="0">
                            <a:solidFill>
                              <a:srgbClr val="FF0000"/>
                            </a:solidFill>
                            <a:latin typeface="Cambria Math" panose="02040503050406030204" pitchFamily="18" charset="0"/>
                          </a:rPr>
                          <m:t>2</m:t>
                        </m:r>
                      </m:sub>
                    </m:sSub>
                    <m:r>
                      <a:rPr lang="en-US" sz="1800" i="1">
                        <a:solidFill>
                          <a:srgbClr val="FF0000"/>
                        </a:solidFill>
                        <a:latin typeface="Cambria Math" panose="02040503050406030204" pitchFamily="18" charset="0"/>
                        <a:ea typeface="Cambria Math" panose="02040503050406030204" pitchFamily="18" charset="0"/>
                      </a:rPr>
                      <m:t>∙</m:t>
                    </m:r>
                    <m:sSup>
                      <m:sSupPr>
                        <m:ctrlPr>
                          <a:rPr lang="en-US" sz="1800" i="1">
                            <a:solidFill>
                              <a:srgbClr val="FF0000"/>
                            </a:solidFill>
                            <a:latin typeface="Cambria Math" panose="02040503050406030204" pitchFamily="18" charset="0"/>
                            <a:ea typeface="Cambria Math" panose="02040503050406030204" pitchFamily="18" charset="0"/>
                          </a:rPr>
                        </m:ctrlPr>
                      </m:sSupPr>
                      <m:e>
                        <m:r>
                          <a:rPr lang="en-US" sz="1800" i="1">
                            <a:solidFill>
                              <a:srgbClr val="FF0000"/>
                            </a:solidFill>
                            <a:latin typeface="Cambria Math" panose="02040503050406030204" pitchFamily="18" charset="0"/>
                            <a:ea typeface="Cambria Math" panose="02040503050406030204" pitchFamily="18" charset="0"/>
                          </a:rPr>
                          <m:t>𝑥</m:t>
                        </m:r>
                      </m:e>
                      <m:sup>
                        <m:r>
                          <a:rPr lang="en-US" sz="1800" i="1">
                            <a:solidFill>
                              <a:srgbClr val="FF0000"/>
                            </a:solidFill>
                            <a:latin typeface="Cambria Math" panose="02040503050406030204" pitchFamily="18" charset="0"/>
                            <a:ea typeface="Cambria Math" panose="02040503050406030204" pitchFamily="18" charset="0"/>
                          </a:rPr>
                          <m:t>𝑛</m:t>
                        </m:r>
                      </m:sup>
                    </m:sSup>
                    <m:r>
                      <a:rPr lang="en-US" sz="1800" i="1">
                        <a:solidFill>
                          <a:srgbClr val="FF0000"/>
                        </a:solidFill>
                        <a:latin typeface="Cambria Math" panose="02040503050406030204" pitchFamily="18" charset="0"/>
                        <a:ea typeface="Cambria Math" panose="02040503050406030204" pitchFamily="18" charset="0"/>
                      </a:rPr>
                      <m:t>+</m:t>
                    </m:r>
                    <m:sSub>
                      <m:sSubPr>
                        <m:ctrlPr>
                          <a:rPr lang="en-US" sz="1800" i="1" smtClean="0">
                            <a:solidFill>
                              <a:srgbClr val="FF0000"/>
                            </a:solidFill>
                            <a:latin typeface="Cambria Math" panose="02040503050406030204" pitchFamily="18" charset="0"/>
                          </a:rPr>
                        </m:ctrlPr>
                      </m:sSubPr>
                      <m:e>
                        <m:r>
                          <a:rPr lang="en-US" sz="1800" i="1">
                            <a:solidFill>
                              <a:srgbClr val="FF0000"/>
                            </a:solidFill>
                            <a:latin typeface="Cambria Math" panose="02040503050406030204" pitchFamily="18" charset="0"/>
                          </a:rPr>
                          <m:t>𝑍</m:t>
                        </m:r>
                      </m:e>
                      <m:sub>
                        <m:r>
                          <a:rPr lang="en-US" sz="1800" b="0" i="1" smtClean="0">
                            <a:solidFill>
                              <a:srgbClr val="FF0000"/>
                            </a:solidFill>
                            <a:latin typeface="Cambria Math" panose="02040503050406030204" pitchFamily="18" charset="0"/>
                          </a:rPr>
                          <m:t>1</m:t>
                        </m:r>
                      </m:sub>
                    </m:sSub>
                    <m:sSup>
                      <m:sSupPr>
                        <m:ctrlPr>
                          <a:rPr lang="en-US" sz="1800" i="1" dirty="0">
                            <a:solidFill>
                              <a:srgbClr val="FF0000"/>
                            </a:solidFill>
                            <a:latin typeface="Cambria Math" panose="02040503050406030204" pitchFamily="18" charset="0"/>
                          </a:rPr>
                        </m:ctrlPr>
                      </m:sSupPr>
                      <m:e>
                        <m:r>
                          <a:rPr lang="en-US" sz="1800" i="1" dirty="0">
                            <a:solidFill>
                              <a:srgbClr val="FF0000"/>
                            </a:solidFill>
                            <a:latin typeface="Cambria Math" panose="02040503050406030204" pitchFamily="18" charset="0"/>
                            <a:ea typeface="Cambria Math" panose="02040503050406030204" pitchFamily="18" charset="0"/>
                          </a:rPr>
                          <m:t>∙</m:t>
                        </m:r>
                        <m:r>
                          <a:rPr lang="en-US" sz="1800" i="1" dirty="0">
                            <a:solidFill>
                              <a:srgbClr val="FF0000"/>
                            </a:solidFill>
                            <a:latin typeface="Cambria Math" panose="02040503050406030204" pitchFamily="18" charset="0"/>
                          </a:rPr>
                          <m:t>𝑥</m:t>
                        </m:r>
                      </m:e>
                      <m:sup>
                        <m:f>
                          <m:fPr>
                            <m:ctrlPr>
                              <a:rPr lang="en-US" sz="1800" i="1" dirty="0">
                                <a:solidFill>
                                  <a:srgbClr val="FF0000"/>
                                </a:solidFill>
                                <a:latin typeface="Cambria Math" panose="02040503050406030204" pitchFamily="18" charset="0"/>
                              </a:rPr>
                            </m:ctrlPr>
                          </m:fPr>
                          <m:num>
                            <m:r>
                              <a:rPr lang="en-US" sz="1800" i="1" dirty="0">
                                <a:solidFill>
                                  <a:srgbClr val="FF0000"/>
                                </a:solidFill>
                                <a:latin typeface="Cambria Math" panose="02040503050406030204" pitchFamily="18" charset="0"/>
                              </a:rPr>
                              <m:t>𝑛</m:t>
                            </m:r>
                          </m:num>
                          <m:den>
                            <m:r>
                              <a:rPr lang="en-US" sz="1800" i="1" dirty="0">
                                <a:solidFill>
                                  <a:srgbClr val="FF0000"/>
                                </a:solidFill>
                                <a:latin typeface="Cambria Math" panose="02040503050406030204" pitchFamily="18" charset="0"/>
                              </a:rPr>
                              <m:t>2</m:t>
                            </m:r>
                          </m:den>
                        </m:f>
                      </m:sup>
                    </m:sSup>
                    <m:r>
                      <a:rPr lang="en-US" sz="1800" b="0" i="1" dirty="0" smtClean="0">
                        <a:solidFill>
                          <a:srgbClr val="FF0000"/>
                        </a:solidFill>
                        <a:latin typeface="Cambria Math" panose="02040503050406030204" pitchFamily="18" charset="0"/>
                      </a:rPr>
                      <m:t>+</m:t>
                    </m:r>
                    <m:sSub>
                      <m:sSubPr>
                        <m:ctrlPr>
                          <a:rPr lang="en-US" sz="1800" i="1">
                            <a:solidFill>
                              <a:srgbClr val="FF0000"/>
                            </a:solidFill>
                            <a:latin typeface="Cambria Math" panose="02040503050406030204" pitchFamily="18" charset="0"/>
                          </a:rPr>
                        </m:ctrlPr>
                      </m:sSubPr>
                      <m:e>
                        <m:r>
                          <a:rPr lang="en-US" sz="1800" i="1">
                            <a:solidFill>
                              <a:srgbClr val="FF0000"/>
                            </a:solidFill>
                            <a:latin typeface="Cambria Math" panose="02040503050406030204" pitchFamily="18" charset="0"/>
                          </a:rPr>
                          <m:t>𝑍</m:t>
                        </m:r>
                      </m:e>
                      <m:sub>
                        <m:r>
                          <a:rPr lang="en-US" sz="1800" b="0" i="1" smtClean="0">
                            <a:solidFill>
                              <a:srgbClr val="FF0000"/>
                            </a:solidFill>
                            <a:latin typeface="Cambria Math" panose="02040503050406030204" pitchFamily="18" charset="0"/>
                          </a:rPr>
                          <m:t>0</m:t>
                        </m:r>
                      </m:sub>
                    </m:sSub>
                  </m:oMath>
                </a14:m>
                <a:r>
                  <a:rPr lang="en-US" sz="1800" dirty="0">
                    <a:solidFill>
                      <a:srgbClr val="FF0000"/>
                    </a:solidFill>
                  </a:rPr>
                  <a:t>       (1)</a:t>
                </a:r>
              </a:p>
              <a:p>
                <a:pPr marL="0" indent="0" algn="just">
                  <a:buNone/>
                </a:pPr>
                <a:r>
                  <a:rPr lang="en-US" sz="1800" dirty="0">
                    <a:latin typeface="Cambria Math" panose="02040503050406030204" pitchFamily="18" charset="0"/>
                  </a:rPr>
                  <a:t>If we let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3</m:t>
                        </m:r>
                      </m:sub>
                    </m:sSub>
                    <m:r>
                      <a:rPr lang="en-US" sz="1800" b="0" i="1" smtClean="0">
                        <a:latin typeface="Cambria Math" panose="02040503050406030204" pitchFamily="18" charset="0"/>
                      </a:rPr>
                      <m:t>=</m:t>
                    </m:r>
                    <m:d>
                      <m:dPr>
                        <m:ctrlPr>
                          <a:rPr lang="en-US" sz="1800" i="1" dirty="0">
                            <a:latin typeface="Cambria Math" panose="02040503050406030204" pitchFamily="18" charset="0"/>
                          </a:rPr>
                        </m:ctrlPr>
                      </m:dPr>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e>
                    </m:d>
                    <m:d>
                      <m:dPr>
                        <m:ctrlPr>
                          <a:rPr lang="en-US" sz="1800" i="1" dirty="0">
                            <a:latin typeface="Cambria Math" panose="02040503050406030204" pitchFamily="18" charset="0"/>
                            <a:ea typeface="Cambria Math" panose="02040503050406030204" pitchFamily="18" charset="0"/>
                          </a:rPr>
                        </m:ctrlPr>
                      </m:dPr>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e>
                    </m:d>
                  </m:oMath>
                </a14:m>
                <a:r>
                  <a:rPr lang="en-US" sz="1800" dirty="0">
                    <a:latin typeface="Cambria Math" panose="02040503050406030204" pitchFamily="18" charset="0"/>
                  </a:rPr>
                  <a:t>, we can find that:</a:t>
                </a:r>
              </a:p>
              <a:p>
                <a:pPr marL="0" indent="0" algn="just">
                  <a:buNone/>
                </a:pPr>
                <a14:m>
                  <m:oMath xmlns:m="http://schemas.openxmlformats.org/officeDocument/2006/math">
                    <m:sSub>
                      <m:sSubPr>
                        <m:ctrlPr>
                          <a:rPr lang="en-US" sz="1800" i="1" dirty="0" smtClean="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b="0" i="1" dirty="0" smtClean="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b="0" i="1" dirty="0"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b="0" i="1" dirty="0" smtClean="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sSub>
                      <m:sSubPr>
                        <m:ctrlPr>
                          <a:rPr lang="en-US" sz="1800" i="1" dirty="0">
                            <a:latin typeface="Cambria Math" panose="02040503050406030204" pitchFamily="18" charset="0"/>
                          </a:rPr>
                        </m:ctrlPr>
                      </m:sSubPr>
                      <m:e>
                        <m:r>
                          <a:rPr lang="en-US" sz="1800" i="1" dirty="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b="0" i="1" dirty="0" smtClean="0">
                        <a:latin typeface="Cambria Math" panose="02040503050406030204" pitchFamily="18" charset="0"/>
                      </a:rPr>
                      <m:t>=</m:t>
                    </m:r>
                    <m:d>
                      <m:dPr>
                        <m:ctrlPr>
                          <a:rPr lang="en-US" sz="1800" b="0" i="1" dirty="0" smtClean="0">
                            <a:latin typeface="Cambria Math" panose="02040503050406030204" pitchFamily="18" charset="0"/>
                          </a:rPr>
                        </m:ctrlPr>
                      </m:dPr>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b="0" i="1" dirty="0"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𝐴</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e>
                    </m:d>
                    <m:d>
                      <m:dPr>
                        <m:ctrlPr>
                          <a:rPr lang="en-US" sz="1800" b="0" i="1" dirty="0" smtClean="0">
                            <a:latin typeface="Cambria Math" panose="02040503050406030204" pitchFamily="18" charset="0"/>
                            <a:ea typeface="Cambria Math" panose="02040503050406030204" pitchFamily="18" charset="0"/>
                          </a:rPr>
                        </m:ctrlPr>
                      </m:dPr>
                      <m:e>
                        <m:sSub>
                          <m:sSubPr>
                            <m:ctrlPr>
                              <a:rPr lang="en-US" sz="1800" i="1" dirty="0">
                                <a:latin typeface="Cambria Math" panose="02040503050406030204" pitchFamily="18" charset="0"/>
                              </a:rPr>
                            </m:ctrlPr>
                          </m:sSubPr>
                          <m:e>
                            <m:r>
                              <a:rPr lang="en-US" sz="1800" b="0" i="1" dirty="0" smtClean="0">
                                <a:latin typeface="Cambria Math" panose="02040503050406030204" pitchFamily="18" charset="0"/>
                              </a:rPr>
                              <m:t>𝐵</m:t>
                            </m:r>
                          </m:e>
                          <m:sub>
                            <m:r>
                              <a:rPr lang="en-US" sz="1800" i="1" dirty="0">
                                <a:latin typeface="Cambria Math" panose="02040503050406030204" pitchFamily="18" charset="0"/>
                              </a:rPr>
                              <m:t>h𝑖𝑔h</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r>
                          <a:rPr lang="en-US" sz="1800" b="0" i="0" dirty="0"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b="0" i="1" dirty="0" smtClean="0">
                                <a:latin typeface="Cambria Math" panose="02040503050406030204" pitchFamily="18" charset="0"/>
                              </a:rPr>
                              <m:t>𝐵</m:t>
                            </m:r>
                          </m:e>
                          <m:sub>
                            <m:r>
                              <a:rPr lang="en-US" sz="1800" i="1" dirty="0">
                                <a:latin typeface="Cambria Math" panose="02040503050406030204" pitchFamily="18" charset="0"/>
                              </a:rPr>
                              <m:t>𝑙𝑜𝑤</m:t>
                            </m:r>
                          </m:sub>
                        </m:sSub>
                        <m:d>
                          <m:dPr>
                            <m:ctrlPr>
                              <a:rPr lang="en-US" sz="1800" i="1" dirty="0">
                                <a:latin typeface="Cambria Math" panose="02040503050406030204" pitchFamily="18" charset="0"/>
                              </a:rPr>
                            </m:ctrlPr>
                          </m:dPr>
                          <m:e>
                            <m:r>
                              <a:rPr lang="en-US" sz="1800" i="1" dirty="0">
                                <a:latin typeface="Cambria Math" panose="02040503050406030204" pitchFamily="18" charset="0"/>
                              </a:rPr>
                              <m:t>𝑥</m:t>
                            </m:r>
                          </m:e>
                        </m:d>
                      </m:e>
                    </m:d>
                    <m:r>
                      <a:rPr lang="en-US" sz="1800" b="0" i="0" dirty="0" smtClean="0">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0</m:t>
                        </m:r>
                      </m:sub>
                    </m:sSub>
                  </m:oMath>
                </a14:m>
                <a:r>
                  <a:rPr lang="en-US" sz="1800" dirty="0"/>
                  <a:t>,  and,</a:t>
                </a:r>
              </a:p>
              <a:p>
                <a:pPr marL="0" indent="0" algn="just">
                  <a:buNone/>
                </a:pPr>
                <a14:m>
                  <m:oMath xmlns:m="http://schemas.openxmlformats.org/officeDocument/2006/math">
                    <m:r>
                      <a:rPr lang="en-US" sz="1800" b="0" i="1" smtClean="0">
                        <a:solidFill>
                          <a:srgbClr val="0070C0"/>
                        </a:solidFill>
                        <a:latin typeface="Cambria Math" panose="02040503050406030204" pitchFamily="18" charset="0"/>
                      </a:rPr>
                      <m:t>𝐶</m:t>
                    </m:r>
                    <m:d>
                      <m:dPr>
                        <m:ctrlPr>
                          <a:rPr lang="en-US" sz="1800" b="0" i="1" smtClean="0">
                            <a:solidFill>
                              <a:srgbClr val="0070C0"/>
                            </a:solidFill>
                            <a:latin typeface="Cambria Math" panose="02040503050406030204" pitchFamily="18" charset="0"/>
                          </a:rPr>
                        </m:ctrlPr>
                      </m:dPr>
                      <m:e>
                        <m:r>
                          <a:rPr lang="en-US" sz="1800" b="0" i="1" smtClean="0">
                            <a:solidFill>
                              <a:srgbClr val="0070C0"/>
                            </a:solidFill>
                            <a:latin typeface="Cambria Math" panose="02040503050406030204" pitchFamily="18" charset="0"/>
                          </a:rPr>
                          <m:t>𝑥</m:t>
                        </m:r>
                      </m:e>
                    </m:d>
                    <m:r>
                      <a:rPr lang="en-US" sz="1800" b="0" i="1" smtClean="0">
                        <a:solidFill>
                          <a:srgbClr val="0070C0"/>
                        </a:solidFill>
                        <a:latin typeface="Cambria Math" panose="02040503050406030204" pitchFamily="18" charset="0"/>
                      </a:rPr>
                      <m:t>=</m:t>
                    </m:r>
                  </m:oMath>
                </a14:m>
                <a:r>
                  <a:rPr lang="en-US" sz="1800" dirty="0">
                    <a:solidFill>
                      <a:srgbClr val="0070C0"/>
                    </a:solidFill>
                  </a:rPr>
                  <a:t> </a:t>
                </a:r>
                <a14:m>
                  <m:oMath xmlns:m="http://schemas.openxmlformats.org/officeDocument/2006/math">
                    <m:sSub>
                      <m:sSubPr>
                        <m:ctrlPr>
                          <a:rPr lang="en-US" sz="1800" i="1">
                            <a:solidFill>
                              <a:srgbClr val="0070C0"/>
                            </a:solidFill>
                            <a:latin typeface="Cambria Math" panose="02040503050406030204" pitchFamily="18" charset="0"/>
                          </a:rPr>
                        </m:ctrlPr>
                      </m:sSubPr>
                      <m:e>
                        <m:r>
                          <a:rPr lang="en-US" sz="1800" i="1">
                            <a:solidFill>
                              <a:srgbClr val="0070C0"/>
                            </a:solidFill>
                            <a:latin typeface="Cambria Math" panose="02040503050406030204" pitchFamily="18" charset="0"/>
                          </a:rPr>
                          <m:t>𝑍</m:t>
                        </m:r>
                      </m:e>
                      <m:sub>
                        <m:r>
                          <a:rPr lang="en-US" sz="1800" b="0" i="1" smtClean="0">
                            <a:solidFill>
                              <a:srgbClr val="0070C0"/>
                            </a:solidFill>
                            <a:latin typeface="Cambria Math" panose="02040503050406030204" pitchFamily="18" charset="0"/>
                          </a:rPr>
                          <m:t>2</m:t>
                        </m:r>
                      </m:sub>
                    </m:sSub>
                    <m:r>
                      <a:rPr lang="en-US" sz="1800" i="1">
                        <a:solidFill>
                          <a:srgbClr val="0070C0"/>
                        </a:solidFill>
                        <a:latin typeface="Cambria Math" panose="02040503050406030204" pitchFamily="18" charset="0"/>
                      </a:rPr>
                      <m:t>∙</m:t>
                    </m:r>
                    <m:sSup>
                      <m:sSupPr>
                        <m:ctrlPr>
                          <a:rPr lang="en-US" sz="1800" i="1">
                            <a:solidFill>
                              <a:srgbClr val="0070C0"/>
                            </a:solidFill>
                            <a:latin typeface="Cambria Math" panose="02040503050406030204" pitchFamily="18" charset="0"/>
                          </a:rPr>
                        </m:ctrlPr>
                      </m:sSupPr>
                      <m:e>
                        <m:r>
                          <a:rPr lang="en-US" sz="1800" i="1">
                            <a:solidFill>
                              <a:srgbClr val="0070C0"/>
                            </a:solidFill>
                            <a:latin typeface="Cambria Math" panose="02040503050406030204" pitchFamily="18" charset="0"/>
                          </a:rPr>
                          <m:t>𝑥</m:t>
                        </m:r>
                      </m:e>
                      <m:sup>
                        <m:r>
                          <a:rPr lang="en-US" sz="1800" i="1">
                            <a:solidFill>
                              <a:srgbClr val="0070C0"/>
                            </a:solidFill>
                            <a:latin typeface="Cambria Math" panose="02040503050406030204" pitchFamily="18" charset="0"/>
                          </a:rPr>
                          <m:t>𝑛</m:t>
                        </m:r>
                      </m:sup>
                    </m:sSup>
                    <m:r>
                      <a:rPr lang="en-US" sz="1800" i="1">
                        <a:solidFill>
                          <a:srgbClr val="0070C0"/>
                        </a:solidFill>
                        <a:latin typeface="Cambria Math" panose="02040503050406030204" pitchFamily="18" charset="0"/>
                      </a:rPr>
                      <m:t>+</m:t>
                    </m:r>
                    <m:d>
                      <m:dPr>
                        <m:ctrlPr>
                          <a:rPr lang="en-US" sz="1800" i="1">
                            <a:solidFill>
                              <a:srgbClr val="0070C0"/>
                            </a:solidFill>
                            <a:latin typeface="Cambria Math" panose="02040503050406030204" pitchFamily="18" charset="0"/>
                          </a:rPr>
                        </m:ctrlPr>
                      </m:dPr>
                      <m:e>
                        <m:sSub>
                          <m:sSubPr>
                            <m:ctrlPr>
                              <a:rPr lang="en-US" sz="1800" i="1">
                                <a:solidFill>
                                  <a:srgbClr val="0070C0"/>
                                </a:solidFill>
                                <a:latin typeface="Cambria Math" panose="02040503050406030204" pitchFamily="18" charset="0"/>
                              </a:rPr>
                            </m:ctrlPr>
                          </m:sSubPr>
                          <m:e>
                            <m:r>
                              <a:rPr lang="en-US" sz="1800" i="1">
                                <a:solidFill>
                                  <a:srgbClr val="0070C0"/>
                                </a:solidFill>
                                <a:latin typeface="Cambria Math" panose="02040503050406030204" pitchFamily="18" charset="0"/>
                              </a:rPr>
                              <m:t>𝑍</m:t>
                            </m:r>
                          </m:e>
                          <m:sub>
                            <m:r>
                              <a:rPr lang="en-US" sz="1800" b="0" i="1" smtClean="0">
                                <a:solidFill>
                                  <a:srgbClr val="0070C0"/>
                                </a:solidFill>
                                <a:latin typeface="Cambria Math" panose="02040503050406030204" pitchFamily="18" charset="0"/>
                              </a:rPr>
                              <m:t>3</m:t>
                            </m:r>
                          </m:sub>
                        </m:sSub>
                        <m:r>
                          <a:rPr lang="en-US" sz="1800" i="1" dirty="0">
                            <a:solidFill>
                              <a:srgbClr val="0070C0"/>
                            </a:solidFill>
                            <a:latin typeface="Cambria Math" panose="02040503050406030204" pitchFamily="18" charset="0"/>
                          </a:rPr>
                          <m:t>−</m:t>
                        </m:r>
                        <m:sSub>
                          <m:sSubPr>
                            <m:ctrlPr>
                              <a:rPr lang="en-US" sz="1800" i="1">
                                <a:solidFill>
                                  <a:srgbClr val="0070C0"/>
                                </a:solidFill>
                                <a:latin typeface="Cambria Math" panose="02040503050406030204" pitchFamily="18" charset="0"/>
                              </a:rPr>
                            </m:ctrlPr>
                          </m:sSubPr>
                          <m:e>
                            <m:r>
                              <a:rPr lang="en-US" sz="1800" i="1">
                                <a:solidFill>
                                  <a:srgbClr val="0070C0"/>
                                </a:solidFill>
                                <a:latin typeface="Cambria Math" panose="02040503050406030204" pitchFamily="18" charset="0"/>
                              </a:rPr>
                              <m:t>𝑍</m:t>
                            </m:r>
                          </m:e>
                          <m:sub>
                            <m:r>
                              <a:rPr lang="en-US" sz="1800" b="0" i="1" smtClean="0">
                                <a:solidFill>
                                  <a:srgbClr val="0070C0"/>
                                </a:solidFill>
                                <a:latin typeface="Cambria Math" panose="02040503050406030204" pitchFamily="18" charset="0"/>
                              </a:rPr>
                              <m:t>2</m:t>
                            </m:r>
                          </m:sub>
                        </m:sSub>
                        <m:r>
                          <a:rPr lang="en-US" sz="1800" i="1">
                            <a:solidFill>
                              <a:srgbClr val="0070C0"/>
                            </a:solidFill>
                            <a:latin typeface="Cambria Math" panose="02040503050406030204" pitchFamily="18" charset="0"/>
                          </a:rPr>
                          <m:t>−</m:t>
                        </m:r>
                        <m:sSub>
                          <m:sSubPr>
                            <m:ctrlPr>
                              <a:rPr lang="en-US" sz="1800" i="1">
                                <a:solidFill>
                                  <a:srgbClr val="0070C0"/>
                                </a:solidFill>
                                <a:latin typeface="Cambria Math" panose="02040503050406030204" pitchFamily="18" charset="0"/>
                              </a:rPr>
                            </m:ctrlPr>
                          </m:sSubPr>
                          <m:e>
                            <m:r>
                              <a:rPr lang="en-US" sz="1800" i="1">
                                <a:solidFill>
                                  <a:srgbClr val="0070C0"/>
                                </a:solidFill>
                                <a:latin typeface="Cambria Math" panose="02040503050406030204" pitchFamily="18" charset="0"/>
                              </a:rPr>
                              <m:t>𝑍</m:t>
                            </m:r>
                          </m:e>
                          <m:sub>
                            <m:r>
                              <a:rPr lang="en-US" sz="1800" b="0" i="1" smtClean="0">
                                <a:solidFill>
                                  <a:srgbClr val="0070C0"/>
                                </a:solidFill>
                                <a:latin typeface="Cambria Math" panose="02040503050406030204" pitchFamily="18" charset="0"/>
                              </a:rPr>
                              <m:t>0</m:t>
                            </m:r>
                          </m:sub>
                        </m:sSub>
                      </m:e>
                    </m:d>
                    <m:r>
                      <a:rPr lang="en-US" sz="1800" i="1">
                        <a:solidFill>
                          <a:srgbClr val="0070C0"/>
                        </a:solidFill>
                        <a:latin typeface="Cambria Math" panose="02040503050406030204" pitchFamily="18" charset="0"/>
                      </a:rPr>
                      <m:t>∙</m:t>
                    </m:r>
                    <m:sSup>
                      <m:sSupPr>
                        <m:ctrlPr>
                          <a:rPr lang="en-US" sz="1800" i="1">
                            <a:solidFill>
                              <a:srgbClr val="0070C0"/>
                            </a:solidFill>
                            <a:latin typeface="Cambria Math" panose="02040503050406030204" pitchFamily="18" charset="0"/>
                          </a:rPr>
                        </m:ctrlPr>
                      </m:sSupPr>
                      <m:e>
                        <m:r>
                          <a:rPr lang="en-US" sz="1800" i="1">
                            <a:solidFill>
                              <a:srgbClr val="0070C0"/>
                            </a:solidFill>
                            <a:latin typeface="Cambria Math" panose="02040503050406030204" pitchFamily="18" charset="0"/>
                          </a:rPr>
                          <m:t>𝑥</m:t>
                        </m:r>
                      </m:e>
                      <m:sup>
                        <m:f>
                          <m:fPr>
                            <m:ctrlPr>
                              <a:rPr lang="en-US" sz="1800" i="1">
                                <a:solidFill>
                                  <a:srgbClr val="0070C0"/>
                                </a:solidFill>
                                <a:latin typeface="Cambria Math" panose="02040503050406030204" pitchFamily="18" charset="0"/>
                              </a:rPr>
                            </m:ctrlPr>
                          </m:fPr>
                          <m:num>
                            <m:r>
                              <a:rPr lang="en-US" sz="1800" i="1">
                                <a:solidFill>
                                  <a:srgbClr val="0070C0"/>
                                </a:solidFill>
                                <a:latin typeface="Cambria Math" panose="02040503050406030204" pitchFamily="18" charset="0"/>
                              </a:rPr>
                              <m:t>𝑛</m:t>
                            </m:r>
                          </m:num>
                          <m:den>
                            <m:r>
                              <a:rPr lang="en-US" sz="1800" i="1">
                                <a:solidFill>
                                  <a:srgbClr val="0070C0"/>
                                </a:solidFill>
                                <a:latin typeface="Cambria Math" panose="02040503050406030204" pitchFamily="18" charset="0"/>
                              </a:rPr>
                              <m:t>2</m:t>
                            </m:r>
                          </m:den>
                        </m:f>
                      </m:sup>
                    </m:sSup>
                    <m:r>
                      <a:rPr lang="en-US" sz="1800" i="1">
                        <a:solidFill>
                          <a:srgbClr val="0070C0"/>
                        </a:solidFill>
                        <a:latin typeface="Cambria Math" panose="02040503050406030204" pitchFamily="18" charset="0"/>
                      </a:rPr>
                      <m:t>+</m:t>
                    </m:r>
                    <m:sSub>
                      <m:sSubPr>
                        <m:ctrlPr>
                          <a:rPr lang="en-US" sz="1800" i="1">
                            <a:solidFill>
                              <a:srgbClr val="0070C0"/>
                            </a:solidFill>
                            <a:latin typeface="Cambria Math" panose="02040503050406030204" pitchFamily="18" charset="0"/>
                          </a:rPr>
                        </m:ctrlPr>
                      </m:sSubPr>
                      <m:e>
                        <m:r>
                          <a:rPr lang="en-US" sz="1800" i="1">
                            <a:solidFill>
                              <a:srgbClr val="0070C0"/>
                            </a:solidFill>
                            <a:latin typeface="Cambria Math" panose="02040503050406030204" pitchFamily="18" charset="0"/>
                          </a:rPr>
                          <m:t>𝑍</m:t>
                        </m:r>
                      </m:e>
                      <m:sub>
                        <m:r>
                          <a:rPr lang="en-US" sz="1800" b="0" i="1" smtClean="0">
                            <a:solidFill>
                              <a:srgbClr val="0070C0"/>
                            </a:solidFill>
                            <a:latin typeface="Cambria Math" panose="02040503050406030204" pitchFamily="18" charset="0"/>
                          </a:rPr>
                          <m:t>0</m:t>
                        </m:r>
                      </m:sub>
                    </m:sSub>
                  </m:oMath>
                </a14:m>
                <a:r>
                  <a:rPr lang="en-US" sz="1800" dirty="0">
                    <a:solidFill>
                      <a:srgbClr val="0070C0"/>
                    </a:solidFill>
                  </a:rPr>
                  <a:t>          (2)</a:t>
                </a:r>
              </a:p>
            </p:txBody>
          </p:sp>
        </mc:Choice>
        <mc:Fallback xmlns="">
          <p:sp>
            <p:nvSpPr>
              <p:cNvPr id="3" name="Content Placeholder 2">
                <a:extLst>
                  <a:ext uri="{FF2B5EF4-FFF2-40B4-BE49-F238E27FC236}">
                    <a16:creationId xmlns:a16="http://schemas.microsoft.com/office/drawing/2014/main" id="{E4649E58-A4AE-4D27-BCE2-29C6F0DAC3C0}"/>
                  </a:ext>
                </a:extLst>
              </p:cNvPr>
              <p:cNvSpPr>
                <a:spLocks noGrp="1" noRot="1" noChangeAspect="1" noMove="1" noResize="1" noEditPoints="1" noAdjustHandles="1" noChangeArrowheads="1" noChangeShapeType="1" noTextEdit="1"/>
              </p:cNvSpPr>
              <p:nvPr>
                <p:ph idx="1"/>
              </p:nvPr>
            </p:nvSpPr>
            <p:spPr>
              <a:xfrm>
                <a:off x="838200" y="1417740"/>
                <a:ext cx="10515600" cy="5201174"/>
              </a:xfrm>
              <a:blipFill>
                <a:blip r:embed="rId2"/>
                <a:stretch>
                  <a:fillRect l="-812"/>
                </a:stretch>
              </a:blipFill>
            </p:spPr>
            <p:txBody>
              <a:bodyPr/>
              <a:lstStyle/>
              <a:p>
                <a:r>
                  <a:rPr lang="en-US">
                    <a:noFill/>
                  </a:rPr>
                  <a:t> </a:t>
                </a:r>
              </a:p>
            </p:txBody>
          </p:sp>
        </mc:Fallback>
      </mc:AlternateContent>
    </p:spTree>
    <p:extLst>
      <p:ext uri="{BB962C8B-B14F-4D97-AF65-F5344CB8AC3E}">
        <p14:creationId xmlns:p14="http://schemas.microsoft.com/office/powerpoint/2010/main" val="1096257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838200" y="365126"/>
            <a:ext cx="10515600" cy="1052614"/>
          </a:xfrm>
        </p:spPr>
        <p:txBody>
          <a:bodyPr/>
          <a:lstStyle/>
          <a:p>
            <a:r>
              <a:rPr lang="en-US" dirty="0"/>
              <a:t>Algorithm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250971" y="1325257"/>
                <a:ext cx="10515600" cy="453209"/>
              </a:xfrm>
            </p:spPr>
            <p:txBody>
              <a:bodyPr>
                <a:normAutofit/>
              </a:bodyPr>
              <a:lstStyle/>
              <a:p>
                <a:r>
                  <a:rPr lang="en-US" sz="2000" dirty="0"/>
                  <a:t>Think: why we use </a:t>
                </a:r>
                <a:r>
                  <a:rPr lang="en-US" sz="2000" dirty="0">
                    <a:solidFill>
                      <a:srgbClr val="0070C0"/>
                    </a:solidFill>
                  </a:rPr>
                  <a:t>(2)</a:t>
                </a:r>
                <a:r>
                  <a:rPr lang="en-US" sz="2000" dirty="0"/>
                  <a:t> to compute </a:t>
                </a:r>
                <a14:m>
                  <m:oMath xmlns:m="http://schemas.openxmlformats.org/officeDocument/2006/math">
                    <m:r>
                      <a:rPr lang="en-US" sz="2000" b="0" i="1" smtClean="0">
                        <a:latin typeface="Cambria Math" panose="02040503050406030204" pitchFamily="18" charset="0"/>
                      </a:rPr>
                      <m:t>𝐶</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 </m:t>
                    </m:r>
                  </m:oMath>
                </a14:m>
                <a:r>
                  <a:rPr lang="en-US" sz="2000" dirty="0"/>
                  <a:t>instead of </a:t>
                </a:r>
                <a:r>
                  <a:rPr lang="en-US" sz="2000" dirty="0">
                    <a:solidFill>
                      <a:srgbClr val="FF0000"/>
                    </a:solidFill>
                  </a:rPr>
                  <a:t>(1)</a:t>
                </a:r>
                <a:r>
                  <a:rPr lang="en-US" sz="2000" dirty="0"/>
                  <a:t>?</a:t>
                </a:r>
              </a:p>
            </p:txBody>
          </p:sp>
        </mc:Choice>
        <mc:Fallback xmlns="">
          <p:sp>
            <p:nvSpPr>
              <p:cNvPr id="3" name="Content Placeholder 2">
                <a:extLst>
                  <a:ext uri="{FF2B5EF4-FFF2-40B4-BE49-F238E27FC236}">
                    <a16:creationId xmlns:a16="http://schemas.microsoft.com/office/drawing/2014/main" id="{E4649E58-A4AE-4D27-BCE2-29C6F0DAC3C0}"/>
                  </a:ext>
                </a:extLst>
              </p:cNvPr>
              <p:cNvSpPr>
                <a:spLocks noGrp="1" noRot="1" noChangeAspect="1" noMove="1" noResize="1" noEditPoints="1" noAdjustHandles="1" noChangeArrowheads="1" noChangeShapeType="1" noTextEdit="1"/>
              </p:cNvSpPr>
              <p:nvPr>
                <p:ph idx="1"/>
              </p:nvPr>
            </p:nvSpPr>
            <p:spPr>
              <a:xfrm>
                <a:off x="250971" y="1325257"/>
                <a:ext cx="10515600" cy="453209"/>
              </a:xfrm>
              <a:blipFill>
                <a:blip r:embed="rId2"/>
                <a:stretch>
                  <a:fillRect l="-522" t="-13333" b="-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431DDC37-2ED2-498A-AB4B-789A4DED34F0}"/>
                  </a:ext>
                </a:extLst>
              </p:cNvPr>
              <p:cNvSpPr txBox="1">
                <a:spLocks/>
              </p:cNvSpPr>
              <p:nvPr/>
            </p:nvSpPr>
            <p:spPr>
              <a:xfrm>
                <a:off x="125135" y="2180224"/>
                <a:ext cx="11485227" cy="344879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600" dirty="0"/>
                  <a:t>First, if using solution (1) to compute </a:t>
                </a:r>
                <a14:m>
                  <m:oMath xmlns:m="http://schemas.openxmlformats.org/officeDocument/2006/math">
                    <m:r>
                      <a:rPr lang="en-US" sz="1600" b="0" i="1" smtClean="0">
                        <a:latin typeface="Cambria Math" panose="02040503050406030204" pitchFamily="18" charset="0"/>
                      </a:rPr>
                      <m:t>𝐶</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oMath>
                </a14:m>
                <a:r>
                  <a:rPr lang="en-US" sz="1600" dirty="0"/>
                  <a:t>, we need to compute </a:t>
                </a:r>
                <a14:m>
                  <m:oMath xmlns:m="http://schemas.openxmlformats.org/officeDocument/2006/math">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𝑍</m:t>
                        </m:r>
                      </m:e>
                      <m:sub>
                        <m:r>
                          <a:rPr lang="en-US" sz="1600" i="1">
                            <a:solidFill>
                              <a:srgbClr val="FF0000"/>
                            </a:solidFill>
                            <a:latin typeface="Cambria Math" panose="02040503050406030204" pitchFamily="18" charset="0"/>
                          </a:rPr>
                          <m:t>2</m:t>
                        </m:r>
                      </m:sub>
                    </m:sSub>
                    <m:r>
                      <a:rPr lang="en-US" sz="1600" b="0" i="1" smtClean="0">
                        <a:solidFill>
                          <a:srgbClr val="FF0000"/>
                        </a:solidFill>
                        <a:latin typeface="Cambria Math" panose="02040503050406030204" pitchFamily="18" charset="0"/>
                        <a:ea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𝑍</m:t>
                        </m:r>
                      </m:e>
                      <m:sub>
                        <m:r>
                          <a:rPr lang="en-US" sz="1600" b="0" i="1" smtClean="0">
                            <a:solidFill>
                              <a:srgbClr val="FF0000"/>
                            </a:solidFill>
                            <a:latin typeface="Cambria Math" panose="02040503050406030204" pitchFamily="18" charset="0"/>
                          </a:rPr>
                          <m:t>1</m:t>
                        </m:r>
                      </m:sub>
                    </m:sSub>
                  </m:oMath>
                </a14:m>
                <a:r>
                  <a:rPr lang="en-US" sz="1600" dirty="0"/>
                  <a:t> and </a:t>
                </a:r>
                <a14:m>
                  <m:oMath xmlns:m="http://schemas.openxmlformats.org/officeDocument/2006/math">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𝑍</m:t>
                        </m:r>
                      </m:e>
                      <m:sub>
                        <m:r>
                          <a:rPr lang="en-US" sz="1600" i="1">
                            <a:solidFill>
                              <a:srgbClr val="FF0000"/>
                            </a:solidFill>
                            <a:latin typeface="Cambria Math" panose="02040503050406030204" pitchFamily="18" charset="0"/>
                          </a:rPr>
                          <m:t>0</m:t>
                        </m:r>
                      </m:sub>
                    </m:sSub>
                  </m:oMath>
                </a14:m>
                <a:r>
                  <a:rPr lang="en-US" sz="1600" dirty="0"/>
                  <a:t>;</a:t>
                </a:r>
              </a:p>
              <a:p>
                <a:pPr lvl="1"/>
                <a:r>
                  <a:rPr lang="en-US" sz="1600" dirty="0"/>
                  <a:t>And if using solution (2) to compute </a:t>
                </a:r>
                <a14:m>
                  <m:oMath xmlns:m="http://schemas.openxmlformats.org/officeDocument/2006/math">
                    <m:r>
                      <a:rPr lang="en-US" sz="1600" b="0" i="1" smtClean="0">
                        <a:latin typeface="Cambria Math" panose="02040503050406030204" pitchFamily="18" charset="0"/>
                      </a:rPr>
                      <m:t>𝐶</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oMath>
                </a14:m>
                <a:r>
                  <a:rPr lang="en-US" sz="1600" dirty="0"/>
                  <a:t>, we need to compute</a:t>
                </a:r>
                <a:r>
                  <a:rPr lang="en-US" sz="1600" dirty="0">
                    <a:solidFill>
                      <a:srgbClr val="FF0000"/>
                    </a:solidFill>
                  </a:rPr>
                  <a:t> </a:t>
                </a:r>
                <a14:m>
                  <m:oMath xmlns:m="http://schemas.openxmlformats.org/officeDocument/2006/math">
                    <m:sSub>
                      <m:sSubPr>
                        <m:ctrlPr>
                          <a:rPr lang="en-US" sz="1600" i="1" smtClean="0">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2</m:t>
                        </m:r>
                      </m:sub>
                    </m:sSub>
                    <m:r>
                      <a:rPr lang="en-US" sz="1600" i="1">
                        <a:solidFill>
                          <a:srgbClr val="0070C0"/>
                        </a:solidFill>
                        <a:latin typeface="Cambria Math" panose="02040503050406030204" pitchFamily="18" charset="0"/>
                      </a:rPr>
                      <m:t>,</m:t>
                    </m:r>
                    <m:sSub>
                      <m:sSubPr>
                        <m:ctrlPr>
                          <a:rPr lang="en-US" sz="1600" i="1">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3</m:t>
                        </m:r>
                      </m:sub>
                    </m:sSub>
                    <m:r>
                      <a:rPr lang="en-US" sz="1600" i="1">
                        <a:solidFill>
                          <a:srgbClr val="0070C0"/>
                        </a:solidFill>
                        <a:latin typeface="Cambria Math" panose="02040503050406030204" pitchFamily="18" charset="0"/>
                      </a:rPr>
                      <m:t>−</m:t>
                    </m:r>
                    <m:sSub>
                      <m:sSubPr>
                        <m:ctrlPr>
                          <a:rPr lang="en-US" sz="1600" i="1">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2</m:t>
                        </m:r>
                      </m:sub>
                    </m:sSub>
                    <m:r>
                      <a:rPr lang="en-US" sz="1600" i="1">
                        <a:solidFill>
                          <a:srgbClr val="0070C0"/>
                        </a:solidFill>
                        <a:latin typeface="Cambria Math" panose="02040503050406030204" pitchFamily="18" charset="0"/>
                      </a:rPr>
                      <m:t>−</m:t>
                    </m:r>
                    <m:sSub>
                      <m:sSubPr>
                        <m:ctrlPr>
                          <a:rPr lang="en-US" sz="1600" i="1">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0</m:t>
                        </m:r>
                      </m:sub>
                    </m:sSub>
                  </m:oMath>
                </a14:m>
                <a:r>
                  <a:rPr lang="en-US" sz="1600" dirty="0"/>
                  <a:t>and </a:t>
                </a:r>
                <a14:m>
                  <m:oMath xmlns:m="http://schemas.openxmlformats.org/officeDocument/2006/math">
                    <m:sSub>
                      <m:sSubPr>
                        <m:ctrlPr>
                          <a:rPr lang="en-US" sz="1600" i="1" smtClean="0">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0</m:t>
                        </m:r>
                      </m:sub>
                    </m:sSub>
                  </m:oMath>
                </a14:m>
                <a:r>
                  <a:rPr lang="en-US" sz="1600" dirty="0"/>
                  <a:t>;</a:t>
                </a:r>
              </a:p>
              <a:p>
                <a:pPr lvl="1"/>
                <a:r>
                  <a:rPr lang="en-US" sz="1600" dirty="0"/>
                  <a:t>The difference is  to compute </a:t>
                </a:r>
                <a14:m>
                  <m:oMath xmlns:m="http://schemas.openxmlformats.org/officeDocument/2006/math">
                    <m:sSub>
                      <m:sSubPr>
                        <m:ctrlPr>
                          <a:rPr lang="en-US" sz="1600" i="1" smtClean="0">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𝑍</m:t>
                        </m:r>
                      </m:e>
                      <m:sub>
                        <m:r>
                          <a:rPr lang="en-US" sz="1600" b="0" i="1" smtClean="0">
                            <a:solidFill>
                              <a:srgbClr val="FF0000"/>
                            </a:solidFill>
                            <a:latin typeface="Cambria Math" panose="02040503050406030204" pitchFamily="18" charset="0"/>
                          </a:rPr>
                          <m:t>1</m:t>
                        </m:r>
                      </m:sub>
                    </m:sSub>
                  </m:oMath>
                </a14:m>
                <a:r>
                  <a:rPr lang="en-US" sz="1600" dirty="0"/>
                  <a:t> or to compute </a:t>
                </a:r>
                <a14:m>
                  <m:oMath xmlns:m="http://schemas.openxmlformats.org/officeDocument/2006/math">
                    <m:sSub>
                      <m:sSubPr>
                        <m:ctrlPr>
                          <a:rPr lang="en-US" sz="1600" i="1">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3</m:t>
                        </m:r>
                      </m:sub>
                    </m:sSub>
                    <m:r>
                      <a:rPr lang="en-US" sz="1600" i="1">
                        <a:solidFill>
                          <a:srgbClr val="0070C0"/>
                        </a:solidFill>
                        <a:latin typeface="Cambria Math" panose="02040503050406030204" pitchFamily="18" charset="0"/>
                      </a:rPr>
                      <m:t>−</m:t>
                    </m:r>
                    <m:sSub>
                      <m:sSubPr>
                        <m:ctrlPr>
                          <a:rPr lang="en-US" sz="1600" i="1">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2</m:t>
                        </m:r>
                      </m:sub>
                    </m:sSub>
                    <m:r>
                      <a:rPr lang="en-US" sz="1600" i="1">
                        <a:solidFill>
                          <a:srgbClr val="0070C0"/>
                        </a:solidFill>
                        <a:latin typeface="Cambria Math" panose="02040503050406030204" pitchFamily="18" charset="0"/>
                      </a:rPr>
                      <m:t>−</m:t>
                    </m:r>
                    <m:sSub>
                      <m:sSubPr>
                        <m:ctrlPr>
                          <a:rPr lang="en-US" sz="1600" i="1">
                            <a:solidFill>
                              <a:srgbClr val="0070C0"/>
                            </a:solidFill>
                            <a:latin typeface="Cambria Math" panose="02040503050406030204" pitchFamily="18" charset="0"/>
                          </a:rPr>
                        </m:ctrlPr>
                      </m:sSubPr>
                      <m:e>
                        <m:r>
                          <a:rPr lang="en-US" sz="1600" i="1">
                            <a:solidFill>
                              <a:srgbClr val="0070C0"/>
                            </a:solidFill>
                            <a:latin typeface="Cambria Math" panose="02040503050406030204" pitchFamily="18" charset="0"/>
                          </a:rPr>
                          <m:t>𝑍</m:t>
                        </m:r>
                      </m:e>
                      <m:sub>
                        <m:r>
                          <a:rPr lang="en-US" sz="1600" i="1">
                            <a:solidFill>
                              <a:srgbClr val="0070C0"/>
                            </a:solidFill>
                            <a:latin typeface="Cambria Math" panose="02040503050406030204" pitchFamily="18" charset="0"/>
                          </a:rPr>
                          <m:t>0</m:t>
                        </m:r>
                      </m:sub>
                    </m:sSub>
                  </m:oMath>
                </a14:m>
                <a:r>
                  <a:rPr lang="en-US" sz="1600" dirty="0"/>
                  <a:t>.</a:t>
                </a:r>
              </a:p>
              <a:p>
                <a:pPr lvl="1"/>
                <a:r>
                  <a:rPr lang="en-US" sz="1600" dirty="0"/>
                  <a:t>If the data size is </a:t>
                </a:r>
                <a14:m>
                  <m:oMath xmlns:m="http://schemas.openxmlformats.org/officeDocument/2006/math">
                    <m:r>
                      <a:rPr lang="en-US" sz="1600" b="0" i="1" smtClean="0">
                        <a:latin typeface="Cambria Math" panose="02040503050406030204" pitchFamily="18" charset="0"/>
                      </a:rPr>
                      <m:t>𝑛</m:t>
                    </m:r>
                  </m:oMath>
                </a14:m>
                <a:r>
                  <a:rPr lang="en-US" sz="1600" dirty="0"/>
                  <a:t>, then time cost of computing </a:t>
                </a:r>
                <a14:m>
                  <m:oMath xmlns:m="http://schemas.openxmlformats.org/officeDocument/2006/math">
                    <m:r>
                      <a:rPr lang="en-US" sz="1600" i="1">
                        <a:latin typeface="Cambria Math" panose="02040503050406030204" pitchFamily="18" charset="0"/>
                      </a:rPr>
                      <m:t>𝐶</m:t>
                    </m:r>
                    <m:d>
                      <m:dPr>
                        <m:ctrlPr>
                          <a:rPr lang="en-US" sz="1600" i="1">
                            <a:latin typeface="Cambria Math" panose="02040503050406030204" pitchFamily="18" charset="0"/>
                          </a:rPr>
                        </m:ctrlPr>
                      </m:dPr>
                      <m:e>
                        <m:r>
                          <a:rPr lang="en-US" sz="1600" i="1">
                            <a:latin typeface="Cambria Math" panose="02040503050406030204" pitchFamily="18" charset="0"/>
                          </a:rPr>
                          <m:t>𝑥</m:t>
                        </m:r>
                      </m:e>
                    </m:d>
                  </m:oMath>
                </a14:m>
                <a:r>
                  <a:rPr lang="en-US" sz="1600" dirty="0"/>
                  <a:t> is </a:t>
                </a:r>
                <a14:m>
                  <m:oMath xmlns:m="http://schemas.openxmlformats.org/officeDocument/2006/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𝑛</m:t>
                        </m:r>
                      </m:e>
                    </m:d>
                  </m:oMath>
                </a14:m>
                <a:r>
                  <a:rPr lang="en-US" sz="1600" dirty="0"/>
                  <a:t>, thus, the time cost </a:t>
                </a:r>
                <a:r>
                  <a:rPr lang="en-US" altLang="zh-CN" sz="1600" dirty="0"/>
                  <a:t>for:</a:t>
                </a:r>
              </a:p>
              <a:p>
                <a:pPr lvl="2"/>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2</m:t>
                        </m:r>
                      </m:sub>
                    </m:sSub>
                  </m:oMath>
                </a14:m>
                <a:r>
                  <a:rPr lang="en-US" sz="1200" dirty="0"/>
                  <a:t>, it is </a:t>
                </a:r>
                <a14:m>
                  <m:oMath xmlns:m="http://schemas.openxmlformats.org/officeDocument/2006/math">
                    <m:r>
                      <a:rPr lang="en-US" sz="1200" i="1">
                        <a:latin typeface="Cambria Math" panose="02040503050406030204" pitchFamily="18" charset="0"/>
                      </a:rPr>
                      <m:t>𝑇</m:t>
                    </m:r>
                    <m:d>
                      <m:dPr>
                        <m:ctrlPr>
                          <a:rPr lang="en-US" sz="1200" i="1">
                            <a:latin typeface="Cambria Math" panose="02040503050406030204" pitchFamily="18" charset="0"/>
                          </a:rPr>
                        </m:ctrlPr>
                      </m:dPr>
                      <m:e>
                        <m:r>
                          <a:rPr lang="en-US" sz="1200" i="1">
                            <a:latin typeface="Cambria Math" panose="02040503050406030204" pitchFamily="18" charset="0"/>
                          </a:rPr>
                          <m:t>𝑛</m:t>
                        </m:r>
                        <m:r>
                          <a:rPr lang="en-US" sz="1200" b="0" i="1" smtClean="0">
                            <a:latin typeface="Cambria Math" panose="02040503050406030204" pitchFamily="18" charset="0"/>
                          </a:rPr>
                          <m:t>/2</m:t>
                        </m:r>
                      </m:e>
                    </m:d>
                  </m:oMath>
                </a14:m>
                <a:r>
                  <a:rPr lang="en-US" sz="1200" dirty="0"/>
                  <a:t>;</a:t>
                </a:r>
              </a:p>
              <a:p>
                <a:pPr lvl="2"/>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0</m:t>
                        </m:r>
                      </m:sub>
                    </m:sSub>
                  </m:oMath>
                </a14:m>
                <a:r>
                  <a:rPr lang="en-US" sz="1200" dirty="0"/>
                  <a:t>, it is </a:t>
                </a:r>
                <a14:m>
                  <m:oMath xmlns:m="http://schemas.openxmlformats.org/officeDocument/2006/math">
                    <m:r>
                      <a:rPr lang="en-US" sz="1200" i="1">
                        <a:latin typeface="Cambria Math" panose="02040503050406030204" pitchFamily="18" charset="0"/>
                      </a:rPr>
                      <m:t>𝑇</m:t>
                    </m:r>
                    <m:d>
                      <m:dPr>
                        <m:ctrlPr>
                          <a:rPr lang="en-US" sz="1200" i="1">
                            <a:latin typeface="Cambria Math" panose="02040503050406030204" pitchFamily="18" charset="0"/>
                          </a:rPr>
                        </m:ctrlPr>
                      </m:dPr>
                      <m:e>
                        <m:r>
                          <a:rPr lang="en-US" sz="1200" i="1">
                            <a:latin typeface="Cambria Math" panose="02040503050406030204" pitchFamily="18" charset="0"/>
                          </a:rPr>
                          <m:t>𝑛</m:t>
                        </m:r>
                        <m:r>
                          <a:rPr lang="en-US" sz="1200" b="0" i="1" smtClean="0">
                            <a:latin typeface="Cambria Math" panose="02040503050406030204" pitchFamily="18" charset="0"/>
                          </a:rPr>
                          <m:t>/2</m:t>
                        </m:r>
                      </m:e>
                    </m:d>
                  </m:oMath>
                </a14:m>
                <a:r>
                  <a:rPr lang="en-US" sz="1200" dirty="0"/>
                  <a:t>;</a:t>
                </a:r>
              </a:p>
              <a:p>
                <a:pPr lvl="2"/>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1</m:t>
                        </m:r>
                      </m:sub>
                    </m:sSub>
                  </m:oMath>
                </a14:m>
                <a:r>
                  <a:rPr lang="en-US" sz="1200" dirty="0"/>
                  <a:t>, it is </a:t>
                </a:r>
                <a14:m>
                  <m:oMath xmlns:m="http://schemas.openxmlformats.org/officeDocument/2006/math">
                    <m:r>
                      <a:rPr lang="en-US" sz="1200" b="0" i="0" smtClean="0">
                        <a:latin typeface="Cambria Math" panose="02040503050406030204" pitchFamily="18" charset="0"/>
                      </a:rPr>
                      <m:t>2</m:t>
                    </m:r>
                    <m:r>
                      <a:rPr lang="en-US" sz="1200" i="1">
                        <a:latin typeface="Cambria Math" panose="02040503050406030204" pitchFamily="18" charset="0"/>
                      </a:rPr>
                      <m:t>𝑇</m:t>
                    </m:r>
                    <m:d>
                      <m:dPr>
                        <m:ctrlPr>
                          <a:rPr lang="en-US" sz="1200" i="1">
                            <a:latin typeface="Cambria Math" panose="02040503050406030204" pitchFamily="18" charset="0"/>
                          </a:rPr>
                        </m:ctrlPr>
                      </m:dPr>
                      <m:e>
                        <m:r>
                          <a:rPr lang="en-US" sz="1200" i="1">
                            <a:latin typeface="Cambria Math" panose="02040503050406030204" pitchFamily="18" charset="0"/>
                          </a:rPr>
                          <m:t>𝑛</m:t>
                        </m:r>
                        <m:r>
                          <a:rPr lang="en-US" sz="1200" b="0" i="1" smtClean="0">
                            <a:latin typeface="Cambria Math" panose="02040503050406030204" pitchFamily="18" charset="0"/>
                          </a:rPr>
                          <m:t>/2</m:t>
                        </m:r>
                      </m:e>
                    </m:d>
                  </m:oMath>
                </a14:m>
                <a:r>
                  <a:rPr lang="en-US" sz="1200" dirty="0"/>
                  <a:t>;</a:t>
                </a:r>
              </a:p>
              <a:p>
                <a:pPr lvl="2"/>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3</m:t>
                        </m:r>
                      </m:sub>
                    </m:sSub>
                  </m:oMath>
                </a14:m>
                <a:r>
                  <a:rPr lang="en-US" sz="1200" dirty="0"/>
                  <a:t>, it is </a:t>
                </a:r>
                <a14:m>
                  <m:oMath xmlns:m="http://schemas.openxmlformats.org/officeDocument/2006/math">
                    <m:r>
                      <a:rPr lang="en-US" sz="1200" i="1">
                        <a:latin typeface="Cambria Math" panose="02040503050406030204" pitchFamily="18" charset="0"/>
                      </a:rPr>
                      <m:t>𝑇</m:t>
                    </m:r>
                    <m:d>
                      <m:dPr>
                        <m:ctrlPr>
                          <a:rPr lang="en-US" sz="1200" i="1">
                            <a:latin typeface="Cambria Math" panose="02040503050406030204" pitchFamily="18" charset="0"/>
                          </a:rPr>
                        </m:ctrlPr>
                      </m:dPr>
                      <m:e>
                        <m:r>
                          <a:rPr lang="en-US" sz="1200" i="1">
                            <a:latin typeface="Cambria Math" panose="02040503050406030204" pitchFamily="18" charset="0"/>
                          </a:rPr>
                          <m:t>𝑛</m:t>
                        </m:r>
                        <m:r>
                          <a:rPr lang="en-US" sz="1200" b="0" i="1" smtClean="0">
                            <a:latin typeface="Cambria Math" panose="02040503050406030204" pitchFamily="18" charset="0"/>
                          </a:rPr>
                          <m:t>/2</m:t>
                        </m:r>
                      </m:e>
                    </m:d>
                    <m:r>
                      <a:rPr lang="en-US" sz="1200" b="0" i="0" smtClean="0">
                        <a:latin typeface="Cambria Math" panose="02040503050406030204" pitchFamily="18" charset="0"/>
                      </a:rPr>
                      <m:t>+</m:t>
                    </m:r>
                    <m:r>
                      <a:rPr lang="en-US" sz="1200" b="0" i="1" smtClean="0">
                        <a:latin typeface="Cambria Math" panose="02040503050406030204" pitchFamily="18" charset="0"/>
                      </a:rPr>
                      <m:t>𝑐𝑛</m:t>
                    </m:r>
                  </m:oMath>
                </a14:m>
                <a:r>
                  <a:rPr lang="en-US" sz="1200" dirty="0"/>
                  <a:t>, since the time cost for minus and plus operations are both </a:t>
                </a:r>
                <a14:m>
                  <m:oMath xmlns:m="http://schemas.openxmlformats.org/officeDocument/2006/math">
                    <m:r>
                      <m:rPr>
                        <m:sty m:val="p"/>
                      </m:rPr>
                      <a:rPr lang="el-GR" sz="1200" i="1" smtClean="0">
                        <a:latin typeface="Cambria Math" panose="02040503050406030204" pitchFamily="18" charset="0"/>
                        <a:ea typeface="Cambria Math" panose="02040503050406030204" pitchFamily="18" charset="0"/>
                      </a:rPr>
                      <m:t>Ο</m:t>
                    </m:r>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𝑛</m:t>
                        </m:r>
                      </m:e>
                    </m:d>
                  </m:oMath>
                </a14:m>
                <a:r>
                  <a:rPr lang="en-US" sz="1200" dirty="0"/>
                  <a:t>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𝑍</m:t>
                        </m:r>
                      </m:e>
                      <m:sub>
                        <m:r>
                          <a:rPr lang="en-US" sz="1200" i="1">
                            <a:latin typeface="Cambria Math" panose="02040503050406030204" pitchFamily="18" charset="0"/>
                          </a:rPr>
                          <m:t>3</m:t>
                        </m:r>
                      </m:sub>
                    </m:sSub>
                  </m:oMath>
                </a14:m>
                <a:r>
                  <a:rPr lang="en-US" sz="1200" dirty="0"/>
                  <a:t> has two plus operations and one multiplication operation at data size </a:t>
                </a:r>
                <a14:m>
                  <m:oMath xmlns:m="http://schemas.openxmlformats.org/officeDocument/2006/math">
                    <m:f>
                      <m:fPr>
                        <m:ctrlPr>
                          <a:rPr lang="en-US" sz="1200" i="1" smtClean="0">
                            <a:latin typeface="Cambria Math" panose="02040503050406030204" pitchFamily="18" charset="0"/>
                          </a:rPr>
                        </m:ctrlPr>
                      </m:fPr>
                      <m:num>
                        <m:r>
                          <a:rPr lang="en-US" sz="1200" b="0" i="1" smtClean="0">
                            <a:latin typeface="Cambria Math" panose="02040503050406030204" pitchFamily="18" charset="0"/>
                          </a:rPr>
                          <m:t>𝑛</m:t>
                        </m:r>
                      </m:num>
                      <m:den>
                        <m:r>
                          <a:rPr lang="en-US" sz="1200" b="0" i="1" smtClean="0">
                            <a:latin typeface="Cambria Math" panose="02040503050406030204" pitchFamily="18" charset="0"/>
                          </a:rPr>
                          <m:t>2</m:t>
                        </m:r>
                      </m:den>
                    </m:f>
                  </m:oMath>
                </a14:m>
                <a:endParaRPr lang="en-US" sz="1200" dirty="0"/>
              </a:p>
              <a:p>
                <a:pPr lvl="2"/>
                <a:r>
                  <a:rPr lang="en-US" sz="1200" dirty="0"/>
                  <a:t>Obviously, the time cost for </a:t>
                </a:r>
                <a14:m>
                  <m:oMath xmlns:m="http://schemas.openxmlformats.org/officeDocument/2006/math">
                    <m:sSub>
                      <m:sSubPr>
                        <m:ctrlPr>
                          <a:rPr lang="en-US" sz="1200" i="1" smtClean="0">
                            <a:solidFill>
                              <a:srgbClr val="0070C0"/>
                            </a:solidFill>
                            <a:latin typeface="Cambria Math" panose="02040503050406030204" pitchFamily="18" charset="0"/>
                          </a:rPr>
                        </m:ctrlPr>
                      </m:sSubPr>
                      <m:e>
                        <m:r>
                          <a:rPr lang="en-US" sz="1200" i="1">
                            <a:solidFill>
                              <a:srgbClr val="0070C0"/>
                            </a:solidFill>
                            <a:latin typeface="Cambria Math" panose="02040503050406030204" pitchFamily="18" charset="0"/>
                          </a:rPr>
                          <m:t>𝑍</m:t>
                        </m:r>
                      </m:e>
                      <m:sub>
                        <m:r>
                          <a:rPr lang="en-US" sz="1200" i="1">
                            <a:solidFill>
                              <a:srgbClr val="0070C0"/>
                            </a:solidFill>
                            <a:latin typeface="Cambria Math" panose="02040503050406030204" pitchFamily="18" charset="0"/>
                          </a:rPr>
                          <m:t>3</m:t>
                        </m:r>
                      </m:sub>
                    </m:sSub>
                    <m:r>
                      <a:rPr lang="en-US" sz="1200" i="1">
                        <a:solidFill>
                          <a:srgbClr val="0070C0"/>
                        </a:solidFill>
                        <a:latin typeface="Cambria Math" panose="02040503050406030204" pitchFamily="18" charset="0"/>
                      </a:rPr>
                      <m:t>−</m:t>
                    </m:r>
                    <m:sSub>
                      <m:sSubPr>
                        <m:ctrlPr>
                          <a:rPr lang="en-US" sz="1200" i="1">
                            <a:solidFill>
                              <a:srgbClr val="0070C0"/>
                            </a:solidFill>
                            <a:latin typeface="Cambria Math" panose="02040503050406030204" pitchFamily="18" charset="0"/>
                          </a:rPr>
                        </m:ctrlPr>
                      </m:sSubPr>
                      <m:e>
                        <m:r>
                          <a:rPr lang="en-US" sz="1200" i="1">
                            <a:solidFill>
                              <a:srgbClr val="0070C0"/>
                            </a:solidFill>
                            <a:latin typeface="Cambria Math" panose="02040503050406030204" pitchFamily="18" charset="0"/>
                          </a:rPr>
                          <m:t>𝑍</m:t>
                        </m:r>
                      </m:e>
                      <m:sub>
                        <m:r>
                          <a:rPr lang="en-US" sz="1200" i="1">
                            <a:solidFill>
                              <a:srgbClr val="0070C0"/>
                            </a:solidFill>
                            <a:latin typeface="Cambria Math" panose="02040503050406030204" pitchFamily="18" charset="0"/>
                          </a:rPr>
                          <m:t>2</m:t>
                        </m:r>
                      </m:sub>
                    </m:sSub>
                    <m:r>
                      <a:rPr lang="en-US" sz="1200" i="1">
                        <a:solidFill>
                          <a:srgbClr val="0070C0"/>
                        </a:solidFill>
                        <a:latin typeface="Cambria Math" panose="02040503050406030204" pitchFamily="18" charset="0"/>
                      </a:rPr>
                      <m:t>−</m:t>
                    </m:r>
                    <m:sSub>
                      <m:sSubPr>
                        <m:ctrlPr>
                          <a:rPr lang="en-US" sz="1200" i="1">
                            <a:solidFill>
                              <a:srgbClr val="0070C0"/>
                            </a:solidFill>
                            <a:latin typeface="Cambria Math" panose="02040503050406030204" pitchFamily="18" charset="0"/>
                          </a:rPr>
                        </m:ctrlPr>
                      </m:sSubPr>
                      <m:e>
                        <m:r>
                          <a:rPr lang="en-US" sz="1200" i="1">
                            <a:solidFill>
                              <a:srgbClr val="0070C0"/>
                            </a:solidFill>
                            <a:latin typeface="Cambria Math" panose="02040503050406030204" pitchFamily="18" charset="0"/>
                          </a:rPr>
                          <m:t>𝑍</m:t>
                        </m:r>
                      </m:e>
                      <m:sub>
                        <m:r>
                          <a:rPr lang="en-US" sz="1200" i="1">
                            <a:solidFill>
                              <a:srgbClr val="0070C0"/>
                            </a:solidFill>
                            <a:latin typeface="Cambria Math" panose="02040503050406030204" pitchFamily="18" charset="0"/>
                          </a:rPr>
                          <m:t>0</m:t>
                        </m:r>
                      </m:sub>
                    </m:sSub>
                  </m:oMath>
                </a14:m>
                <a:r>
                  <a:rPr lang="en-US" sz="1200" dirty="0"/>
                  <a:t> is also </a:t>
                </a:r>
                <a14:m>
                  <m:oMath xmlns:m="http://schemas.openxmlformats.org/officeDocument/2006/math">
                    <m:r>
                      <a:rPr lang="en-US" sz="1200" i="1">
                        <a:latin typeface="Cambria Math" panose="02040503050406030204" pitchFamily="18" charset="0"/>
                      </a:rPr>
                      <m:t>𝑇</m:t>
                    </m:r>
                    <m:d>
                      <m:dPr>
                        <m:ctrlPr>
                          <a:rPr lang="en-US" sz="1200" i="1">
                            <a:latin typeface="Cambria Math" panose="02040503050406030204" pitchFamily="18" charset="0"/>
                          </a:rPr>
                        </m:ctrlPr>
                      </m:dPr>
                      <m:e>
                        <m:r>
                          <a:rPr lang="en-US" sz="1200" i="1">
                            <a:latin typeface="Cambria Math" panose="02040503050406030204" pitchFamily="18" charset="0"/>
                          </a:rPr>
                          <m:t>𝑛</m:t>
                        </m:r>
                        <m:r>
                          <a:rPr lang="en-US" sz="1200" i="1">
                            <a:latin typeface="Cambria Math" panose="02040503050406030204" pitchFamily="18" charset="0"/>
                          </a:rPr>
                          <m:t>/2</m:t>
                        </m:r>
                      </m:e>
                    </m:d>
                    <m:r>
                      <a:rPr lang="en-US" sz="1200">
                        <a:latin typeface="Cambria Math" panose="02040503050406030204" pitchFamily="18" charset="0"/>
                      </a:rPr>
                      <m:t>+</m:t>
                    </m:r>
                    <m:r>
                      <a:rPr lang="en-US" sz="1200" i="1">
                        <a:latin typeface="Cambria Math" panose="02040503050406030204" pitchFamily="18" charset="0"/>
                      </a:rPr>
                      <m:t>𝑐𝑛</m:t>
                    </m:r>
                  </m:oMath>
                </a14:m>
                <a:r>
                  <a:rPr lang="en-US" sz="1200" dirty="0"/>
                  <a:t> as we’ve already know the results of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2</m:t>
                        </m:r>
                      </m:sub>
                    </m:sSub>
                  </m:oMath>
                </a14:m>
                <a:r>
                  <a:rPr lang="en-US" sz="1200" dirty="0"/>
                  <a:t> and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𝑍</m:t>
                        </m:r>
                      </m:e>
                      <m:sub>
                        <m:r>
                          <a:rPr lang="en-US" sz="1200" b="0" i="1" smtClean="0">
                            <a:latin typeface="Cambria Math" panose="02040503050406030204" pitchFamily="18" charset="0"/>
                          </a:rPr>
                          <m:t>0</m:t>
                        </m:r>
                      </m:sub>
                    </m:sSub>
                  </m:oMath>
                </a14:m>
                <a:endParaRPr lang="en-US" sz="1200" dirty="0"/>
              </a:p>
              <a:p>
                <a:pPr lvl="1"/>
                <a:r>
                  <a:rPr lang="en-US" sz="1600" dirty="0"/>
                  <a:t>All in all, the time cost for solution (1) is </a:t>
                </a:r>
                <a14:m>
                  <m:oMath xmlns:m="http://schemas.openxmlformats.org/officeDocument/2006/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𝑛</m:t>
                        </m:r>
                      </m:e>
                    </m:d>
                    <m:r>
                      <a:rPr lang="en-US" sz="1600" b="0" i="1" smtClean="0">
                        <a:latin typeface="Cambria Math" panose="02040503050406030204" pitchFamily="18" charset="0"/>
                      </a:rPr>
                      <m:t>=4</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𝑛</m:t>
                            </m:r>
                          </m:num>
                          <m:den>
                            <m:r>
                              <a:rPr lang="en-US" sz="1600" b="0" i="1" smtClean="0">
                                <a:latin typeface="Cambria Math" panose="02040503050406030204" pitchFamily="18" charset="0"/>
                              </a:rPr>
                              <m:t>2</m:t>
                            </m:r>
                          </m:den>
                        </m:f>
                      </m:e>
                    </m:d>
                    <m:r>
                      <a:rPr lang="en-US" sz="1600" b="0" i="1" smtClean="0">
                        <a:latin typeface="Cambria Math" panose="02040503050406030204" pitchFamily="18" charset="0"/>
                      </a:rPr>
                      <m:t>+</m:t>
                    </m:r>
                    <m:r>
                      <a:rPr lang="en-US" sz="1600" b="0" i="1" smtClean="0">
                        <a:latin typeface="Cambria Math" panose="02040503050406030204" pitchFamily="18" charset="0"/>
                      </a:rPr>
                      <m:t>𝑐𝑛</m:t>
                    </m:r>
                    <m:r>
                      <a:rPr lang="en-US" sz="1600" b="0" i="0" smtClean="0">
                        <a:latin typeface="Cambria Math" panose="02040503050406030204" pitchFamily="18" charset="0"/>
                      </a:rPr>
                      <m:t>.</m:t>
                    </m:r>
                  </m:oMath>
                </a14:m>
                <a:r>
                  <a:rPr lang="en-US" sz="1600" dirty="0"/>
                  <a:t> Solve it, we get </a:t>
                </a:r>
                <a14:m>
                  <m:oMath xmlns:m="http://schemas.openxmlformats.org/officeDocument/2006/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𝑛</m:t>
                        </m:r>
                      </m:e>
                    </m:d>
                    <m:r>
                      <a:rPr lang="en-US" sz="1600" b="0" i="1" smtClean="0">
                        <a:latin typeface="Cambria Math" panose="02040503050406030204" pitchFamily="18" charset="0"/>
                      </a:rPr>
                      <m:t>=</m:t>
                    </m:r>
                    <m:r>
                      <a:rPr lang="en-US" sz="1600" b="0" i="1" smtClean="0">
                        <a:latin typeface="Cambria Math" panose="02040503050406030204" pitchFamily="18" charset="0"/>
                      </a:rPr>
                      <m:t>𝑂</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𝑛</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oMath>
                </a14:m>
                <a:r>
                  <a:rPr lang="en-US" sz="1600" dirty="0"/>
                  <a:t> (Refer to Lecture 03, page 12); and the time cost for solution (2) is </a:t>
                </a:r>
                <a14:m>
                  <m:oMath xmlns:m="http://schemas.openxmlformats.org/officeDocument/2006/math">
                    <m:r>
                      <a:rPr lang="en-US" sz="1600" i="1">
                        <a:latin typeface="Cambria Math" panose="02040503050406030204" pitchFamily="18" charset="0"/>
                      </a:rPr>
                      <m:t>𝑇</m:t>
                    </m:r>
                    <m:d>
                      <m:dPr>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i="1">
                        <a:latin typeface="Cambria Math" panose="02040503050406030204" pitchFamily="18" charset="0"/>
                      </a:rPr>
                      <m:t>=</m:t>
                    </m:r>
                    <m:r>
                      <a:rPr lang="en-US" sz="1600" b="0" i="1" smtClean="0">
                        <a:latin typeface="Cambria Math" panose="02040503050406030204" pitchFamily="18" charset="0"/>
                      </a:rPr>
                      <m:t>3</m:t>
                    </m:r>
                    <m:r>
                      <a:rPr lang="en-US" sz="1600" i="1">
                        <a:latin typeface="Cambria Math" panose="02040503050406030204" pitchFamily="18" charset="0"/>
                      </a:rPr>
                      <m:t>𝑇</m:t>
                    </m:r>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r>
                              <a:rPr lang="en-US" sz="1600" i="1">
                                <a:latin typeface="Cambria Math" panose="02040503050406030204" pitchFamily="18" charset="0"/>
                              </a:rPr>
                              <m:t>𝑛</m:t>
                            </m:r>
                          </m:num>
                          <m:den>
                            <m:r>
                              <a:rPr lang="en-US" sz="1600" i="1">
                                <a:latin typeface="Cambria Math" panose="02040503050406030204" pitchFamily="18" charset="0"/>
                              </a:rPr>
                              <m:t>2</m:t>
                            </m:r>
                          </m:den>
                        </m:f>
                      </m:e>
                    </m:d>
                    <m:r>
                      <a:rPr lang="en-US" sz="1600" i="1">
                        <a:latin typeface="Cambria Math" panose="02040503050406030204" pitchFamily="18" charset="0"/>
                      </a:rPr>
                      <m:t>+</m:t>
                    </m:r>
                    <m:r>
                      <a:rPr lang="en-US" sz="1600" i="1">
                        <a:latin typeface="Cambria Math" panose="02040503050406030204" pitchFamily="18" charset="0"/>
                      </a:rPr>
                      <m:t>𝑐𝑛</m:t>
                    </m:r>
                  </m:oMath>
                </a14:m>
                <a:r>
                  <a:rPr lang="en-US" sz="1600" dirty="0"/>
                  <a:t>. Solve it, we get </a:t>
                </a:r>
                <a14:m>
                  <m:oMath xmlns:m="http://schemas.openxmlformats.org/officeDocument/2006/math">
                    <m:r>
                      <a:rPr lang="en-US" sz="1600" i="1">
                        <a:latin typeface="Cambria Math" panose="02040503050406030204" pitchFamily="18" charset="0"/>
                      </a:rPr>
                      <m:t>𝑇</m:t>
                    </m:r>
                    <m:d>
                      <m:dPr>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i="1">
                        <a:latin typeface="Cambria Math" panose="02040503050406030204" pitchFamily="18" charset="0"/>
                      </a:rPr>
                      <m:t>=</m:t>
                    </m:r>
                    <m:r>
                      <a:rPr lang="en-US" sz="1600" i="1">
                        <a:latin typeface="Cambria Math" panose="02040503050406030204" pitchFamily="18" charset="0"/>
                      </a:rPr>
                      <m:t>𝑂</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𝑛</m:t>
                        </m:r>
                      </m:e>
                      <m:sup>
                        <m:func>
                          <m:funcPr>
                            <m:ctrlPr>
                              <a:rPr lang="en-US" sz="1600" i="1" smtClean="0">
                                <a:latin typeface="Cambria Math" panose="02040503050406030204" pitchFamily="18" charset="0"/>
                              </a:rPr>
                            </m:ctrlPr>
                          </m:funcPr>
                          <m:fName>
                            <m:sSub>
                              <m:sSubPr>
                                <m:ctrlPr>
                                  <a:rPr lang="en-US" sz="1600" i="1" smtClean="0">
                                    <a:latin typeface="Cambria Math" panose="02040503050406030204" pitchFamily="18" charset="0"/>
                                  </a:rPr>
                                </m:ctrlPr>
                              </m:sSubPr>
                              <m:e>
                                <m:r>
                                  <m:rPr>
                                    <m:sty m:val="p"/>
                                  </m:rPr>
                                  <a:rPr lang="en-US" sz="1600" i="0" smtClean="0">
                                    <a:latin typeface="Cambria Math" panose="02040503050406030204" pitchFamily="18" charset="0"/>
                                  </a:rPr>
                                  <m:t>log</m:t>
                                </m:r>
                              </m:e>
                              <m:sub>
                                <m:r>
                                  <a:rPr lang="en-US" sz="1600" b="0" i="1" smtClean="0">
                                    <a:latin typeface="Cambria Math" panose="02040503050406030204" pitchFamily="18" charset="0"/>
                                  </a:rPr>
                                  <m:t>2</m:t>
                                </m:r>
                              </m:sub>
                            </m:sSub>
                          </m:fName>
                          <m:e>
                            <m:r>
                              <a:rPr lang="en-US" sz="1600" b="0" i="1" smtClean="0">
                                <a:latin typeface="Cambria Math" panose="02040503050406030204" pitchFamily="18" charset="0"/>
                              </a:rPr>
                              <m:t>3</m:t>
                            </m:r>
                          </m:e>
                        </m:func>
                      </m:sup>
                    </m:sSup>
                    <m:r>
                      <a:rPr lang="en-US" sz="1600" i="1">
                        <a:latin typeface="Cambria Math" panose="02040503050406030204" pitchFamily="18" charset="0"/>
                      </a:rPr>
                      <m:t>)</m:t>
                    </m:r>
                  </m:oMath>
                </a14:m>
                <a:r>
                  <a:rPr lang="en-US" sz="1600" dirty="0"/>
                  <a:t> (Refer to Lecture 03, page 17). Less Expensive.</a:t>
                </a:r>
              </a:p>
              <a:p>
                <a:pPr marL="914400" lvl="2" indent="0">
                  <a:buNone/>
                </a:pPr>
                <a:endParaRPr lang="en-US" sz="1200" dirty="0"/>
              </a:p>
              <a:p>
                <a:pPr lvl="2"/>
                <a:endParaRPr lang="en-US" sz="1200" dirty="0"/>
              </a:p>
              <a:p>
                <a:pPr lvl="1"/>
                <a:endParaRPr lang="en-US" sz="1600" dirty="0"/>
              </a:p>
            </p:txBody>
          </p:sp>
        </mc:Choice>
        <mc:Fallback>
          <p:sp>
            <p:nvSpPr>
              <p:cNvPr id="8" name="Content Placeholder 2">
                <a:extLst>
                  <a:ext uri="{FF2B5EF4-FFF2-40B4-BE49-F238E27FC236}">
                    <a16:creationId xmlns:a16="http://schemas.microsoft.com/office/drawing/2014/main" id="{431DDC37-2ED2-498A-AB4B-789A4DED34F0}"/>
                  </a:ext>
                </a:extLst>
              </p:cNvPr>
              <p:cNvSpPr txBox="1">
                <a:spLocks noRot="1" noChangeAspect="1" noMove="1" noResize="1" noEditPoints="1" noAdjustHandles="1" noChangeArrowheads="1" noChangeShapeType="1" noTextEdit="1"/>
              </p:cNvSpPr>
              <p:nvPr/>
            </p:nvSpPr>
            <p:spPr>
              <a:xfrm>
                <a:off x="125135" y="2180224"/>
                <a:ext cx="11485227" cy="3448790"/>
              </a:xfrm>
              <a:prstGeom prst="rect">
                <a:avLst/>
              </a:prstGeom>
              <a:blipFill>
                <a:blip r:embed="rId3"/>
                <a:stretch>
                  <a:fillRect t="-1770"/>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A9A646FC-9FD5-411F-9A56-B7BBB052ECA3}"/>
              </a:ext>
            </a:extLst>
          </p:cNvPr>
          <p:cNvPicPr>
            <a:picLocks noChangeAspect="1"/>
          </p:cNvPicPr>
          <p:nvPr/>
        </p:nvPicPr>
        <p:blipFill>
          <a:blip r:embed="rId4"/>
          <a:stretch>
            <a:fillRect/>
          </a:stretch>
        </p:blipFill>
        <p:spPr>
          <a:xfrm>
            <a:off x="6440194" y="-24963"/>
            <a:ext cx="5425999" cy="2055303"/>
          </a:xfrm>
          <a:prstGeom prst="rect">
            <a:avLst/>
          </a:prstGeom>
        </p:spPr>
      </p:pic>
    </p:spTree>
    <p:extLst>
      <p:ext uri="{BB962C8B-B14F-4D97-AF65-F5344CB8AC3E}">
        <p14:creationId xmlns:p14="http://schemas.microsoft.com/office/powerpoint/2010/main" val="121418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838200" y="365126"/>
            <a:ext cx="10515600" cy="1052614"/>
          </a:xfrm>
        </p:spPr>
        <p:txBody>
          <a:bodyPr/>
          <a:lstStyle/>
          <a:p>
            <a:r>
              <a:rPr lang="en-US" altLang="zh-CN" dirty="0"/>
              <a:t>In-depth thinking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838200" y="1417740"/>
                <a:ext cx="10515600" cy="3808601"/>
              </a:xfrm>
            </p:spPr>
            <p:txBody>
              <a:bodyPr>
                <a:normAutofit/>
              </a:bodyPr>
              <a:lstStyle/>
              <a:p>
                <a:r>
                  <a:rPr lang="en-US" sz="2400" dirty="0"/>
                  <a:t>Think about the time cost of </a:t>
                </a:r>
                <a14:m>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𝐶</m:t>
                        </m:r>
                      </m:e>
                      <m:sub>
                        <m:r>
                          <a:rPr lang="en-US" sz="2400" b="0" i="1" dirty="0" smtClean="0">
                            <a:latin typeface="Cambria Math" panose="02040503050406030204" pitchFamily="18" charset="0"/>
                          </a:rPr>
                          <m:t>𝑛</m:t>
                        </m:r>
                        <m:r>
                          <a:rPr lang="en-US" sz="2400" b="0" i="1" dirty="0" smtClean="0">
                            <a:latin typeface="Cambria Math" panose="02040503050406030204" pitchFamily="18" charset="0"/>
                          </a:rPr>
                          <m:t>×</m:t>
                        </m:r>
                        <m:r>
                          <a:rPr lang="en-US" sz="2400" b="0" i="1" dirty="0" smtClean="0">
                            <a:latin typeface="Cambria Math" panose="02040503050406030204" pitchFamily="18" charset="0"/>
                          </a:rPr>
                          <m:t>𝑛</m:t>
                        </m:r>
                      </m:sub>
                    </m:sSub>
                    <m:r>
                      <a:rPr lang="en-US" sz="2400" b="0" i="1" dirty="0"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𝐴</m:t>
                        </m:r>
                      </m:e>
                      <m:sub>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𝑛</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𝐵</m:t>
                        </m:r>
                      </m:e>
                      <m:sub>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𝑛</m:t>
                        </m:r>
                      </m:sub>
                    </m:sSub>
                  </m:oMath>
                </a14:m>
                <a:r>
                  <a:rPr lang="en-US" sz="2400" dirty="0"/>
                  <a:t> and </a:t>
                </a:r>
                <a14:m>
                  <m:oMath xmlns:m="http://schemas.openxmlformats.org/officeDocument/2006/math">
                    <m:sSub>
                      <m:sSubPr>
                        <m:ctrlPr>
                          <a:rPr lang="en-US" sz="2400" i="1" dirty="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𝐷</m:t>
                        </m:r>
                      </m:e>
                      <m:sub>
                        <m:r>
                          <a:rPr lang="en-US" sz="2400" i="1" dirty="0">
                            <a:latin typeface="Cambria Math" panose="02040503050406030204" pitchFamily="18" charset="0"/>
                            <a:ea typeface="Cambria Math" panose="02040503050406030204" pitchFamily="18" charset="0"/>
                          </a:rPr>
                          <m:t>𝑛</m:t>
                        </m:r>
                        <m:r>
                          <a:rPr lang="en-US"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𝑛</m:t>
                        </m:r>
                      </m:sub>
                    </m:sSub>
                    <m:r>
                      <a:rPr lang="en-US" sz="2400" i="1" dirty="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𝑛</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𝑛</m:t>
                        </m:r>
                      </m:sub>
                    </m:sSub>
                  </m:oMath>
                </a14:m>
                <a:r>
                  <a:rPr lang="en-US" sz="2400" i="1" dirty="0"/>
                  <a:t>. </a:t>
                </a:r>
              </a:p>
              <a:p>
                <a:r>
                  <a:rPr lang="en-US" sz="2400" dirty="0"/>
                  <a:t>For the multiplication operation, each element </a:t>
                </a:r>
                <a14:m>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𝑖𝑗</m:t>
                        </m:r>
                      </m:sub>
                    </m:sSub>
                    <m:r>
                      <a:rPr lang="en-US" sz="2400" b="0" i="1" dirty="0" smtClean="0">
                        <a:latin typeface="Cambria Math" panose="02040503050406030204" pitchFamily="18" charset="0"/>
                      </a:rPr>
                      <m:t> </m:t>
                    </m:r>
                  </m:oMath>
                </a14:m>
                <a:r>
                  <a:rPr lang="en-US" sz="2400" dirty="0"/>
                  <a:t>can be computed by:</a:t>
                </a:r>
              </a:p>
              <a:p>
                <a:pPr lvl="1"/>
                <a:r>
                  <a:rPr lang="en-US" sz="2000" i="1" dirty="0"/>
                  <a:t>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𝑐</m:t>
                        </m:r>
                      </m:e>
                      <m:sub>
                        <m:r>
                          <a:rPr lang="en-US" sz="2000" b="0" i="1" dirty="0" smtClean="0">
                            <a:latin typeface="Cambria Math" panose="02040503050406030204" pitchFamily="18" charset="0"/>
                          </a:rPr>
                          <m:t>𝑖𝑗</m:t>
                        </m:r>
                      </m:sub>
                    </m:sSub>
                    <m:r>
                      <a:rPr lang="en-US" sz="2000" b="0" i="1" dirty="0" smtClean="0">
                        <a:latin typeface="Cambria Math" panose="02040503050406030204" pitchFamily="18" charset="0"/>
                      </a:rPr>
                      <m:t>=</m:t>
                    </m:r>
                    <m:nary>
                      <m:naryPr>
                        <m:chr m:val="∑"/>
                        <m:ctrlPr>
                          <a:rPr lang="en-US" sz="2000" b="0" i="1" dirty="0" smtClean="0">
                            <a:latin typeface="Cambria Math" panose="02040503050406030204" pitchFamily="18" charset="0"/>
                          </a:rPr>
                        </m:ctrlPr>
                      </m:naryPr>
                      <m:sub>
                        <m:r>
                          <m:rPr>
                            <m:brk m:alnAt="23"/>
                          </m:rPr>
                          <a:rPr lang="en-US" sz="2000" b="0" i="1" dirty="0" smtClean="0">
                            <a:latin typeface="Cambria Math" panose="02040503050406030204" pitchFamily="18" charset="0"/>
                          </a:rPr>
                          <m:t>𝑘</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𝑎</m:t>
                            </m:r>
                          </m:e>
                          <m:sub>
                            <m:r>
                              <a:rPr lang="en-US" sz="2000" b="0" i="1" dirty="0" smtClean="0">
                                <a:latin typeface="Cambria Math" panose="02040503050406030204" pitchFamily="18" charset="0"/>
                              </a:rPr>
                              <m:t>𝑖𝑘</m:t>
                            </m:r>
                          </m:sub>
                        </m:sSub>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𝑏</m:t>
                            </m:r>
                          </m:e>
                          <m:sub>
                            <m:r>
                              <a:rPr lang="en-US" sz="2000" b="0" i="1" dirty="0" smtClean="0">
                                <a:latin typeface="Cambria Math" panose="02040503050406030204" pitchFamily="18" charset="0"/>
                              </a:rPr>
                              <m:t>𝑘𝑗</m:t>
                            </m:r>
                          </m:sub>
                        </m:sSub>
                      </m:e>
                    </m:nary>
                  </m:oMath>
                </a14:m>
                <a:r>
                  <a:rPr lang="en-US" sz="2000" i="1" dirty="0"/>
                  <a:t>, it has </a:t>
                </a:r>
                <a14:m>
                  <m:oMath xmlns:m="http://schemas.openxmlformats.org/officeDocument/2006/math">
                    <m:r>
                      <a:rPr lang="en-US" sz="2000" b="0" i="1" smtClean="0">
                        <a:latin typeface="Cambria Math" panose="02040503050406030204" pitchFamily="18" charset="0"/>
                      </a:rPr>
                      <m:t>𝑛</m:t>
                    </m:r>
                  </m:oMath>
                </a14:m>
                <a:r>
                  <a:rPr lang="en-US" sz="2000" i="1" dirty="0"/>
                  <a:t> multiplication operations and </a:t>
                </a:r>
                <a14:m>
                  <m:oMath xmlns:m="http://schemas.openxmlformats.org/officeDocument/2006/math">
                    <m:r>
                      <a:rPr lang="en-US" sz="2000" i="1">
                        <a:latin typeface="Cambria Math" panose="02040503050406030204" pitchFamily="18" charset="0"/>
                      </a:rPr>
                      <m:t>𝑛</m:t>
                    </m:r>
                    <m:r>
                      <a:rPr lang="en-US" sz="2000" b="0" i="1" smtClean="0">
                        <a:latin typeface="Cambria Math" panose="02040503050406030204" pitchFamily="18" charset="0"/>
                      </a:rPr>
                      <m:t>−1</m:t>
                    </m:r>
                  </m:oMath>
                </a14:m>
                <a:r>
                  <a:rPr lang="en-US" sz="2000" i="1" dirty="0"/>
                  <a:t> plus operations, and totally </a:t>
                </a:r>
                <a14:m>
                  <m:oMath xmlns:m="http://schemas.openxmlformats.org/officeDocument/2006/math">
                    <m:r>
                      <a:rPr lang="en-US" sz="2000" b="0" i="1" smtClean="0">
                        <a:latin typeface="Cambria Math" panose="02040503050406030204" pitchFamily="18" charset="0"/>
                      </a:rPr>
                      <m:t>2</m:t>
                    </m:r>
                    <m:r>
                      <a:rPr lang="en-US" sz="2000" b="0" i="1" smtClean="0">
                        <a:latin typeface="Cambria Math" panose="02040503050406030204" pitchFamily="18" charset="0"/>
                      </a:rPr>
                      <m:t>𝑛</m:t>
                    </m:r>
                    <m:r>
                      <a:rPr lang="en-US" sz="2000" b="0" i="1" smtClean="0">
                        <a:latin typeface="Cambria Math" panose="02040503050406030204" pitchFamily="18" charset="0"/>
                      </a:rPr>
                      <m:t>−1</m:t>
                    </m:r>
                  </m:oMath>
                </a14:m>
                <a:r>
                  <a:rPr lang="en-US" sz="2000" i="1" dirty="0"/>
                  <a:t> operations;</a:t>
                </a:r>
              </a:p>
              <a:p>
                <a:pPr lvl="1"/>
                <a:r>
                  <a:rPr lang="en-US" sz="2000" i="1" dirty="0"/>
                  <a:t>There are totally such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oMath>
                </a14:m>
                <a:r>
                  <a:rPr lang="en-US" sz="2000" i="1" dirty="0"/>
                  <a:t> elements in the matrix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𝐶</m:t>
                        </m:r>
                      </m:e>
                      <m:sub>
                        <m:r>
                          <a:rPr lang="en-US" sz="2000" i="1" dirty="0">
                            <a:latin typeface="Cambria Math" panose="02040503050406030204" pitchFamily="18" charset="0"/>
                          </a:rPr>
                          <m:t>𝑛</m:t>
                        </m:r>
                        <m:r>
                          <a:rPr lang="en-US" sz="2000" i="1" dirty="0">
                            <a:latin typeface="Cambria Math" panose="02040503050406030204" pitchFamily="18" charset="0"/>
                          </a:rPr>
                          <m:t>×</m:t>
                        </m:r>
                        <m:r>
                          <a:rPr lang="en-US" sz="2000" i="1" dirty="0">
                            <a:latin typeface="Cambria Math" panose="02040503050406030204" pitchFamily="18" charset="0"/>
                          </a:rPr>
                          <m:t>𝑛</m:t>
                        </m:r>
                      </m:sub>
                    </m:sSub>
                  </m:oMath>
                </a14:m>
                <a:r>
                  <a:rPr lang="en-US" sz="2000" i="1" dirty="0"/>
                  <a:t>.</a:t>
                </a:r>
              </a:p>
              <a:p>
                <a:pPr lvl="1"/>
                <a:r>
                  <a:rPr lang="en-US" sz="2000" i="1" dirty="0"/>
                  <a:t>Hence, for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𝐶</m:t>
                        </m:r>
                      </m:e>
                      <m:sub>
                        <m:r>
                          <a:rPr lang="en-US" sz="2000" b="0" i="1" dirty="0" smtClean="0">
                            <a:latin typeface="Cambria Math" panose="02040503050406030204" pitchFamily="18" charset="0"/>
                          </a:rPr>
                          <m:t>𝑛</m:t>
                        </m:r>
                        <m:r>
                          <a:rPr lang="en-US" sz="2000" b="0" i="1" dirty="0" smtClean="0">
                            <a:latin typeface="Cambria Math" panose="02040503050406030204" pitchFamily="18" charset="0"/>
                          </a:rPr>
                          <m:t>×</m:t>
                        </m:r>
                        <m:r>
                          <a:rPr lang="en-US" sz="2000" b="0" i="1" dirty="0" smtClean="0">
                            <a:latin typeface="Cambria Math" panose="02040503050406030204" pitchFamily="18" charset="0"/>
                          </a:rPr>
                          <m:t>𝑛</m:t>
                        </m:r>
                      </m:sub>
                    </m:sSub>
                    <m:r>
                      <a:rPr lang="en-US" sz="2000" b="0" i="1" dirty="0"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𝐴</m:t>
                        </m:r>
                      </m:e>
                      <m:sub>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𝑛</m:t>
                        </m:r>
                      </m:sub>
                    </m:sSub>
                    <m:sSub>
                      <m:sSubPr>
                        <m:ctrlPr>
                          <a:rPr lang="en-US" sz="2000" i="1">
                            <a:latin typeface="Cambria Math" panose="02040503050406030204" pitchFamily="18" charset="0"/>
                          </a:rPr>
                        </m:ctrlPr>
                      </m:sSubPr>
                      <m:e>
                        <m:r>
                          <a:rPr lang="en-US" sz="2000" b="0" i="1" smtClean="0">
                            <a:latin typeface="Cambria Math" panose="02040503050406030204" pitchFamily="18" charset="0"/>
                          </a:rPr>
                          <m:t>𝐵</m:t>
                        </m:r>
                      </m:e>
                      <m:sub>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𝑛</m:t>
                        </m:r>
                      </m:sub>
                    </m:sSub>
                  </m:oMath>
                </a14:m>
                <a:r>
                  <a:rPr lang="en-US" sz="2000" dirty="0"/>
                  <a:t>, </a:t>
                </a:r>
                <a:r>
                  <a:rPr lang="en-US" sz="2000" i="1" dirty="0"/>
                  <a:t>the time cost is </a:t>
                </a:r>
                <a14:m>
                  <m:oMath xmlns:m="http://schemas.openxmlformats.org/officeDocument/2006/math">
                    <m:r>
                      <a:rPr lang="en-US" sz="2000" b="0" i="1" smtClean="0">
                        <a:latin typeface="Cambria Math" panose="02040503050406030204" pitchFamily="18" charset="0"/>
                      </a:rPr>
                      <m:t>𝑂</m:t>
                    </m:r>
                    <m:d>
                      <m:dPr>
                        <m:ctrlPr>
                          <a:rPr lang="en-US" sz="2000" b="0" i="1" smtClean="0">
                            <a:latin typeface="Cambria Math" panose="02040503050406030204" pitchFamily="18" charset="0"/>
                          </a:rPr>
                        </m:ctrlPr>
                      </m:d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𝑛</m:t>
                            </m:r>
                            <m:r>
                              <a:rPr lang="en-US" sz="2000" b="0" i="1" smtClean="0">
                                <a:latin typeface="Cambria Math" panose="02040503050406030204" pitchFamily="18" charset="0"/>
                              </a:rPr>
                              <m:t>+1</m:t>
                            </m:r>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e>
                    </m:d>
                    <m:r>
                      <a:rPr lang="en-US" sz="2000" b="0" i="1" smtClean="0">
                        <a:latin typeface="Cambria Math" panose="02040503050406030204" pitchFamily="18" charset="0"/>
                      </a:rPr>
                      <m:t>=</m:t>
                    </m:r>
                    <m:r>
                      <a:rPr lang="en-US" sz="2000" b="0" i="1" smtClean="0">
                        <a:latin typeface="Cambria Math" panose="02040503050406030204" pitchFamily="18" charset="0"/>
                      </a:rPr>
                      <m:t>𝑂</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m:t>
                    </m:r>
                  </m:oMath>
                </a14:m>
                <a:endParaRPr lang="en-US" sz="2000" i="1" dirty="0"/>
              </a:p>
              <a:p>
                <a:r>
                  <a:rPr lang="en-US" sz="2400" dirty="0"/>
                  <a:t>For the plus operation, each element </a:t>
                </a:r>
                <a14:m>
                  <m:oMath xmlns:m="http://schemas.openxmlformats.org/officeDocument/2006/math">
                    <m:sSub>
                      <m:sSubPr>
                        <m:ctrlPr>
                          <a:rPr lang="en-US" sz="1800" b="0" i="1" kern="1200" smtClean="0">
                            <a:solidFill>
                              <a:srgbClr val="000000"/>
                            </a:solidFill>
                            <a:effectLst/>
                            <a:latin typeface="Cambria Math" panose="02040503050406030204" pitchFamily="18" charset="0"/>
                            <a:ea typeface="+mn-ea"/>
                            <a:cs typeface="+mn-cs"/>
                          </a:rPr>
                        </m:ctrlPr>
                      </m:sSubPr>
                      <m:e>
                        <m:r>
                          <a:rPr lang="en-US" sz="1800" b="0" i="1" kern="1200" smtClean="0">
                            <a:solidFill>
                              <a:srgbClr val="000000"/>
                            </a:solidFill>
                            <a:effectLst/>
                            <a:latin typeface="Cambria Math" panose="02040503050406030204" pitchFamily="18" charset="0"/>
                            <a:ea typeface="+mn-ea"/>
                            <a:cs typeface="+mn-cs"/>
                          </a:rPr>
                          <m:t>𝑑</m:t>
                        </m:r>
                      </m:e>
                      <m:sub>
                        <m:r>
                          <a:rPr lang="en-US" sz="1800" b="0" i="1" kern="1200">
                            <a:solidFill>
                              <a:srgbClr val="000000"/>
                            </a:solidFill>
                            <a:effectLst/>
                            <a:latin typeface="Cambria Math" panose="02040503050406030204" pitchFamily="18" charset="0"/>
                            <a:ea typeface="+mn-ea"/>
                            <a:cs typeface="+mn-cs"/>
                          </a:rPr>
                          <m:t>𝑖𝑗</m:t>
                        </m:r>
                      </m:sub>
                    </m:sSub>
                    <m:r>
                      <a:rPr lang="en-US" sz="1800" b="0" i="1" kern="1200">
                        <a:solidFill>
                          <a:srgbClr val="000000"/>
                        </a:solidFill>
                        <a:effectLst/>
                        <a:latin typeface="Cambria Math" panose="02040503050406030204" pitchFamily="18" charset="0"/>
                        <a:ea typeface="+mn-ea"/>
                        <a:cs typeface="+mn-cs"/>
                      </a:rPr>
                      <m:t> </m:t>
                    </m:r>
                  </m:oMath>
                </a14:m>
                <a:r>
                  <a:rPr lang="en-US" sz="2400" dirty="0"/>
                  <a:t>can be computed by:</a:t>
                </a:r>
              </a:p>
              <a:p>
                <a:pPr lvl="1"/>
                <a:r>
                  <a:rPr lang="en-US" sz="2000" i="1" dirty="0"/>
                  <a:t>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𝑑</m:t>
                        </m:r>
                      </m:e>
                      <m:sub>
                        <m:r>
                          <a:rPr lang="en-US" sz="2000" b="0" i="1" dirty="0" smtClean="0">
                            <a:latin typeface="Cambria Math" panose="02040503050406030204" pitchFamily="18" charset="0"/>
                          </a:rPr>
                          <m:t>𝑖𝑗</m:t>
                        </m:r>
                      </m:sub>
                    </m:sSub>
                    <m:r>
                      <a:rPr lang="en-US" sz="2000" b="0" i="1" dirty="0" smtClean="0">
                        <a:latin typeface="Cambria Math" panose="02040503050406030204" pitchFamily="18" charset="0"/>
                      </a:rPr>
                      <m:t>=</m:t>
                    </m:r>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𝑎</m:t>
                        </m:r>
                      </m:e>
                      <m:sub>
                        <m:r>
                          <a:rPr lang="en-US" sz="2000" i="1" dirty="0">
                            <a:latin typeface="Cambria Math" panose="02040503050406030204" pitchFamily="18" charset="0"/>
                          </a:rPr>
                          <m:t>𝑖𝑗</m:t>
                        </m:r>
                      </m:sub>
                    </m:sSub>
                    <m:r>
                      <a:rPr lang="en-US" sz="2000" b="0" i="1" dirty="0" smtClean="0">
                        <a:latin typeface="Cambria Math" panose="02040503050406030204" pitchFamily="18" charset="0"/>
                      </a:rPr>
                      <m:t>+</m:t>
                    </m:r>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𝑏</m:t>
                        </m:r>
                      </m:e>
                      <m:sub>
                        <m:r>
                          <a:rPr lang="en-US" sz="2000" i="1" dirty="0">
                            <a:latin typeface="Cambria Math" panose="02040503050406030204" pitchFamily="18" charset="0"/>
                          </a:rPr>
                          <m:t>𝑖𝑗</m:t>
                        </m:r>
                      </m:sub>
                    </m:sSub>
                  </m:oMath>
                </a14:m>
                <a:r>
                  <a:rPr lang="en-US" sz="2000" dirty="0"/>
                  <a:t>, </a:t>
                </a:r>
                <a:r>
                  <a:rPr lang="en-US" sz="2000" i="1" dirty="0"/>
                  <a:t>it has 1 plus operation;</a:t>
                </a:r>
              </a:p>
              <a:p>
                <a:pPr lvl="1"/>
                <a:r>
                  <a:rPr lang="en-US" sz="2000" i="1" dirty="0"/>
                  <a:t>There are totally such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oMath>
                </a14:m>
                <a:r>
                  <a:rPr lang="en-US" sz="2000" i="1" dirty="0"/>
                  <a:t> elements in the matrix </a:t>
                </a:r>
                <a14:m>
                  <m:oMath xmlns:m="http://schemas.openxmlformats.org/officeDocument/2006/math">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𝐷</m:t>
                        </m:r>
                      </m:e>
                      <m:sub>
                        <m:r>
                          <a:rPr lang="en-US" sz="2000" i="1" dirty="0">
                            <a:latin typeface="Cambria Math" panose="02040503050406030204" pitchFamily="18" charset="0"/>
                          </a:rPr>
                          <m:t>𝑛</m:t>
                        </m:r>
                        <m:r>
                          <a:rPr lang="en-US" sz="2000" i="1" dirty="0">
                            <a:latin typeface="Cambria Math" panose="02040503050406030204" pitchFamily="18" charset="0"/>
                          </a:rPr>
                          <m:t>×</m:t>
                        </m:r>
                        <m:r>
                          <a:rPr lang="en-US" sz="2000" i="1" dirty="0">
                            <a:latin typeface="Cambria Math" panose="02040503050406030204" pitchFamily="18" charset="0"/>
                          </a:rPr>
                          <m:t>𝑛</m:t>
                        </m:r>
                      </m:sub>
                    </m:sSub>
                  </m:oMath>
                </a14:m>
                <a:r>
                  <a:rPr lang="en-US" sz="2000" i="1" dirty="0"/>
                  <a:t>.</a:t>
                </a:r>
              </a:p>
              <a:p>
                <a:pPr lvl="1"/>
                <a:r>
                  <a:rPr lang="en-US" sz="2000" i="1" dirty="0"/>
                  <a:t>Hence,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𝑛</m:t>
                        </m:r>
                      </m:sub>
                    </m:sSub>
                  </m:oMath>
                </a14:m>
                <a:r>
                  <a:rPr lang="en-US" sz="2000" dirty="0"/>
                  <a:t>, </a:t>
                </a:r>
                <a:r>
                  <a:rPr lang="en-US" sz="2000" i="1" dirty="0"/>
                  <a:t>the time cost is </a:t>
                </a:r>
                <a14:m>
                  <m:oMath xmlns:m="http://schemas.openxmlformats.org/officeDocument/2006/math">
                    <m:r>
                      <a:rPr lang="en-US" sz="2000" b="0" i="1" smtClean="0">
                        <a:latin typeface="Cambria Math" panose="02040503050406030204" pitchFamily="18" charset="0"/>
                      </a:rPr>
                      <m:t>𝑂</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e>
                    </m:d>
                    <m:r>
                      <a:rPr lang="en-US" sz="2000" b="0" i="1" smtClean="0">
                        <a:latin typeface="Cambria Math" panose="02040503050406030204" pitchFamily="18" charset="0"/>
                      </a:rPr>
                      <m:t>=</m:t>
                    </m:r>
                    <m:r>
                      <a:rPr lang="en-US" sz="2000" b="0" i="1" smtClean="0">
                        <a:latin typeface="Cambria Math" panose="02040503050406030204" pitchFamily="18" charset="0"/>
                      </a:rPr>
                      <m:t>𝑂</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oMath>
                </a14:m>
                <a:endParaRPr lang="en-US" sz="2000" dirty="0"/>
              </a:p>
              <a:p>
                <a:endParaRPr lang="en-US" sz="2400" dirty="0"/>
              </a:p>
            </p:txBody>
          </p:sp>
        </mc:Choice>
        <mc:Fallback xmlns="">
          <p:sp>
            <p:nvSpPr>
              <p:cNvPr id="3" name="Content Placeholder 2">
                <a:extLst>
                  <a:ext uri="{FF2B5EF4-FFF2-40B4-BE49-F238E27FC236}">
                    <a16:creationId xmlns:a16="http://schemas.microsoft.com/office/drawing/2014/main" id="{E4649E58-A4AE-4D27-BCE2-29C6F0DAC3C0}"/>
                  </a:ext>
                </a:extLst>
              </p:cNvPr>
              <p:cNvSpPr>
                <a:spLocks noGrp="1" noRot="1" noChangeAspect="1" noMove="1" noResize="1" noEditPoints="1" noAdjustHandles="1" noChangeArrowheads="1" noChangeShapeType="1" noTextEdit="1"/>
              </p:cNvSpPr>
              <p:nvPr>
                <p:ph idx="1"/>
              </p:nvPr>
            </p:nvSpPr>
            <p:spPr>
              <a:xfrm>
                <a:off x="838200" y="1417740"/>
                <a:ext cx="10515600" cy="3808601"/>
              </a:xfrm>
              <a:blipFill>
                <a:blip r:embed="rId2"/>
                <a:stretch>
                  <a:fillRect l="-812" t="-2244" b="-2404"/>
                </a:stretch>
              </a:blipFill>
            </p:spPr>
            <p:txBody>
              <a:bodyPr/>
              <a:lstStyle/>
              <a:p>
                <a:r>
                  <a:rPr lang="en-US">
                    <a:noFill/>
                  </a:rPr>
                  <a:t> </a:t>
                </a:r>
              </a:p>
            </p:txBody>
          </p:sp>
        </mc:Fallback>
      </mc:AlternateContent>
    </p:spTree>
    <p:extLst>
      <p:ext uri="{BB962C8B-B14F-4D97-AF65-F5344CB8AC3E}">
        <p14:creationId xmlns:p14="http://schemas.microsoft.com/office/powerpoint/2010/main" val="414151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838200" y="365126"/>
            <a:ext cx="10515600" cy="1052614"/>
          </a:xfrm>
        </p:spPr>
        <p:txBody>
          <a:bodyPr/>
          <a:lstStyle/>
          <a:p>
            <a:r>
              <a:rPr lang="en-US" altLang="zh-CN" dirty="0"/>
              <a:t>In-depth thinking</a:t>
            </a:r>
            <a:endParaRPr lang="en-US" dirty="0"/>
          </a:p>
        </p:txBody>
      </p:sp>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838200" y="1417740"/>
            <a:ext cx="10515600" cy="3808601"/>
          </a:xfrm>
        </p:spPr>
        <p:txBody>
          <a:bodyPr>
            <a:normAutofit/>
          </a:bodyPr>
          <a:lstStyle/>
          <a:p>
            <a:r>
              <a:rPr lang="en-US" sz="2400" dirty="0"/>
              <a:t>Conclusion</a:t>
            </a:r>
          </a:p>
          <a:p>
            <a:pPr marL="0" indent="0">
              <a:buNone/>
            </a:pPr>
            <a:r>
              <a:rPr lang="en-US" sz="2400" dirty="0"/>
              <a:t>	</a:t>
            </a:r>
            <a:r>
              <a:rPr lang="en-US" sz="2000" b="0" i="0" dirty="0">
                <a:solidFill>
                  <a:srgbClr val="2C2C36"/>
                </a:solidFill>
                <a:effectLst/>
                <a:latin typeface="-apple-system"/>
              </a:rPr>
              <a:t>Regardless of whether it is polynomial multiplication or matrix multiplication, from the perspective of algorithm complexity, in subproblems, we prefer to reduce the scale of multiplication operations or convert multiplication operations into smaller-scale addition operations. (</a:t>
            </a:r>
            <a:r>
              <a:rPr lang="zh-CN" altLang="en-US" sz="1600" b="0" i="0" dirty="0">
                <a:solidFill>
                  <a:srgbClr val="3F3F3F"/>
                </a:solidFill>
                <a:effectLst/>
                <a:latin typeface="-apple-system"/>
              </a:rPr>
              <a:t>不管是多项式乘法还是矩阵乘法，从算法复杂度出发，在子问题中，我们更愿意减少乘法运算的规模，或者将乘法运算转化成规模更小的加法运算</a:t>
            </a:r>
            <a:r>
              <a:rPr lang="zh-CN" altLang="en-US" sz="1400" b="0" i="0" dirty="0">
                <a:solidFill>
                  <a:srgbClr val="3F3F3F"/>
                </a:solidFill>
                <a:effectLst/>
                <a:latin typeface="-apple-system"/>
              </a:rPr>
              <a:t>。</a:t>
            </a:r>
            <a:r>
              <a:rPr lang="en-US" sz="2000" b="0" i="0" dirty="0">
                <a:solidFill>
                  <a:srgbClr val="2C2C36"/>
                </a:solidFill>
                <a:effectLst/>
                <a:latin typeface="-apple-system"/>
              </a:rPr>
              <a:t>)</a:t>
            </a:r>
            <a:endParaRPr lang="en-US" sz="2400" dirty="0"/>
          </a:p>
        </p:txBody>
      </p:sp>
    </p:spTree>
    <p:extLst>
      <p:ext uri="{BB962C8B-B14F-4D97-AF65-F5344CB8AC3E}">
        <p14:creationId xmlns:p14="http://schemas.microsoft.com/office/powerpoint/2010/main" val="92484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C921-8720-497A-9206-E6CF7634F45B}"/>
              </a:ext>
            </a:extLst>
          </p:cNvPr>
          <p:cNvSpPr>
            <a:spLocks noGrp="1"/>
          </p:cNvSpPr>
          <p:nvPr>
            <p:ph type="title"/>
          </p:nvPr>
        </p:nvSpPr>
        <p:spPr>
          <a:xfrm>
            <a:off x="838200" y="365126"/>
            <a:ext cx="10515600" cy="1052614"/>
          </a:xfrm>
        </p:spPr>
        <p:txBody>
          <a:bodyPr/>
          <a:lstStyle/>
          <a:p>
            <a:r>
              <a:rPr lang="en-US" altLang="zh-CN" dirty="0"/>
              <a:t>For your reference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49E58-A4AE-4D27-BCE2-29C6F0DAC3C0}"/>
                  </a:ext>
                </a:extLst>
              </p:cNvPr>
              <p:cNvSpPr>
                <a:spLocks noGrp="1"/>
              </p:cNvSpPr>
              <p:nvPr>
                <p:ph idx="1"/>
              </p:nvPr>
            </p:nvSpPr>
            <p:spPr>
              <a:xfrm>
                <a:off x="838200" y="1417740"/>
                <a:ext cx="10515600" cy="3808601"/>
              </a:xfrm>
            </p:spPr>
            <p:txBody>
              <a:bodyPr>
                <a:normAutofit/>
              </a:bodyPr>
              <a:lstStyle/>
              <a:p>
                <a:r>
                  <a:rPr lang="en-US" altLang="zh-CN" sz="2400" dirty="0"/>
                  <a:t>Actually,</a:t>
                </a:r>
                <a:r>
                  <a:rPr lang="zh-CN" altLang="en-US" sz="2400" dirty="0"/>
                  <a:t> </a:t>
                </a:r>
                <a:r>
                  <a:rPr lang="en-US" altLang="zh-CN" sz="2400" dirty="0"/>
                  <a:t>we</a:t>
                </a:r>
                <a:r>
                  <a:rPr lang="zh-CN" altLang="en-US" sz="2400" dirty="0"/>
                  <a:t> </a:t>
                </a:r>
                <a:r>
                  <a:rPr lang="en-US" altLang="zh-CN" sz="2400" dirty="0"/>
                  <a:t>can</a:t>
                </a:r>
                <a:r>
                  <a:rPr lang="zh-CN" altLang="en-US" sz="2400" dirty="0"/>
                  <a:t> </a:t>
                </a:r>
                <a:r>
                  <a:rPr lang="en-US" altLang="zh-CN" sz="2400" dirty="0"/>
                  <a:t>find a better</a:t>
                </a:r>
                <a:r>
                  <a:rPr lang="zh-CN" altLang="en-US" sz="2400" dirty="0"/>
                  <a:t> </a:t>
                </a:r>
                <a14:m>
                  <m:oMath xmlns:m="http://schemas.openxmlformats.org/officeDocument/2006/math">
                    <m:r>
                      <a:rPr lang="en-US" altLang="zh-CN" sz="2400" b="0" i="1" smtClean="0">
                        <a:latin typeface="Cambria Math" panose="02040503050406030204" pitchFamily="18" charset="0"/>
                      </a:rPr>
                      <m:t>𝑂</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𝑛𝑙𝑜𝑔𝑛</m:t>
                    </m:r>
                    <m:r>
                      <a:rPr lang="en-US" altLang="zh-CN" sz="2400" b="0" i="1" smtClean="0">
                        <a:latin typeface="Cambria Math" panose="02040503050406030204" pitchFamily="18" charset="0"/>
                      </a:rPr>
                      <m:t>)</m:t>
                    </m:r>
                  </m:oMath>
                </a14:m>
                <a:r>
                  <a:rPr lang="en-US" sz="2400" dirty="0"/>
                  <a:t> solution to solve the polynomial multiplication by </a:t>
                </a:r>
                <a:r>
                  <a:rPr lang="en-US" sz="2400" i="1" dirty="0"/>
                  <a:t>Fast Fourier Transform </a:t>
                </a:r>
                <a:r>
                  <a:rPr lang="en-US" sz="2400" dirty="0"/>
                  <a:t>(</a:t>
                </a:r>
                <a:r>
                  <a:rPr lang="en-US" sz="2400" i="1" dirty="0"/>
                  <a:t>FFT</a:t>
                </a:r>
                <a:r>
                  <a:rPr lang="en-US" sz="2400" dirty="0"/>
                  <a:t>) algorithm.</a:t>
                </a:r>
              </a:p>
              <a:p>
                <a:r>
                  <a:rPr lang="en-US" sz="2400" dirty="0">
                    <a:hlinkClick r:id="rId2"/>
                  </a:rPr>
                  <a:t>Click here to watch the video</a:t>
                </a:r>
                <a:r>
                  <a:rPr lang="en-US" sz="2400" dirty="0"/>
                  <a:t> if you’re interested in that.</a:t>
                </a:r>
              </a:p>
            </p:txBody>
          </p:sp>
        </mc:Choice>
        <mc:Fallback xmlns="">
          <p:sp>
            <p:nvSpPr>
              <p:cNvPr id="3" name="Content Placeholder 2">
                <a:extLst>
                  <a:ext uri="{FF2B5EF4-FFF2-40B4-BE49-F238E27FC236}">
                    <a16:creationId xmlns:a16="http://schemas.microsoft.com/office/drawing/2014/main" id="{E4649E58-A4AE-4D27-BCE2-29C6F0DAC3C0}"/>
                  </a:ext>
                </a:extLst>
              </p:cNvPr>
              <p:cNvSpPr>
                <a:spLocks noGrp="1" noRot="1" noChangeAspect="1" noMove="1" noResize="1" noEditPoints="1" noAdjustHandles="1" noChangeArrowheads="1" noChangeShapeType="1" noTextEdit="1"/>
              </p:cNvSpPr>
              <p:nvPr>
                <p:ph idx="1"/>
              </p:nvPr>
            </p:nvSpPr>
            <p:spPr>
              <a:xfrm>
                <a:off x="838200" y="1417740"/>
                <a:ext cx="10515600" cy="3808601"/>
              </a:xfrm>
              <a:blipFill>
                <a:blip r:embed="rId3"/>
                <a:stretch>
                  <a:fillRect l="-812" t="-2244"/>
                </a:stretch>
              </a:blipFill>
            </p:spPr>
            <p:txBody>
              <a:bodyPr/>
              <a:lstStyle/>
              <a:p>
                <a:r>
                  <a:rPr lang="en-US">
                    <a:noFill/>
                  </a:rPr>
                  <a:t> </a:t>
                </a:r>
              </a:p>
            </p:txBody>
          </p:sp>
        </mc:Fallback>
      </mc:AlternateContent>
    </p:spTree>
    <p:extLst>
      <p:ext uri="{BB962C8B-B14F-4D97-AF65-F5344CB8AC3E}">
        <p14:creationId xmlns:p14="http://schemas.microsoft.com/office/powerpoint/2010/main" val="1692066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4388</TotalTime>
  <Words>713</Words>
  <Application>Microsoft Office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-apple-system</vt:lpstr>
      <vt:lpstr>Arial</vt:lpstr>
      <vt:lpstr>Calibri</vt:lpstr>
      <vt:lpstr>Calibri Light</vt:lpstr>
      <vt:lpstr>Cambria Math</vt:lpstr>
      <vt:lpstr>Office Theme</vt:lpstr>
      <vt:lpstr>Tutorial 3 –  Supplements for Lecture 3 notes</vt:lpstr>
      <vt:lpstr>Algorithm Analysis</vt:lpstr>
      <vt:lpstr>Algorithm Analysis</vt:lpstr>
      <vt:lpstr>In-depth thinking</vt:lpstr>
      <vt:lpstr>In-depth thinking</vt:lpstr>
      <vt:lpstr>For your 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2 notes</dc:title>
  <dc:creator>UIC</dc:creator>
  <cp:lastModifiedBy>UIC</cp:lastModifiedBy>
  <cp:revision>29</cp:revision>
  <cp:lastPrinted>2025-02-28T08:30:38Z</cp:lastPrinted>
  <dcterms:created xsi:type="dcterms:W3CDTF">2025-02-28T06:29:05Z</dcterms:created>
  <dcterms:modified xsi:type="dcterms:W3CDTF">2025-03-07T07:03:33Z</dcterms:modified>
</cp:coreProperties>
</file>